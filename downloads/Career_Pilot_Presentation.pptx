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Aptos Bold" charset="1" panose="020B0004020202020204"/>
      <p:regular r:id="rId26"/>
    </p:embeddedFont>
    <p:embeddedFont>
      <p:font typeface="Aptos" charset="1" panose="020B0004020202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2.xml" Type="http://schemas.openxmlformats.org/officeDocument/2006/relationships/notesSlide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39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4.xml" Type="http://schemas.openxmlformats.org/officeDocument/2006/relationships/notesSlide"/><Relationship Id="rId41" Target="notesSlides/notesSlide15.xml" Type="http://schemas.openxmlformats.org/officeDocument/2006/relationships/notesSlide"/><Relationship Id="rId42" Target="notesSlides/notesSlide16.xml" Type="http://schemas.openxmlformats.org/officeDocument/2006/relationships/notesSlide"/><Relationship Id="rId43" Target="notesSlides/notesSlide17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11" Target="../media/image5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6.png" Type="http://schemas.openxmlformats.org/officeDocument/2006/relationships/image"/><Relationship Id="rId15" Target="../media/image7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22.png" Type="http://schemas.openxmlformats.org/officeDocument/2006/relationships/image"/><Relationship Id="rId13" Target="../media/image23.svg" Type="http://schemas.openxmlformats.org/officeDocument/2006/relationships/image"/><Relationship Id="rId14" Target="../media/image8.png" Type="http://schemas.openxmlformats.org/officeDocument/2006/relationships/image"/><Relationship Id="rId15" Target="../media/image9.svg" Type="http://schemas.openxmlformats.org/officeDocument/2006/relationships/image"/><Relationship Id="rId16" Target="../media/image24.png" Type="http://schemas.openxmlformats.org/officeDocument/2006/relationships/image"/><Relationship Id="rId17" Target="../media/image25.svg" Type="http://schemas.openxmlformats.org/officeDocument/2006/relationships/image"/><Relationship Id="rId18" Target="../media/image26.png" Type="http://schemas.openxmlformats.org/officeDocument/2006/relationships/image"/><Relationship Id="rId19" Target="../media/image27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1470" y="290322"/>
            <a:ext cx="17620488" cy="9665208"/>
            <a:chOff x="0" y="0"/>
            <a:chExt cx="23493984" cy="12886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493985" cy="12886944"/>
            </a:xfrm>
            <a:custGeom>
              <a:avLst/>
              <a:gdLst/>
              <a:ahLst/>
              <a:cxnLst/>
              <a:rect r="r" b="b" t="t" l="l"/>
              <a:pathLst>
                <a:path h="12886944" w="23493985">
                  <a:moveTo>
                    <a:pt x="0" y="0"/>
                  </a:moveTo>
                  <a:lnTo>
                    <a:pt x="23493985" y="0"/>
                  </a:lnTo>
                  <a:lnTo>
                    <a:pt x="23493985" y="12886944"/>
                  </a:lnTo>
                  <a:lnTo>
                    <a:pt x="0" y="12886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377" t="0" r="-20377" b="0"/>
              </a:stretch>
            </a:blipFill>
            <a:ln w="22860" cap="sq">
              <a:solidFill>
                <a:srgbClr val="2D3B6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77340" y="658368"/>
            <a:ext cx="960120" cy="960120"/>
            <a:chOff x="0" y="0"/>
            <a:chExt cx="1280160" cy="1280160"/>
          </a:xfrm>
        </p:grpSpPr>
        <p:sp>
          <p:nvSpPr>
            <p:cNvPr name="Freeform 5" id="5" descr="/mnt/data/cp_docx_media/word/media/image1.jp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471181" y="576072"/>
            <a:ext cx="810177" cy="1165860"/>
            <a:chOff x="0" y="0"/>
            <a:chExt cx="1080237" cy="1554480"/>
          </a:xfrm>
        </p:grpSpPr>
        <p:sp>
          <p:nvSpPr>
            <p:cNvPr name="Freeform 7" id="7" descr="/mnt/data/cp_docx_media/word/media/image2.png"/>
            <p:cNvSpPr/>
            <p:nvPr/>
          </p:nvSpPr>
          <p:spPr>
            <a:xfrm flipH="false" flipV="false" rot="0">
              <a:off x="0" y="0"/>
              <a:ext cx="1080262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80262">
                  <a:moveTo>
                    <a:pt x="0" y="0"/>
                  </a:moveTo>
                  <a:lnTo>
                    <a:pt x="1080262" y="0"/>
                  </a:lnTo>
                  <a:lnTo>
                    <a:pt x="1080262" y="1554480"/>
                  </a:lnTo>
                  <a:lnTo>
                    <a:pt x="0" y="155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880360" y="1714500"/>
            <a:ext cx="12481560" cy="480060"/>
            <a:chOff x="0" y="0"/>
            <a:chExt cx="16642080" cy="640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642080" cy="640080"/>
            </a:xfrm>
            <a:custGeom>
              <a:avLst/>
              <a:gdLst/>
              <a:ahLst/>
              <a:cxnLst/>
              <a:rect r="r" b="b" t="t" l="l"/>
              <a:pathLst>
                <a:path h="640080" w="16642080">
                  <a:moveTo>
                    <a:pt x="0" y="0"/>
                  </a:moveTo>
                  <a:lnTo>
                    <a:pt x="16642080" y="0"/>
                  </a:lnTo>
                  <a:lnTo>
                    <a:pt x="16642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610" r="0" b="-45661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664208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INFORMATION TECHNOLOGY INSTITUTE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017520" y="2304288"/>
            <a:ext cx="12207240" cy="384048"/>
            <a:chOff x="0" y="0"/>
            <a:chExt cx="16276320" cy="512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276320" cy="512064"/>
            </a:xfrm>
            <a:custGeom>
              <a:avLst/>
              <a:gdLst/>
              <a:ahLst/>
              <a:cxnLst/>
              <a:rect r="r" b="b" t="t" l="l"/>
              <a:pathLst>
                <a:path h="512064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9345" r="0" b="-56934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62763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9-MONTH PROGRAM – INTAKE 46  •  GRADUATION PROJECT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920240" y="3538728"/>
            <a:ext cx="14401800" cy="891540"/>
            <a:chOff x="0" y="0"/>
            <a:chExt cx="19202400" cy="1188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202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758" r="0" b="-26475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920240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CAREER PILOT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rot="30180">
            <a:off x="5869181" y="4621720"/>
            <a:ext cx="6503918" cy="0"/>
          </a:xfrm>
          <a:prstGeom prst="line">
            <a:avLst/>
          </a:prstGeom>
          <a:ln cap="rnd" w="28575">
            <a:solidFill>
              <a:srgbClr val="FF7A4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2263140" y="4965192"/>
            <a:ext cx="13784580" cy="891540"/>
            <a:chOff x="0" y="0"/>
            <a:chExt cx="18379440" cy="1188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379439" cy="1188720"/>
            </a:xfrm>
            <a:custGeom>
              <a:avLst/>
              <a:gdLst/>
              <a:ahLst/>
              <a:cxnLst/>
              <a:rect r="r" b="b" t="t" l="l"/>
              <a:pathLst>
                <a:path h="1188720" w="18379439">
                  <a:moveTo>
                    <a:pt x="0" y="0"/>
                  </a:moveTo>
                  <a:lnTo>
                    <a:pt x="18379439" y="0"/>
                  </a:lnTo>
                  <a:lnTo>
                    <a:pt x="18379439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268" r="0" b="-25126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8379440" cy="1188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AI-Powered Career Preparation, Adaptive Interview Coaching,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ATS Optimization, and Job Readiness Platform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915787" y="6464427"/>
            <a:ext cx="6465570" cy="485394"/>
            <a:chOff x="0" y="0"/>
            <a:chExt cx="8620760" cy="6471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620760" cy="647192"/>
            </a:xfrm>
            <a:custGeom>
              <a:avLst/>
              <a:gdLst/>
              <a:ahLst/>
              <a:cxnLst/>
              <a:rect r="r" b="b" t="t" l="l"/>
              <a:pathLst>
                <a:path h="647192" w="8620760">
                  <a:moveTo>
                    <a:pt x="0" y="247396"/>
                  </a:moveTo>
                  <a:cubicBezTo>
                    <a:pt x="0" y="110744"/>
                    <a:pt x="110744" y="0"/>
                    <a:pt x="247396" y="0"/>
                  </a:cubicBezTo>
                  <a:lnTo>
                    <a:pt x="8373364" y="0"/>
                  </a:lnTo>
                  <a:cubicBezTo>
                    <a:pt x="8510016" y="0"/>
                    <a:pt x="8620760" y="110744"/>
                    <a:pt x="8620760" y="247396"/>
                  </a:cubicBezTo>
                  <a:lnTo>
                    <a:pt x="8620760" y="399796"/>
                  </a:lnTo>
                  <a:cubicBezTo>
                    <a:pt x="8620760" y="536448"/>
                    <a:pt x="8510016" y="647192"/>
                    <a:pt x="8373364" y="647192"/>
                  </a:cubicBezTo>
                  <a:lnTo>
                    <a:pt x="247396" y="647192"/>
                  </a:lnTo>
                  <a:cubicBezTo>
                    <a:pt x="110744" y="647192"/>
                    <a:pt x="0" y="536448"/>
                    <a:pt x="0" y="399796"/>
                  </a:cubicBezTo>
                  <a:close/>
                </a:path>
              </a:pathLst>
            </a:custGeom>
            <a:solidFill>
              <a:srgbClr val="E9FBF7"/>
            </a:solidFill>
            <a:ln w="19050" cap="sq">
              <a:solidFill>
                <a:srgbClr val="E9FBF7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035040" y="6576822"/>
            <a:ext cx="6227064" cy="205740"/>
            <a:chOff x="0" y="0"/>
            <a:chExt cx="8302752" cy="2743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302752" cy="274320"/>
            </a:xfrm>
            <a:custGeom>
              <a:avLst/>
              <a:gdLst/>
              <a:ahLst/>
              <a:cxnLst/>
              <a:rect r="r" b="b" t="t" l="l"/>
              <a:pathLst>
                <a:path h="274320" w="8302752">
                  <a:moveTo>
                    <a:pt x="0" y="0"/>
                  </a:moveTo>
                  <a:lnTo>
                    <a:pt x="8302752" y="0"/>
                  </a:lnTo>
                  <a:lnTo>
                    <a:pt x="8302752" y="274320"/>
                  </a:lnTo>
                  <a:lnTo>
                    <a:pt x="0" y="274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747" r="0" b="-53974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8302752" cy="274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F766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GRADUATION PROJECT PRESENTATION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623560" y="7475220"/>
            <a:ext cx="6995160" cy="342900"/>
            <a:chOff x="0" y="0"/>
            <a:chExt cx="9326880" cy="457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326880" cy="457200"/>
            </a:xfrm>
            <a:custGeom>
              <a:avLst/>
              <a:gdLst/>
              <a:ahLst/>
              <a:cxnLst/>
              <a:rect r="r" b="b" t="t" l="l"/>
              <a:pathLst>
                <a:path h="45720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7494" r="0" b="-34749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93268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Supervised by Eng. Mayar Hassan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69926"/>
            <a:chOff x="0" y="0"/>
            <a:chExt cx="24408790" cy="2265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26568"/>
            </a:xfrm>
            <a:custGeom>
              <a:avLst/>
              <a:gdLst/>
              <a:ahLst/>
              <a:cxnLst/>
              <a:rect r="r" b="b" t="t" l="l"/>
              <a:pathLst>
                <a:path h="22656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26568"/>
                  </a:lnTo>
                  <a:lnTo>
                    <a:pt x="0" y="226568"/>
                  </a:lnTo>
                  <a:close/>
                </a:path>
              </a:pathLst>
            </a:custGeom>
            <a:solidFill>
              <a:srgbClr val="FF7A45"/>
            </a:solidFill>
            <a:ln w="19050" cap="sq">
              <a:solidFill>
                <a:srgbClr val="FF7A4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141351"/>
            <a:ext cx="18306593" cy="73914"/>
            <a:chOff x="0" y="0"/>
            <a:chExt cx="24408790" cy="985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98552"/>
            </a:xfrm>
            <a:custGeom>
              <a:avLst/>
              <a:gdLst/>
              <a:ahLst/>
              <a:cxnLst/>
              <a:rect r="r" b="b" t="t" l="l"/>
              <a:pathLst>
                <a:path h="98552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98552"/>
                  </a:lnTo>
                  <a:lnTo>
                    <a:pt x="0" y="98552"/>
                  </a:lnTo>
                  <a:close/>
                </a:path>
              </a:pathLst>
            </a:custGeom>
            <a:solidFill>
              <a:srgbClr val="2DD4BF"/>
            </a:solidFill>
            <a:ln w="19050" cap="sq">
              <a:solidFill>
                <a:srgbClr val="2DD4B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32688" y="576072"/>
            <a:ext cx="12070080" cy="576072"/>
            <a:chOff x="0" y="0"/>
            <a:chExt cx="16093440" cy="7680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93439" cy="768096"/>
            </a:xfrm>
            <a:custGeom>
              <a:avLst/>
              <a:gdLst/>
              <a:ahLst/>
              <a:cxnLst/>
              <a:rect r="r" b="b" t="t" l="l"/>
              <a:pathLst>
                <a:path h="768096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257" r="0" b="-35825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609344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Agenda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0120" y="1234440"/>
            <a:ext cx="14813280" cy="411480"/>
            <a:chOff x="0" y="0"/>
            <a:chExt cx="1975104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751039" cy="548640"/>
            </a:xfrm>
            <a:custGeom>
              <a:avLst/>
              <a:gdLst/>
              <a:ahLst/>
              <a:cxnLst/>
              <a:rect r="r" b="b" t="t" l="l"/>
              <a:pathLst>
                <a:path h="54864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97510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A concise journey from the problem to the product, architecture, and mobile experience.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664940" y="644652"/>
            <a:ext cx="685800" cy="384048"/>
            <a:chOff x="0" y="0"/>
            <a:chExt cx="9144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914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2400">
            <a:off x="926973" y="9761030"/>
            <a:ext cx="16402050" cy="0"/>
          </a:xfrm>
          <a:prstGeom prst="line">
            <a:avLst/>
          </a:prstGeom>
          <a:ln cap="rnd" w="9525">
            <a:solidFill>
              <a:srgbClr val="D9DE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60120" y="9848088"/>
            <a:ext cx="5623560" cy="192024"/>
            <a:chOff x="0" y="0"/>
            <a:chExt cx="7498080" cy="2560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98080" cy="256032"/>
            </a:xfrm>
            <a:custGeom>
              <a:avLst/>
              <a:gdLst/>
              <a:ahLst/>
              <a:cxnLst/>
              <a:rect r="r" b="b" t="t" l="l"/>
              <a:pathLst>
                <a:path h="256032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49808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9AA3B8"/>
                  </a:solidFill>
                  <a:latin typeface="Aptos"/>
                  <a:ea typeface="Aptos"/>
                  <a:cs typeface="Aptos"/>
                  <a:sym typeface="Aptos"/>
                </a:rPr>
                <a:t>CAREER PILOT  •  ITI Intake 46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253460" y="9848088"/>
            <a:ext cx="1028700" cy="192024"/>
            <a:chOff x="0" y="0"/>
            <a:chExt cx="1371600" cy="2560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71600" cy="256032"/>
            </a:xfrm>
            <a:custGeom>
              <a:avLst/>
              <a:gdLst/>
              <a:ahLst/>
              <a:cxnLst/>
              <a:rect r="r" b="b" t="t" l="l"/>
              <a:pathLst>
                <a:path h="25603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37160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>
                  <a:solidFill>
                    <a:srgbClr val="9AA3B8"/>
                  </a:solidFill>
                  <a:latin typeface="Aptos"/>
                  <a:ea typeface="Aptos"/>
                  <a:cs typeface="Aptos"/>
                  <a:sym typeface="Aptos"/>
                </a:rPr>
                <a:t>2 / 17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60323" y="2116455"/>
            <a:ext cx="5025390" cy="1500378"/>
            <a:chOff x="0" y="0"/>
            <a:chExt cx="6700520" cy="20005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700520" cy="2000504"/>
            </a:xfrm>
            <a:custGeom>
              <a:avLst/>
              <a:gdLst/>
              <a:ahLst/>
              <a:cxnLst/>
              <a:rect r="r" b="b" t="t" l="l"/>
              <a:pathLst>
                <a:path h="2000504" w="670052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6552311" y="0"/>
                  </a:lnTo>
                  <a:cubicBezTo>
                    <a:pt x="6634099" y="0"/>
                    <a:pt x="6700520" y="66294"/>
                    <a:pt x="6700520" y="148209"/>
                  </a:cubicBezTo>
                  <a:lnTo>
                    <a:pt x="6700520" y="1852295"/>
                  </a:lnTo>
                  <a:cubicBezTo>
                    <a:pt x="6700520" y="1934083"/>
                    <a:pt x="6634226" y="2000504"/>
                    <a:pt x="6552311" y="2000504"/>
                  </a:cubicBezTo>
                  <a:lnTo>
                    <a:pt x="148209" y="2000504"/>
                  </a:lnTo>
                  <a:cubicBezTo>
                    <a:pt x="66294" y="2000504"/>
                    <a:pt x="0" y="1934210"/>
                    <a:pt x="0" y="185229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71600" y="2400300"/>
            <a:ext cx="754380" cy="342900"/>
            <a:chOff x="0" y="0"/>
            <a:chExt cx="1005840" cy="457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5840" cy="457200"/>
            </a:xfrm>
            <a:custGeom>
              <a:avLst/>
              <a:gdLst/>
              <a:ahLst/>
              <a:cxnLst/>
              <a:rect r="r" b="b" t="t" l="l"/>
              <a:pathLst>
                <a:path h="45720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19" t="0" r="-8319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100584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304288" y="2372868"/>
            <a:ext cx="3360420" cy="411480"/>
            <a:chOff x="0" y="0"/>
            <a:chExt cx="448056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480560" cy="548640"/>
            </a:xfrm>
            <a:custGeom>
              <a:avLst/>
              <a:gdLst/>
              <a:ahLst/>
              <a:cxnLst/>
              <a:rect r="r" b="b" t="t" l="l"/>
              <a:pathLst>
                <a:path h="54864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44805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Problem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711315" y="2116455"/>
            <a:ext cx="5025390" cy="1500378"/>
            <a:chOff x="0" y="0"/>
            <a:chExt cx="6700520" cy="200050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700520" cy="2000504"/>
            </a:xfrm>
            <a:custGeom>
              <a:avLst/>
              <a:gdLst/>
              <a:ahLst/>
              <a:cxnLst/>
              <a:rect r="r" b="b" t="t" l="l"/>
              <a:pathLst>
                <a:path h="2000504" w="670052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6552311" y="0"/>
                  </a:lnTo>
                  <a:cubicBezTo>
                    <a:pt x="6634099" y="0"/>
                    <a:pt x="6700520" y="66294"/>
                    <a:pt x="6700520" y="148209"/>
                  </a:cubicBezTo>
                  <a:lnTo>
                    <a:pt x="6700520" y="1852295"/>
                  </a:lnTo>
                  <a:cubicBezTo>
                    <a:pt x="6700520" y="1934083"/>
                    <a:pt x="6634226" y="2000504"/>
                    <a:pt x="6552311" y="2000504"/>
                  </a:cubicBezTo>
                  <a:lnTo>
                    <a:pt x="148209" y="2000504"/>
                  </a:lnTo>
                  <a:cubicBezTo>
                    <a:pt x="66294" y="2000504"/>
                    <a:pt x="0" y="1934210"/>
                    <a:pt x="0" y="185229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7022592" y="2400300"/>
            <a:ext cx="754380" cy="342900"/>
            <a:chOff x="0" y="0"/>
            <a:chExt cx="1005840" cy="457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5840" cy="457200"/>
            </a:xfrm>
            <a:custGeom>
              <a:avLst/>
              <a:gdLst/>
              <a:ahLst/>
              <a:cxnLst/>
              <a:rect r="r" b="b" t="t" l="l"/>
              <a:pathLst>
                <a:path h="45720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19" t="0" r="-8319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00584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766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955280" y="2372868"/>
            <a:ext cx="3360420" cy="411480"/>
            <a:chOff x="0" y="0"/>
            <a:chExt cx="448056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480560" cy="548640"/>
            </a:xfrm>
            <a:custGeom>
              <a:avLst/>
              <a:gdLst/>
              <a:ahLst/>
              <a:cxnLst/>
              <a:rect r="r" b="b" t="t" l="l"/>
              <a:pathLst>
                <a:path h="54864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44805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Solution &amp; Mission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362307" y="2116455"/>
            <a:ext cx="5025390" cy="1500378"/>
            <a:chOff x="0" y="0"/>
            <a:chExt cx="6700520" cy="200050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700520" cy="2000504"/>
            </a:xfrm>
            <a:custGeom>
              <a:avLst/>
              <a:gdLst/>
              <a:ahLst/>
              <a:cxnLst/>
              <a:rect r="r" b="b" t="t" l="l"/>
              <a:pathLst>
                <a:path h="2000504" w="670052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6552311" y="0"/>
                  </a:lnTo>
                  <a:cubicBezTo>
                    <a:pt x="6634099" y="0"/>
                    <a:pt x="6700520" y="66294"/>
                    <a:pt x="6700520" y="148209"/>
                  </a:cubicBezTo>
                  <a:lnTo>
                    <a:pt x="6700520" y="1852295"/>
                  </a:lnTo>
                  <a:cubicBezTo>
                    <a:pt x="6700520" y="1934083"/>
                    <a:pt x="6634226" y="2000504"/>
                    <a:pt x="6552311" y="2000504"/>
                  </a:cubicBezTo>
                  <a:lnTo>
                    <a:pt x="148209" y="2000504"/>
                  </a:lnTo>
                  <a:cubicBezTo>
                    <a:pt x="66294" y="2000504"/>
                    <a:pt x="0" y="1934210"/>
                    <a:pt x="0" y="185229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673584" y="2400300"/>
            <a:ext cx="754380" cy="342900"/>
            <a:chOff x="0" y="0"/>
            <a:chExt cx="1005840" cy="457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05840" cy="457200"/>
            </a:xfrm>
            <a:custGeom>
              <a:avLst/>
              <a:gdLst/>
              <a:ahLst/>
              <a:cxnLst/>
              <a:rect r="r" b="b" t="t" l="l"/>
              <a:pathLst>
                <a:path h="45720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19" t="0" r="-8319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100584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606272" y="2372868"/>
            <a:ext cx="3360420" cy="411480"/>
            <a:chOff x="0" y="0"/>
            <a:chExt cx="448056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480560" cy="548640"/>
            </a:xfrm>
            <a:custGeom>
              <a:avLst/>
              <a:gdLst/>
              <a:ahLst/>
              <a:cxnLst/>
              <a:rect r="r" b="b" t="t" l="l"/>
              <a:pathLst>
                <a:path h="54864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44805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Features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60323" y="4242435"/>
            <a:ext cx="5025390" cy="1500378"/>
            <a:chOff x="0" y="0"/>
            <a:chExt cx="6700520" cy="200050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700520" cy="2000504"/>
            </a:xfrm>
            <a:custGeom>
              <a:avLst/>
              <a:gdLst/>
              <a:ahLst/>
              <a:cxnLst/>
              <a:rect r="r" b="b" t="t" l="l"/>
              <a:pathLst>
                <a:path h="2000504" w="670052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6552311" y="0"/>
                  </a:lnTo>
                  <a:cubicBezTo>
                    <a:pt x="6634099" y="0"/>
                    <a:pt x="6700520" y="66294"/>
                    <a:pt x="6700520" y="148209"/>
                  </a:cubicBezTo>
                  <a:lnTo>
                    <a:pt x="6700520" y="1852295"/>
                  </a:lnTo>
                  <a:cubicBezTo>
                    <a:pt x="6700520" y="1934083"/>
                    <a:pt x="6634226" y="2000504"/>
                    <a:pt x="6552311" y="2000504"/>
                  </a:cubicBezTo>
                  <a:lnTo>
                    <a:pt x="148209" y="2000504"/>
                  </a:lnTo>
                  <a:cubicBezTo>
                    <a:pt x="66294" y="2000504"/>
                    <a:pt x="0" y="1934210"/>
                    <a:pt x="0" y="185229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371600" y="4526280"/>
            <a:ext cx="754380" cy="342900"/>
            <a:chOff x="0" y="0"/>
            <a:chExt cx="1005840" cy="457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05840" cy="457200"/>
            </a:xfrm>
            <a:custGeom>
              <a:avLst/>
              <a:gdLst/>
              <a:ahLst/>
              <a:cxnLst/>
              <a:rect r="r" b="b" t="t" l="l"/>
              <a:pathLst>
                <a:path h="45720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19" t="0" r="-8319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100584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766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2304288" y="4498848"/>
            <a:ext cx="3360420" cy="411480"/>
            <a:chOff x="0" y="0"/>
            <a:chExt cx="448056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480560" cy="548640"/>
            </a:xfrm>
            <a:custGeom>
              <a:avLst/>
              <a:gdLst/>
              <a:ahLst/>
              <a:cxnLst/>
              <a:rect r="r" b="b" t="t" l="l"/>
              <a:pathLst>
                <a:path h="54864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44805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Target Market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711315" y="4242435"/>
            <a:ext cx="5025390" cy="1500378"/>
            <a:chOff x="0" y="0"/>
            <a:chExt cx="6700520" cy="200050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700520" cy="2000504"/>
            </a:xfrm>
            <a:custGeom>
              <a:avLst/>
              <a:gdLst/>
              <a:ahLst/>
              <a:cxnLst/>
              <a:rect r="r" b="b" t="t" l="l"/>
              <a:pathLst>
                <a:path h="2000504" w="670052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6552311" y="0"/>
                  </a:lnTo>
                  <a:cubicBezTo>
                    <a:pt x="6634099" y="0"/>
                    <a:pt x="6700520" y="66294"/>
                    <a:pt x="6700520" y="148209"/>
                  </a:cubicBezTo>
                  <a:lnTo>
                    <a:pt x="6700520" y="1852295"/>
                  </a:lnTo>
                  <a:cubicBezTo>
                    <a:pt x="6700520" y="1934083"/>
                    <a:pt x="6634226" y="2000504"/>
                    <a:pt x="6552311" y="2000504"/>
                  </a:cubicBezTo>
                  <a:lnTo>
                    <a:pt x="148209" y="2000504"/>
                  </a:lnTo>
                  <a:cubicBezTo>
                    <a:pt x="66294" y="2000504"/>
                    <a:pt x="0" y="1934210"/>
                    <a:pt x="0" y="185229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7022592" y="4526280"/>
            <a:ext cx="754380" cy="342900"/>
            <a:chOff x="0" y="0"/>
            <a:chExt cx="1005840" cy="457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05840" cy="457200"/>
            </a:xfrm>
            <a:custGeom>
              <a:avLst/>
              <a:gdLst/>
              <a:ahLst/>
              <a:cxnLst/>
              <a:rect r="r" b="b" t="t" l="l"/>
              <a:pathLst>
                <a:path h="45720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19" t="0" r="-8319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100584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955280" y="4498848"/>
            <a:ext cx="3360420" cy="411480"/>
            <a:chOff x="0" y="0"/>
            <a:chExt cx="448056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480560" cy="548640"/>
            </a:xfrm>
            <a:custGeom>
              <a:avLst/>
              <a:gdLst/>
              <a:ahLst/>
              <a:cxnLst/>
              <a:rect r="r" b="b" t="t" l="l"/>
              <a:pathLst>
                <a:path h="54864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44805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Subscriptions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362307" y="4242435"/>
            <a:ext cx="5025390" cy="1500378"/>
            <a:chOff x="0" y="0"/>
            <a:chExt cx="6700520" cy="200050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700520" cy="2000504"/>
            </a:xfrm>
            <a:custGeom>
              <a:avLst/>
              <a:gdLst/>
              <a:ahLst/>
              <a:cxnLst/>
              <a:rect r="r" b="b" t="t" l="l"/>
              <a:pathLst>
                <a:path h="2000504" w="670052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6552311" y="0"/>
                  </a:lnTo>
                  <a:cubicBezTo>
                    <a:pt x="6634099" y="0"/>
                    <a:pt x="6700520" y="66294"/>
                    <a:pt x="6700520" y="148209"/>
                  </a:cubicBezTo>
                  <a:lnTo>
                    <a:pt x="6700520" y="1852295"/>
                  </a:lnTo>
                  <a:cubicBezTo>
                    <a:pt x="6700520" y="1934083"/>
                    <a:pt x="6634226" y="2000504"/>
                    <a:pt x="6552311" y="2000504"/>
                  </a:cubicBezTo>
                  <a:lnTo>
                    <a:pt x="148209" y="2000504"/>
                  </a:lnTo>
                  <a:cubicBezTo>
                    <a:pt x="66294" y="2000504"/>
                    <a:pt x="0" y="1934210"/>
                    <a:pt x="0" y="185229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2673584" y="4526280"/>
            <a:ext cx="754380" cy="342900"/>
            <a:chOff x="0" y="0"/>
            <a:chExt cx="1005840" cy="4572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05840" cy="457200"/>
            </a:xfrm>
            <a:custGeom>
              <a:avLst/>
              <a:gdLst/>
              <a:ahLst/>
              <a:cxnLst/>
              <a:rect r="r" b="b" t="t" l="l"/>
              <a:pathLst>
                <a:path h="45720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19" t="0" r="-8319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100584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766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06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3606272" y="4498848"/>
            <a:ext cx="3360420" cy="411480"/>
            <a:chOff x="0" y="0"/>
            <a:chExt cx="4480560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480560" cy="548640"/>
            </a:xfrm>
            <a:custGeom>
              <a:avLst/>
              <a:gdLst/>
              <a:ahLst/>
              <a:cxnLst/>
              <a:rect r="r" b="b" t="t" l="l"/>
              <a:pathLst>
                <a:path h="54864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44805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Technologies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60323" y="6368415"/>
            <a:ext cx="5025390" cy="1500378"/>
            <a:chOff x="0" y="0"/>
            <a:chExt cx="6700520" cy="200050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700520" cy="2000504"/>
            </a:xfrm>
            <a:custGeom>
              <a:avLst/>
              <a:gdLst/>
              <a:ahLst/>
              <a:cxnLst/>
              <a:rect r="r" b="b" t="t" l="l"/>
              <a:pathLst>
                <a:path h="2000504" w="670052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6552311" y="0"/>
                  </a:lnTo>
                  <a:cubicBezTo>
                    <a:pt x="6634099" y="0"/>
                    <a:pt x="6700520" y="66294"/>
                    <a:pt x="6700520" y="148209"/>
                  </a:cubicBezTo>
                  <a:lnTo>
                    <a:pt x="6700520" y="1852295"/>
                  </a:lnTo>
                  <a:cubicBezTo>
                    <a:pt x="6700520" y="1934083"/>
                    <a:pt x="6634226" y="2000504"/>
                    <a:pt x="6552311" y="2000504"/>
                  </a:cubicBezTo>
                  <a:lnTo>
                    <a:pt x="148209" y="2000504"/>
                  </a:lnTo>
                  <a:cubicBezTo>
                    <a:pt x="66294" y="2000504"/>
                    <a:pt x="0" y="1934210"/>
                    <a:pt x="0" y="185229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371600" y="6652260"/>
            <a:ext cx="754380" cy="342900"/>
            <a:chOff x="0" y="0"/>
            <a:chExt cx="1005840" cy="4572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05840" cy="457200"/>
            </a:xfrm>
            <a:custGeom>
              <a:avLst/>
              <a:gdLst/>
              <a:ahLst/>
              <a:cxnLst/>
              <a:rect r="r" b="b" t="t" l="l"/>
              <a:pathLst>
                <a:path h="45720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19" t="0" r="-8319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100584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07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2304288" y="6624828"/>
            <a:ext cx="3360420" cy="411480"/>
            <a:chOff x="0" y="0"/>
            <a:chExt cx="4480560" cy="5486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480560" cy="548640"/>
            </a:xfrm>
            <a:custGeom>
              <a:avLst/>
              <a:gdLst/>
              <a:ahLst/>
              <a:cxnLst/>
              <a:rect r="r" b="b" t="t" l="l"/>
              <a:pathLst>
                <a:path h="54864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44805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Backend &amp; AI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711315" y="6368415"/>
            <a:ext cx="5025390" cy="1500378"/>
            <a:chOff x="0" y="0"/>
            <a:chExt cx="6700520" cy="200050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700520" cy="2000504"/>
            </a:xfrm>
            <a:custGeom>
              <a:avLst/>
              <a:gdLst/>
              <a:ahLst/>
              <a:cxnLst/>
              <a:rect r="r" b="b" t="t" l="l"/>
              <a:pathLst>
                <a:path h="2000504" w="670052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6552311" y="0"/>
                  </a:lnTo>
                  <a:cubicBezTo>
                    <a:pt x="6634099" y="0"/>
                    <a:pt x="6700520" y="66294"/>
                    <a:pt x="6700520" y="148209"/>
                  </a:cubicBezTo>
                  <a:lnTo>
                    <a:pt x="6700520" y="1852295"/>
                  </a:lnTo>
                  <a:cubicBezTo>
                    <a:pt x="6700520" y="1934083"/>
                    <a:pt x="6634226" y="2000504"/>
                    <a:pt x="6552311" y="2000504"/>
                  </a:cubicBezTo>
                  <a:lnTo>
                    <a:pt x="148209" y="2000504"/>
                  </a:lnTo>
                  <a:cubicBezTo>
                    <a:pt x="66294" y="2000504"/>
                    <a:pt x="0" y="1934210"/>
                    <a:pt x="0" y="185229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7022592" y="6652260"/>
            <a:ext cx="754380" cy="342900"/>
            <a:chOff x="0" y="0"/>
            <a:chExt cx="1005840" cy="4572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05840" cy="457200"/>
            </a:xfrm>
            <a:custGeom>
              <a:avLst/>
              <a:gdLst/>
              <a:ahLst/>
              <a:cxnLst/>
              <a:rect r="r" b="b" t="t" l="l"/>
              <a:pathLst>
                <a:path h="45720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19" t="0" r="-8319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100584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766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08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7955280" y="6624828"/>
            <a:ext cx="3360420" cy="411480"/>
            <a:chOff x="0" y="0"/>
            <a:chExt cx="4480560" cy="5486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480560" cy="548640"/>
            </a:xfrm>
            <a:custGeom>
              <a:avLst/>
              <a:gdLst/>
              <a:ahLst/>
              <a:cxnLst/>
              <a:rect r="r" b="b" t="t" l="l"/>
              <a:pathLst>
                <a:path h="54864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0"/>
              <a:ext cx="44805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Mobile &amp; Design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362307" y="6368415"/>
            <a:ext cx="5025390" cy="1500378"/>
            <a:chOff x="0" y="0"/>
            <a:chExt cx="6700520" cy="200050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700520" cy="2000504"/>
            </a:xfrm>
            <a:custGeom>
              <a:avLst/>
              <a:gdLst/>
              <a:ahLst/>
              <a:cxnLst/>
              <a:rect r="r" b="b" t="t" l="l"/>
              <a:pathLst>
                <a:path h="2000504" w="670052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6552311" y="0"/>
                  </a:lnTo>
                  <a:cubicBezTo>
                    <a:pt x="6634099" y="0"/>
                    <a:pt x="6700520" y="66294"/>
                    <a:pt x="6700520" y="148209"/>
                  </a:cubicBezTo>
                  <a:lnTo>
                    <a:pt x="6700520" y="1852295"/>
                  </a:lnTo>
                  <a:cubicBezTo>
                    <a:pt x="6700520" y="1934083"/>
                    <a:pt x="6634226" y="2000504"/>
                    <a:pt x="6552311" y="2000504"/>
                  </a:cubicBezTo>
                  <a:lnTo>
                    <a:pt x="148209" y="2000504"/>
                  </a:lnTo>
                  <a:cubicBezTo>
                    <a:pt x="66294" y="2000504"/>
                    <a:pt x="0" y="1934210"/>
                    <a:pt x="0" y="185229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2673584" y="6652260"/>
            <a:ext cx="754380" cy="342900"/>
            <a:chOff x="0" y="0"/>
            <a:chExt cx="1005840" cy="4572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05840" cy="457200"/>
            </a:xfrm>
            <a:custGeom>
              <a:avLst/>
              <a:gdLst/>
              <a:ahLst/>
              <a:cxnLst/>
              <a:rect r="r" b="b" t="t" l="l"/>
              <a:pathLst>
                <a:path h="45720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19" t="0" r="-8319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100584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09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3606272" y="6624828"/>
            <a:ext cx="3360420" cy="411480"/>
            <a:chOff x="0" y="0"/>
            <a:chExt cx="4480560" cy="5486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480560" cy="548640"/>
            </a:xfrm>
            <a:custGeom>
              <a:avLst/>
              <a:gdLst/>
              <a:ahLst/>
              <a:cxnLst/>
              <a:rect r="r" b="b" t="t" l="l"/>
              <a:pathLst>
                <a:path h="54864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0"/>
              <a:ext cx="44805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Quality Assurance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69926"/>
            <a:chOff x="0" y="0"/>
            <a:chExt cx="24408790" cy="2265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26568"/>
            </a:xfrm>
            <a:custGeom>
              <a:avLst/>
              <a:gdLst/>
              <a:ahLst/>
              <a:cxnLst/>
              <a:rect r="r" b="b" t="t" l="l"/>
              <a:pathLst>
                <a:path h="22656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26568"/>
                  </a:lnTo>
                  <a:lnTo>
                    <a:pt x="0" y="226568"/>
                  </a:lnTo>
                  <a:close/>
                </a:path>
              </a:pathLst>
            </a:custGeom>
            <a:solidFill>
              <a:srgbClr val="FF7A45"/>
            </a:solidFill>
            <a:ln w="19050" cap="sq">
              <a:solidFill>
                <a:srgbClr val="FF7A4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141351"/>
            <a:ext cx="18306593" cy="73914"/>
            <a:chOff x="0" y="0"/>
            <a:chExt cx="24408790" cy="985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98552"/>
            </a:xfrm>
            <a:custGeom>
              <a:avLst/>
              <a:gdLst/>
              <a:ahLst/>
              <a:cxnLst/>
              <a:rect r="r" b="b" t="t" l="l"/>
              <a:pathLst>
                <a:path h="98552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98552"/>
                  </a:lnTo>
                  <a:lnTo>
                    <a:pt x="0" y="98552"/>
                  </a:lnTo>
                  <a:close/>
                </a:path>
              </a:pathLst>
            </a:custGeom>
            <a:solidFill>
              <a:srgbClr val="2DD4BF"/>
            </a:solidFill>
            <a:ln w="19050" cap="sq">
              <a:solidFill>
                <a:srgbClr val="2DD4B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32688" y="576072"/>
            <a:ext cx="12070080" cy="576072"/>
            <a:chOff x="0" y="0"/>
            <a:chExt cx="16093440" cy="7680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93439" cy="768096"/>
            </a:xfrm>
            <a:custGeom>
              <a:avLst/>
              <a:gdLst/>
              <a:ahLst/>
              <a:cxnLst/>
              <a:rect r="r" b="b" t="t" l="l"/>
              <a:pathLst>
                <a:path h="768096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257" r="0" b="-35825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609344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0120" y="1234440"/>
            <a:ext cx="14813280" cy="411480"/>
            <a:chOff x="0" y="0"/>
            <a:chExt cx="1975104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751039" cy="548640"/>
            </a:xfrm>
            <a:custGeom>
              <a:avLst/>
              <a:gdLst/>
              <a:ahLst/>
              <a:cxnLst/>
              <a:rect r="r" b="b" t="t" l="l"/>
              <a:pathLst>
                <a:path h="54864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97510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Four disciplines working on one shared product.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664940" y="644652"/>
            <a:ext cx="685800" cy="384048"/>
            <a:chOff x="0" y="0"/>
            <a:chExt cx="9144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914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2400">
            <a:off x="926973" y="9761030"/>
            <a:ext cx="16402050" cy="0"/>
          </a:xfrm>
          <a:prstGeom prst="line">
            <a:avLst/>
          </a:prstGeom>
          <a:ln cap="rnd" w="9525">
            <a:solidFill>
              <a:srgbClr val="D9DE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60120" y="9848088"/>
            <a:ext cx="5623560" cy="192024"/>
            <a:chOff x="0" y="0"/>
            <a:chExt cx="7498080" cy="2560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98080" cy="256032"/>
            </a:xfrm>
            <a:custGeom>
              <a:avLst/>
              <a:gdLst/>
              <a:ahLst/>
              <a:cxnLst/>
              <a:rect r="r" b="b" t="t" l="l"/>
              <a:pathLst>
                <a:path h="256032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49808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9AA3B8"/>
                  </a:solidFill>
                  <a:latin typeface="Aptos"/>
                  <a:ea typeface="Aptos"/>
                  <a:cs typeface="Aptos"/>
                  <a:sym typeface="Aptos"/>
                </a:rPr>
                <a:t>CAREER PILOT  •  ITI Intake 46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253460" y="9848088"/>
            <a:ext cx="1028700" cy="192024"/>
            <a:chOff x="0" y="0"/>
            <a:chExt cx="1371600" cy="2560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71600" cy="256032"/>
            </a:xfrm>
            <a:custGeom>
              <a:avLst/>
              <a:gdLst/>
              <a:ahLst/>
              <a:cxnLst/>
              <a:rect r="r" b="b" t="t" l="l"/>
              <a:pathLst>
                <a:path h="25603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37160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>
                  <a:solidFill>
                    <a:srgbClr val="9AA3B8"/>
                  </a:solidFill>
                  <a:latin typeface="Aptos"/>
                  <a:ea typeface="Aptos"/>
                  <a:cs typeface="Aptos"/>
                  <a:sym typeface="Aptos"/>
                </a:rPr>
                <a:t>3 / 17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19175" y="2020443"/>
            <a:ext cx="7864602" cy="2967990"/>
            <a:chOff x="0" y="0"/>
            <a:chExt cx="10486136" cy="39573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86137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486137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338943" y="0"/>
                  </a:lnTo>
                  <a:cubicBezTo>
                    <a:pt x="10420224" y="0"/>
                    <a:pt x="10486137" y="65913"/>
                    <a:pt x="10486137" y="147193"/>
                  </a:cubicBezTo>
                  <a:lnTo>
                    <a:pt x="10486137" y="3810127"/>
                  </a:lnTo>
                  <a:cubicBezTo>
                    <a:pt x="10486137" y="3891407"/>
                    <a:pt x="10420224" y="3957320"/>
                    <a:pt x="10338943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19175" y="2020443"/>
            <a:ext cx="183642" cy="2967990"/>
            <a:chOff x="0" y="0"/>
            <a:chExt cx="244856" cy="39573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4856" cy="3957320"/>
            </a:xfrm>
            <a:custGeom>
              <a:avLst/>
              <a:gdLst/>
              <a:ahLst/>
              <a:cxnLst/>
              <a:rect r="r" b="b" t="t" l="l"/>
              <a:pathLst>
                <a:path h="395732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3957320"/>
                  </a:lnTo>
                  <a:lnTo>
                    <a:pt x="0" y="3957320"/>
                  </a:lnTo>
                  <a:close/>
                </a:path>
              </a:pathLst>
            </a:custGeom>
            <a:solidFill>
              <a:srgbClr val="FF7A45"/>
            </a:solidFill>
            <a:ln w="19050" cap="sq">
              <a:solidFill>
                <a:srgbClr val="FF7A45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467612" y="2304288"/>
            <a:ext cx="2743200" cy="342900"/>
            <a:chOff x="0" y="0"/>
            <a:chExt cx="3657600" cy="457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57600" cy="457200"/>
            </a:xfrm>
            <a:custGeom>
              <a:avLst/>
              <a:gdLst/>
              <a:ahLst/>
              <a:cxnLst/>
              <a:rect r="r" b="b" t="t" l="l"/>
              <a:pathLst>
                <a:path h="457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6576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ANDROID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95044" y="2880360"/>
            <a:ext cx="6926580" cy="301752"/>
            <a:chOff x="0" y="0"/>
            <a:chExt cx="9235440" cy="40233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235440" cy="402336"/>
            </a:xfrm>
            <a:custGeom>
              <a:avLst/>
              <a:gdLst/>
              <a:ahLst/>
              <a:cxnLst/>
              <a:rect r="r" b="b" t="t" l="l"/>
              <a:pathLst>
                <a:path h="402336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270" r="0" b="-39727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923544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980">
                  <a:solidFill>
                    <a:srgbClr val="0E1428"/>
                  </a:solidFill>
                  <a:latin typeface="Aptos"/>
                  <a:ea typeface="Aptos"/>
                  <a:cs typeface="Aptos"/>
                  <a:sym typeface="Aptos"/>
                </a:rPr>
                <a:t>1. Hazem Abdelraouf Mohammed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95044" y="3291840"/>
            <a:ext cx="6926580" cy="301752"/>
            <a:chOff x="0" y="0"/>
            <a:chExt cx="9235440" cy="40233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235440" cy="402336"/>
            </a:xfrm>
            <a:custGeom>
              <a:avLst/>
              <a:gdLst/>
              <a:ahLst/>
              <a:cxnLst/>
              <a:rect r="r" b="b" t="t" l="l"/>
              <a:pathLst>
                <a:path h="402336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270" r="0" b="-39727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923544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980">
                  <a:solidFill>
                    <a:srgbClr val="0E1428"/>
                  </a:solidFill>
                  <a:latin typeface="Aptos"/>
                  <a:ea typeface="Aptos"/>
                  <a:cs typeface="Aptos"/>
                  <a:sym typeface="Aptos"/>
                </a:rPr>
                <a:t>2. Hossam Ahmed Elgmmal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95044" y="3703320"/>
            <a:ext cx="6926580" cy="301752"/>
            <a:chOff x="0" y="0"/>
            <a:chExt cx="9235440" cy="40233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235440" cy="402336"/>
            </a:xfrm>
            <a:custGeom>
              <a:avLst/>
              <a:gdLst/>
              <a:ahLst/>
              <a:cxnLst/>
              <a:rect r="r" b="b" t="t" l="l"/>
              <a:pathLst>
                <a:path h="402336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270" r="0" b="-39727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923544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980">
                  <a:solidFill>
                    <a:srgbClr val="0E1428"/>
                  </a:solidFill>
                  <a:latin typeface="Aptos"/>
                  <a:ea typeface="Aptos"/>
                  <a:cs typeface="Aptos"/>
                  <a:sym typeface="Aptos"/>
                </a:rPr>
                <a:t>3. Tasneem AbdElhakeem Soliman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95044" y="4114800"/>
            <a:ext cx="6926580" cy="301752"/>
            <a:chOff x="0" y="0"/>
            <a:chExt cx="9235440" cy="4023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235440" cy="402336"/>
            </a:xfrm>
            <a:custGeom>
              <a:avLst/>
              <a:gdLst/>
              <a:ahLst/>
              <a:cxnLst/>
              <a:rect r="r" b="b" t="t" l="l"/>
              <a:pathLst>
                <a:path h="402336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270" r="0" b="-39727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923544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980">
                  <a:solidFill>
                    <a:srgbClr val="0E1428"/>
                  </a:solidFill>
                  <a:latin typeface="Aptos"/>
                  <a:ea typeface="Aptos"/>
                  <a:cs typeface="Aptos"/>
                  <a:sym typeface="Aptos"/>
                </a:rPr>
                <a:t>4. Mohamed Amir Mohamed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385935" y="2020443"/>
            <a:ext cx="7864602" cy="2967990"/>
            <a:chOff x="0" y="0"/>
            <a:chExt cx="10486136" cy="39573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486137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486137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338943" y="0"/>
                  </a:lnTo>
                  <a:cubicBezTo>
                    <a:pt x="10420224" y="0"/>
                    <a:pt x="10486137" y="65913"/>
                    <a:pt x="10486137" y="147193"/>
                  </a:cubicBezTo>
                  <a:lnTo>
                    <a:pt x="10486137" y="3810127"/>
                  </a:lnTo>
                  <a:cubicBezTo>
                    <a:pt x="10486137" y="3891407"/>
                    <a:pt x="10420224" y="3957320"/>
                    <a:pt x="10338943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385935" y="2020443"/>
            <a:ext cx="183642" cy="2967990"/>
            <a:chOff x="0" y="0"/>
            <a:chExt cx="244856" cy="39573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4856" cy="3957320"/>
            </a:xfrm>
            <a:custGeom>
              <a:avLst/>
              <a:gdLst/>
              <a:ahLst/>
              <a:cxnLst/>
              <a:rect r="r" b="b" t="t" l="l"/>
              <a:pathLst>
                <a:path h="395732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3957320"/>
                  </a:lnTo>
                  <a:lnTo>
                    <a:pt x="0" y="3957320"/>
                  </a:lnTo>
                  <a:close/>
                </a:path>
              </a:pathLst>
            </a:custGeom>
            <a:solidFill>
              <a:srgbClr val="2DD4BF"/>
            </a:solidFill>
            <a:ln w="19050" cap="sq">
              <a:solidFill>
                <a:srgbClr val="2DD4BF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834372" y="2304288"/>
            <a:ext cx="2743200" cy="342900"/>
            <a:chOff x="0" y="0"/>
            <a:chExt cx="3657600" cy="457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657600" cy="457200"/>
            </a:xfrm>
            <a:custGeom>
              <a:avLst/>
              <a:gdLst/>
              <a:ahLst/>
              <a:cxnLst/>
              <a:rect r="r" b="b" t="t" l="l"/>
              <a:pathLst>
                <a:path h="457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6576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DD4B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iOS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861804" y="2880360"/>
            <a:ext cx="6926580" cy="301752"/>
            <a:chOff x="0" y="0"/>
            <a:chExt cx="9235440" cy="40233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235440" cy="402336"/>
            </a:xfrm>
            <a:custGeom>
              <a:avLst/>
              <a:gdLst/>
              <a:ahLst/>
              <a:cxnLst/>
              <a:rect r="r" b="b" t="t" l="l"/>
              <a:pathLst>
                <a:path h="402336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270" r="0" b="-39727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923544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980">
                  <a:solidFill>
                    <a:srgbClr val="0E1428"/>
                  </a:solidFill>
                  <a:latin typeface="Aptos"/>
                  <a:ea typeface="Aptos"/>
                  <a:cs typeface="Aptos"/>
                  <a:sym typeface="Aptos"/>
                </a:rPr>
                <a:t>1. Ahmed El Sayyad Mohamed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861804" y="3291840"/>
            <a:ext cx="6926580" cy="301752"/>
            <a:chOff x="0" y="0"/>
            <a:chExt cx="9235440" cy="40233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235440" cy="402336"/>
            </a:xfrm>
            <a:custGeom>
              <a:avLst/>
              <a:gdLst/>
              <a:ahLst/>
              <a:cxnLst/>
              <a:rect r="r" b="b" t="t" l="l"/>
              <a:pathLst>
                <a:path h="402336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270" r="0" b="-39727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923544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980">
                  <a:solidFill>
                    <a:srgbClr val="0E1428"/>
                  </a:solidFill>
                  <a:latin typeface="Aptos"/>
                  <a:ea typeface="Aptos"/>
                  <a:cs typeface="Aptos"/>
                  <a:sym typeface="Aptos"/>
                </a:rPr>
                <a:t>2. Moaz Osama Ahmdd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861804" y="3703320"/>
            <a:ext cx="6926580" cy="301752"/>
            <a:chOff x="0" y="0"/>
            <a:chExt cx="9235440" cy="40233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235440" cy="402336"/>
            </a:xfrm>
            <a:custGeom>
              <a:avLst/>
              <a:gdLst/>
              <a:ahLst/>
              <a:cxnLst/>
              <a:rect r="r" b="b" t="t" l="l"/>
              <a:pathLst>
                <a:path h="402336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270" r="0" b="-39727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923544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980">
                  <a:solidFill>
                    <a:srgbClr val="0E1428"/>
                  </a:solidFill>
                  <a:latin typeface="Aptos"/>
                  <a:ea typeface="Aptos"/>
                  <a:cs typeface="Aptos"/>
                  <a:sym typeface="Aptos"/>
                </a:rPr>
                <a:t>3. Mohamed Magdy Ahmed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861804" y="4114800"/>
            <a:ext cx="6926580" cy="301752"/>
            <a:chOff x="0" y="0"/>
            <a:chExt cx="9235440" cy="4023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235440" cy="402336"/>
            </a:xfrm>
            <a:custGeom>
              <a:avLst/>
              <a:gdLst/>
              <a:ahLst/>
              <a:cxnLst/>
              <a:rect r="r" b="b" t="t" l="l"/>
              <a:pathLst>
                <a:path h="402336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270" r="0" b="-39727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923544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980">
                  <a:solidFill>
                    <a:srgbClr val="0E1428"/>
                  </a:solidFill>
                  <a:latin typeface="Aptos"/>
                  <a:ea typeface="Aptos"/>
                  <a:cs typeface="Aptos"/>
                  <a:sym typeface="Aptos"/>
                </a:rPr>
                <a:t>4. Eyad Waleed Abd El Fatah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19175" y="5778627"/>
            <a:ext cx="7864602" cy="2967990"/>
            <a:chOff x="0" y="0"/>
            <a:chExt cx="10486136" cy="39573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486137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486137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338943" y="0"/>
                  </a:lnTo>
                  <a:cubicBezTo>
                    <a:pt x="10420224" y="0"/>
                    <a:pt x="10486137" y="65913"/>
                    <a:pt x="10486137" y="147193"/>
                  </a:cubicBezTo>
                  <a:lnTo>
                    <a:pt x="10486137" y="3810127"/>
                  </a:lnTo>
                  <a:cubicBezTo>
                    <a:pt x="10486137" y="3891407"/>
                    <a:pt x="10420224" y="3957320"/>
                    <a:pt x="10338943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019175" y="5778627"/>
            <a:ext cx="183642" cy="2967990"/>
            <a:chOff x="0" y="0"/>
            <a:chExt cx="244856" cy="39573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44856" cy="3957320"/>
            </a:xfrm>
            <a:custGeom>
              <a:avLst/>
              <a:gdLst/>
              <a:ahLst/>
              <a:cxnLst/>
              <a:rect r="r" b="b" t="t" l="l"/>
              <a:pathLst>
                <a:path h="395732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3957320"/>
                  </a:lnTo>
                  <a:lnTo>
                    <a:pt x="0" y="3957320"/>
                  </a:lnTo>
                  <a:close/>
                </a:path>
              </a:pathLst>
            </a:custGeom>
            <a:solidFill>
              <a:srgbClr val="2D3B6B"/>
            </a:solidFill>
            <a:ln w="19050" cap="sq">
              <a:solidFill>
                <a:srgbClr val="2D3B6B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467612" y="6062472"/>
            <a:ext cx="2743200" cy="342900"/>
            <a:chOff x="0" y="0"/>
            <a:chExt cx="3657600" cy="4572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657600" cy="457200"/>
            </a:xfrm>
            <a:custGeom>
              <a:avLst/>
              <a:gdLst/>
              <a:ahLst/>
              <a:cxnLst/>
              <a:rect r="r" b="b" t="t" l="l"/>
              <a:pathLst>
                <a:path h="457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36576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BACKEND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495044" y="6638544"/>
            <a:ext cx="6926580" cy="301752"/>
            <a:chOff x="0" y="0"/>
            <a:chExt cx="9235440" cy="40233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235440" cy="402336"/>
            </a:xfrm>
            <a:custGeom>
              <a:avLst/>
              <a:gdLst/>
              <a:ahLst/>
              <a:cxnLst/>
              <a:rect r="r" b="b" t="t" l="l"/>
              <a:pathLst>
                <a:path h="402336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270" r="0" b="-39727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923544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980">
                  <a:solidFill>
                    <a:srgbClr val="0E1428"/>
                  </a:solidFill>
                  <a:latin typeface="Aptos"/>
                  <a:ea typeface="Aptos"/>
                  <a:cs typeface="Aptos"/>
                  <a:sym typeface="Aptos"/>
                </a:rPr>
                <a:t>1. Amr Mohammed Shms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495044" y="7050024"/>
            <a:ext cx="6926580" cy="301752"/>
            <a:chOff x="0" y="0"/>
            <a:chExt cx="9235440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235440" cy="402336"/>
            </a:xfrm>
            <a:custGeom>
              <a:avLst/>
              <a:gdLst/>
              <a:ahLst/>
              <a:cxnLst/>
              <a:rect r="r" b="b" t="t" l="l"/>
              <a:pathLst>
                <a:path h="402336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270" r="0" b="-39727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923544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980">
                  <a:solidFill>
                    <a:srgbClr val="0E1428"/>
                  </a:solidFill>
                  <a:latin typeface="Aptos"/>
                  <a:ea typeface="Aptos"/>
                  <a:cs typeface="Aptos"/>
                  <a:sym typeface="Aptos"/>
                </a:rPr>
                <a:t>2. Noureen Ashraf Abdelmoneam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495044" y="7461504"/>
            <a:ext cx="6926580" cy="301752"/>
            <a:chOff x="0" y="0"/>
            <a:chExt cx="9235440" cy="4023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235440" cy="402336"/>
            </a:xfrm>
            <a:custGeom>
              <a:avLst/>
              <a:gdLst/>
              <a:ahLst/>
              <a:cxnLst/>
              <a:rect r="r" b="b" t="t" l="l"/>
              <a:pathLst>
                <a:path h="402336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270" r="0" b="-39727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923544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980">
                  <a:solidFill>
                    <a:srgbClr val="0E1428"/>
                  </a:solidFill>
                  <a:latin typeface="Aptos"/>
                  <a:ea typeface="Aptos"/>
                  <a:cs typeface="Aptos"/>
                  <a:sym typeface="Aptos"/>
                </a:rPr>
                <a:t>3. Mohamed Salah Mahmoud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385935" y="5778627"/>
            <a:ext cx="7864602" cy="2967990"/>
            <a:chOff x="0" y="0"/>
            <a:chExt cx="10486136" cy="39573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486137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486137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338943" y="0"/>
                  </a:lnTo>
                  <a:cubicBezTo>
                    <a:pt x="10420224" y="0"/>
                    <a:pt x="10486137" y="65913"/>
                    <a:pt x="10486137" y="147193"/>
                  </a:cubicBezTo>
                  <a:lnTo>
                    <a:pt x="10486137" y="3810127"/>
                  </a:lnTo>
                  <a:cubicBezTo>
                    <a:pt x="10486137" y="3891407"/>
                    <a:pt x="10420224" y="3957320"/>
                    <a:pt x="10338943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9385935" y="5778627"/>
            <a:ext cx="183642" cy="2967990"/>
            <a:chOff x="0" y="0"/>
            <a:chExt cx="244856" cy="39573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44856" cy="3957320"/>
            </a:xfrm>
            <a:custGeom>
              <a:avLst/>
              <a:gdLst/>
              <a:ahLst/>
              <a:cxnLst/>
              <a:rect r="r" b="b" t="t" l="l"/>
              <a:pathLst>
                <a:path h="395732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3957320"/>
                  </a:lnTo>
                  <a:lnTo>
                    <a:pt x="0" y="3957320"/>
                  </a:lnTo>
                  <a:close/>
                </a:path>
              </a:pathLst>
            </a:custGeom>
            <a:solidFill>
              <a:srgbClr val="F59E0B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9834372" y="6062472"/>
            <a:ext cx="2743200" cy="342900"/>
            <a:chOff x="0" y="0"/>
            <a:chExt cx="3657600" cy="4572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657600" cy="457200"/>
            </a:xfrm>
            <a:custGeom>
              <a:avLst/>
              <a:gdLst/>
              <a:ahLst/>
              <a:cxnLst/>
              <a:rect r="r" b="b" t="t" l="l"/>
              <a:pathLst>
                <a:path h="457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36576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TESTING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861804" y="6638544"/>
            <a:ext cx="6926580" cy="301752"/>
            <a:chOff x="0" y="0"/>
            <a:chExt cx="9235440" cy="40233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235440" cy="402336"/>
            </a:xfrm>
            <a:custGeom>
              <a:avLst/>
              <a:gdLst/>
              <a:ahLst/>
              <a:cxnLst/>
              <a:rect r="r" b="b" t="t" l="l"/>
              <a:pathLst>
                <a:path h="402336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270" r="0" b="-39727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0"/>
              <a:ext cx="923544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980">
                  <a:solidFill>
                    <a:srgbClr val="0E1428"/>
                  </a:solidFill>
                  <a:latin typeface="Aptos"/>
                  <a:ea typeface="Aptos"/>
                  <a:cs typeface="Aptos"/>
                  <a:sym typeface="Aptos"/>
                </a:rPr>
                <a:t>1. Ahmed Hazem Ahmed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861804" y="7050024"/>
            <a:ext cx="6926580" cy="301752"/>
            <a:chOff x="0" y="0"/>
            <a:chExt cx="9235440" cy="40233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235440" cy="402336"/>
            </a:xfrm>
            <a:custGeom>
              <a:avLst/>
              <a:gdLst/>
              <a:ahLst/>
              <a:cxnLst/>
              <a:rect r="r" b="b" t="t" l="l"/>
              <a:pathLst>
                <a:path h="402336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270" r="0" b="-39727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923544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980">
                  <a:solidFill>
                    <a:srgbClr val="0E1428"/>
                  </a:solidFill>
                  <a:latin typeface="Aptos"/>
                  <a:ea typeface="Aptos"/>
                  <a:cs typeface="Aptos"/>
                  <a:sym typeface="Aptos"/>
                </a:rPr>
                <a:t>2. Yousef Mohamed Fawzy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861804" y="7461504"/>
            <a:ext cx="6926580" cy="301752"/>
            <a:chOff x="0" y="0"/>
            <a:chExt cx="9235440" cy="40233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235440" cy="402336"/>
            </a:xfrm>
            <a:custGeom>
              <a:avLst/>
              <a:gdLst/>
              <a:ahLst/>
              <a:cxnLst/>
              <a:rect r="r" b="b" t="t" l="l"/>
              <a:pathLst>
                <a:path h="402336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270" r="0" b="-39727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923544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980">
                  <a:solidFill>
                    <a:srgbClr val="0E1428"/>
                  </a:solidFill>
                  <a:latin typeface="Aptos"/>
                  <a:ea typeface="Aptos"/>
                  <a:cs typeface="Aptos"/>
                  <a:sym typeface="Aptos"/>
                </a:rPr>
                <a:t>3. Alhussein Abdelgaber Ibrahim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861804" y="7872984"/>
            <a:ext cx="6926580" cy="301752"/>
            <a:chOff x="0" y="0"/>
            <a:chExt cx="9235440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235440" cy="402336"/>
            </a:xfrm>
            <a:custGeom>
              <a:avLst/>
              <a:gdLst/>
              <a:ahLst/>
              <a:cxnLst/>
              <a:rect r="r" b="b" t="t" l="l"/>
              <a:pathLst>
                <a:path h="402336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270" r="0" b="-39727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923544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980">
                  <a:solidFill>
                    <a:srgbClr val="0E1428"/>
                  </a:solidFill>
                  <a:latin typeface="Aptos"/>
                  <a:ea typeface="Aptos"/>
                  <a:cs typeface="Aptos"/>
                  <a:sym typeface="Aptos"/>
                </a:rPr>
                <a:t>4. Zainab Yousef Rashwan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861804" y="8284464"/>
            <a:ext cx="6926580" cy="301752"/>
            <a:chOff x="0" y="0"/>
            <a:chExt cx="9235440" cy="40233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235440" cy="402336"/>
            </a:xfrm>
            <a:custGeom>
              <a:avLst/>
              <a:gdLst/>
              <a:ahLst/>
              <a:cxnLst/>
              <a:rect r="r" b="b" t="t" l="l"/>
              <a:pathLst>
                <a:path h="402336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270" r="0" b="-39727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923544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980">
                  <a:solidFill>
                    <a:srgbClr val="0E1428"/>
                  </a:solidFill>
                  <a:latin typeface="Aptos"/>
                  <a:ea typeface="Aptos"/>
                  <a:cs typeface="Aptos"/>
                  <a:sym typeface="Aptos"/>
                </a:rPr>
                <a:t>5. Hager Ashraf AboElfadl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5760720" y="9121140"/>
            <a:ext cx="6720840" cy="342900"/>
            <a:chOff x="0" y="0"/>
            <a:chExt cx="8961120" cy="4572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8961120" cy="457200"/>
            </a:xfrm>
            <a:custGeom>
              <a:avLst/>
              <a:gdLst/>
              <a:ahLst/>
              <a:cxnLst/>
              <a:rect r="r" b="b" t="t" l="l"/>
              <a:pathLst>
                <a:path h="45720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906" r="0" b="-331906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0"/>
              <a:ext cx="896112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Supervised by Eng. Mayar Hassan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69926"/>
            <a:chOff x="0" y="0"/>
            <a:chExt cx="24408790" cy="2265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26568"/>
            </a:xfrm>
            <a:custGeom>
              <a:avLst/>
              <a:gdLst/>
              <a:ahLst/>
              <a:cxnLst/>
              <a:rect r="r" b="b" t="t" l="l"/>
              <a:pathLst>
                <a:path h="22656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26568"/>
                  </a:lnTo>
                  <a:lnTo>
                    <a:pt x="0" y="226568"/>
                  </a:lnTo>
                  <a:close/>
                </a:path>
              </a:pathLst>
            </a:custGeom>
            <a:solidFill>
              <a:srgbClr val="FF7A45"/>
            </a:solidFill>
            <a:ln w="19050" cap="sq">
              <a:solidFill>
                <a:srgbClr val="FF7A4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141351"/>
            <a:ext cx="18306593" cy="73914"/>
            <a:chOff x="0" y="0"/>
            <a:chExt cx="24408790" cy="985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98552"/>
            </a:xfrm>
            <a:custGeom>
              <a:avLst/>
              <a:gdLst/>
              <a:ahLst/>
              <a:cxnLst/>
              <a:rect r="r" b="b" t="t" l="l"/>
              <a:pathLst>
                <a:path h="98552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98552"/>
                  </a:lnTo>
                  <a:lnTo>
                    <a:pt x="0" y="98552"/>
                  </a:lnTo>
                  <a:close/>
                </a:path>
              </a:pathLst>
            </a:custGeom>
            <a:solidFill>
              <a:srgbClr val="2DD4BF"/>
            </a:solidFill>
            <a:ln w="19050" cap="sq">
              <a:solidFill>
                <a:srgbClr val="2DD4B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32688" y="576072"/>
            <a:ext cx="12070080" cy="576072"/>
            <a:chOff x="0" y="0"/>
            <a:chExt cx="16093440" cy="7680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93439" cy="768096"/>
            </a:xfrm>
            <a:custGeom>
              <a:avLst/>
              <a:gdLst/>
              <a:ahLst/>
              <a:cxnLst/>
              <a:rect r="r" b="b" t="t" l="l"/>
              <a:pathLst>
                <a:path h="768096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257" r="0" b="-35825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609344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Problem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0120" y="1234440"/>
            <a:ext cx="14813280" cy="411480"/>
            <a:chOff x="0" y="0"/>
            <a:chExt cx="1975104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751039" cy="548640"/>
            </a:xfrm>
            <a:custGeom>
              <a:avLst/>
              <a:gdLst/>
              <a:ahLst/>
              <a:cxnLst/>
              <a:rect r="r" b="b" t="t" l="l"/>
              <a:pathLst>
                <a:path h="54864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97510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Career preparation is fragmented exactly when candidates need context to stay connected.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664940" y="644652"/>
            <a:ext cx="685800" cy="384048"/>
            <a:chOff x="0" y="0"/>
            <a:chExt cx="9144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914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2400">
            <a:off x="926973" y="9761030"/>
            <a:ext cx="16402050" cy="0"/>
          </a:xfrm>
          <a:prstGeom prst="line">
            <a:avLst/>
          </a:prstGeom>
          <a:ln cap="rnd" w="9525">
            <a:solidFill>
              <a:srgbClr val="D9DE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60120" y="9848088"/>
            <a:ext cx="5623560" cy="192024"/>
            <a:chOff x="0" y="0"/>
            <a:chExt cx="7498080" cy="2560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98080" cy="256032"/>
            </a:xfrm>
            <a:custGeom>
              <a:avLst/>
              <a:gdLst/>
              <a:ahLst/>
              <a:cxnLst/>
              <a:rect r="r" b="b" t="t" l="l"/>
              <a:pathLst>
                <a:path h="256032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49808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9AA3B8"/>
                  </a:solidFill>
                  <a:latin typeface="Aptos"/>
                  <a:ea typeface="Aptos"/>
                  <a:cs typeface="Aptos"/>
                  <a:sym typeface="Aptos"/>
                </a:rPr>
                <a:t>CAREER PILOT  •  ITI Intake 46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253460" y="9848088"/>
            <a:ext cx="1028700" cy="192024"/>
            <a:chOff x="0" y="0"/>
            <a:chExt cx="1371600" cy="2560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71600" cy="256032"/>
            </a:xfrm>
            <a:custGeom>
              <a:avLst/>
              <a:gdLst/>
              <a:ahLst/>
              <a:cxnLst/>
              <a:rect r="r" b="b" t="t" l="l"/>
              <a:pathLst>
                <a:path h="25603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37160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>
                  <a:solidFill>
                    <a:srgbClr val="9AA3B8"/>
                  </a:solidFill>
                  <a:latin typeface="Aptos"/>
                  <a:ea typeface="Aptos"/>
                  <a:cs typeface="Aptos"/>
                  <a:sym typeface="Aptos"/>
                </a:rPr>
                <a:t>4 / 17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19175" y="2116455"/>
            <a:ext cx="7864602" cy="2419350"/>
            <a:chOff x="0" y="0"/>
            <a:chExt cx="10486136" cy="3225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86136" cy="3225800"/>
            </a:xfrm>
            <a:custGeom>
              <a:avLst/>
              <a:gdLst/>
              <a:ahLst/>
              <a:cxnLst/>
              <a:rect r="r" b="b" t="t" l="l"/>
              <a:pathLst>
                <a:path h="3225800" w="10486136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10338689" y="0"/>
                  </a:lnTo>
                  <a:cubicBezTo>
                    <a:pt x="10420096" y="0"/>
                    <a:pt x="10486136" y="66040"/>
                    <a:pt x="10486136" y="147447"/>
                  </a:cubicBezTo>
                  <a:lnTo>
                    <a:pt x="10486136" y="3078353"/>
                  </a:lnTo>
                  <a:cubicBezTo>
                    <a:pt x="10486136" y="3159760"/>
                    <a:pt x="10420096" y="3225800"/>
                    <a:pt x="10338689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34643" y="2431923"/>
            <a:ext cx="814578" cy="814578"/>
            <a:chOff x="0" y="0"/>
            <a:chExt cx="1086104" cy="10861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187198"/>
                  </a:moveTo>
                  <a:cubicBezTo>
                    <a:pt x="0" y="83820"/>
                    <a:pt x="83820" y="0"/>
                    <a:pt x="187198" y="0"/>
                  </a:cubicBezTo>
                  <a:lnTo>
                    <a:pt x="898906" y="0"/>
                  </a:lnTo>
                  <a:cubicBezTo>
                    <a:pt x="1002284" y="0"/>
                    <a:pt x="1086104" y="83820"/>
                    <a:pt x="1086104" y="187198"/>
                  </a:cubicBezTo>
                  <a:lnTo>
                    <a:pt x="1086104" y="898906"/>
                  </a:lnTo>
                  <a:cubicBezTo>
                    <a:pt x="1086104" y="1002284"/>
                    <a:pt x="1002284" y="1086104"/>
                    <a:pt x="898906" y="1086104"/>
                  </a:cubicBezTo>
                  <a:lnTo>
                    <a:pt x="187198" y="1086104"/>
                  </a:lnTo>
                  <a:cubicBezTo>
                    <a:pt x="83820" y="1086104"/>
                    <a:pt x="0" y="1002284"/>
                    <a:pt x="0" y="898906"/>
                  </a:cubicBezTo>
                  <a:close/>
                </a:path>
              </a:pathLst>
            </a:custGeom>
            <a:solidFill>
              <a:srgbClr val="FFF0E9"/>
            </a:solidFill>
            <a:ln w="19050" cap="sq">
              <a:solidFill>
                <a:srgbClr val="FFF0E9"/>
              </a:solidFill>
              <a:prstDash val="solid"/>
              <a:miter/>
            </a:ln>
          </p:spPr>
        </p:sp>
      </p:grpSp>
      <p:sp>
        <p:nvSpPr>
          <p:cNvPr name="Freeform 26" id="26" descr="/opt/nvm/versions/node/v22.16.0/lib/node_modules/@fortawesome/fontawesome-free/svgs/solid/cloud.svg"/>
          <p:cNvSpPr/>
          <p:nvPr/>
        </p:nvSpPr>
        <p:spPr>
          <a:xfrm flipH="false" flipV="false" rot="0">
            <a:off x="1536192" y="2660904"/>
            <a:ext cx="411480" cy="329184"/>
          </a:xfrm>
          <a:custGeom>
            <a:avLst/>
            <a:gdLst/>
            <a:ahLst/>
            <a:cxnLst/>
            <a:rect r="r" b="b" t="t" l="l"/>
            <a:pathLst>
              <a:path h="329184" w="411480">
                <a:moveTo>
                  <a:pt x="0" y="0"/>
                </a:moveTo>
                <a:lnTo>
                  <a:pt x="411480" y="0"/>
                </a:lnTo>
                <a:lnTo>
                  <a:pt x="411480" y="329184"/>
                </a:lnTo>
                <a:lnTo>
                  <a:pt x="0" y="3291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84" t="0" r="-287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2372868" y="2654046"/>
            <a:ext cx="6199632" cy="342900"/>
            <a:chOff x="0" y="0"/>
            <a:chExt cx="8266176" cy="457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266176" cy="457200"/>
            </a:xfrm>
            <a:custGeom>
              <a:avLst/>
              <a:gdLst/>
              <a:ahLst/>
              <a:cxnLst/>
              <a:rect r="r" b="b" t="t" l="l"/>
              <a:pathLst>
                <a:path h="457200" w="8266176">
                  <a:moveTo>
                    <a:pt x="0" y="0"/>
                  </a:moveTo>
                  <a:lnTo>
                    <a:pt x="8266176" y="0"/>
                  </a:lnTo>
                  <a:lnTo>
                    <a:pt x="826617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2289" r="0" b="-30228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8266176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Fragmented tools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372868" y="2990088"/>
            <a:ext cx="6131052" cy="1330452"/>
            <a:chOff x="0" y="0"/>
            <a:chExt cx="8174736" cy="177393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74736" cy="1773936"/>
            </a:xfrm>
            <a:custGeom>
              <a:avLst/>
              <a:gdLst/>
              <a:ahLst/>
              <a:cxnLst/>
              <a:rect r="r" b="b" t="t" l="l"/>
              <a:pathLst>
                <a:path h="1773936" w="8174736">
                  <a:moveTo>
                    <a:pt x="0" y="0"/>
                  </a:moveTo>
                  <a:lnTo>
                    <a:pt x="8174736" y="0"/>
                  </a:lnTo>
                  <a:lnTo>
                    <a:pt x="8174736" y="1773936"/>
                  </a:lnTo>
                  <a:lnTo>
                    <a:pt x="0" y="17739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91" r="0" b="-3979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8174736" cy="17739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CV, job matching, mock interviews, and analytics rarely share the same candidate context.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385935" y="2116455"/>
            <a:ext cx="7864602" cy="2419350"/>
            <a:chOff x="0" y="0"/>
            <a:chExt cx="10486136" cy="3225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486136" cy="3225800"/>
            </a:xfrm>
            <a:custGeom>
              <a:avLst/>
              <a:gdLst/>
              <a:ahLst/>
              <a:cxnLst/>
              <a:rect r="r" b="b" t="t" l="l"/>
              <a:pathLst>
                <a:path h="3225800" w="10486136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10338689" y="0"/>
                  </a:lnTo>
                  <a:cubicBezTo>
                    <a:pt x="10420096" y="0"/>
                    <a:pt x="10486136" y="66040"/>
                    <a:pt x="10486136" y="147447"/>
                  </a:cubicBezTo>
                  <a:lnTo>
                    <a:pt x="10486136" y="3078353"/>
                  </a:lnTo>
                  <a:cubicBezTo>
                    <a:pt x="10486136" y="3159760"/>
                    <a:pt x="10420096" y="3225800"/>
                    <a:pt x="10338689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701403" y="2431923"/>
            <a:ext cx="814578" cy="814578"/>
            <a:chOff x="0" y="0"/>
            <a:chExt cx="1086104" cy="108610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187198"/>
                  </a:moveTo>
                  <a:cubicBezTo>
                    <a:pt x="0" y="83820"/>
                    <a:pt x="83820" y="0"/>
                    <a:pt x="187198" y="0"/>
                  </a:cubicBezTo>
                  <a:lnTo>
                    <a:pt x="898906" y="0"/>
                  </a:lnTo>
                  <a:cubicBezTo>
                    <a:pt x="1002284" y="0"/>
                    <a:pt x="1086104" y="83820"/>
                    <a:pt x="1086104" y="187198"/>
                  </a:cubicBezTo>
                  <a:lnTo>
                    <a:pt x="1086104" y="898906"/>
                  </a:lnTo>
                  <a:cubicBezTo>
                    <a:pt x="1086104" y="1002284"/>
                    <a:pt x="1002284" y="1086104"/>
                    <a:pt x="898906" y="1086104"/>
                  </a:cubicBezTo>
                  <a:lnTo>
                    <a:pt x="187198" y="1086104"/>
                  </a:lnTo>
                  <a:cubicBezTo>
                    <a:pt x="83820" y="1086104"/>
                    <a:pt x="0" y="1002284"/>
                    <a:pt x="0" y="898906"/>
                  </a:cubicBezTo>
                  <a:close/>
                </a:path>
              </a:pathLst>
            </a:custGeom>
            <a:solidFill>
              <a:srgbClr val="E9FBF7"/>
            </a:solidFill>
            <a:ln w="19050" cap="sq">
              <a:solidFill>
                <a:srgbClr val="E9FBF7"/>
              </a:solidFill>
              <a:prstDash val="solid"/>
              <a:miter/>
            </a:ln>
          </p:spPr>
        </p:sp>
      </p:grpSp>
      <p:sp>
        <p:nvSpPr>
          <p:cNvPr name="Freeform 37" id="37" descr="/opt/nvm/versions/node/v22.16.0/lib/node_modules/@fortawesome/fontawesome-free/svgs/solid/shield-halved.svg"/>
          <p:cNvSpPr/>
          <p:nvPr/>
        </p:nvSpPr>
        <p:spPr>
          <a:xfrm flipH="false" flipV="false" rot="0">
            <a:off x="9902952" y="2619756"/>
            <a:ext cx="411480" cy="411480"/>
          </a:xfrm>
          <a:custGeom>
            <a:avLst/>
            <a:gdLst/>
            <a:ahLst/>
            <a:cxnLst/>
            <a:rect r="r" b="b" t="t" l="l"/>
            <a:pathLst>
              <a:path h="411480" w="411480">
                <a:moveTo>
                  <a:pt x="0" y="0"/>
                </a:moveTo>
                <a:lnTo>
                  <a:pt x="411480" y="0"/>
                </a:lnTo>
                <a:lnTo>
                  <a:pt x="411480" y="411480"/>
                </a:lnTo>
                <a:lnTo>
                  <a:pt x="0" y="4114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0739628" y="2654046"/>
            <a:ext cx="6199632" cy="342900"/>
            <a:chOff x="0" y="0"/>
            <a:chExt cx="8266176" cy="457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66176" cy="457200"/>
            </a:xfrm>
            <a:custGeom>
              <a:avLst/>
              <a:gdLst/>
              <a:ahLst/>
              <a:cxnLst/>
              <a:rect r="r" b="b" t="t" l="l"/>
              <a:pathLst>
                <a:path h="457200" w="8266176">
                  <a:moveTo>
                    <a:pt x="0" y="0"/>
                  </a:moveTo>
                  <a:lnTo>
                    <a:pt x="8266176" y="0"/>
                  </a:lnTo>
                  <a:lnTo>
                    <a:pt x="826617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2289" r="0" b="-30228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8266176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ATS blind spots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739628" y="2990088"/>
            <a:ext cx="6131052" cy="1330452"/>
            <a:chOff x="0" y="0"/>
            <a:chExt cx="8174736" cy="177393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74736" cy="1773936"/>
            </a:xfrm>
            <a:custGeom>
              <a:avLst/>
              <a:gdLst/>
              <a:ahLst/>
              <a:cxnLst/>
              <a:rect r="r" b="b" t="t" l="l"/>
              <a:pathLst>
                <a:path h="1773936" w="8174736">
                  <a:moveTo>
                    <a:pt x="0" y="0"/>
                  </a:moveTo>
                  <a:lnTo>
                    <a:pt x="8174736" y="0"/>
                  </a:lnTo>
                  <a:lnTo>
                    <a:pt x="8174736" y="1773936"/>
                  </a:lnTo>
                  <a:lnTo>
                    <a:pt x="0" y="17739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91" r="0" b="-3979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8174736" cy="17739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Qualified candidates can be filtered before a human review because the CV misses role-specific signals.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19175" y="5545455"/>
            <a:ext cx="7864602" cy="2419350"/>
            <a:chOff x="0" y="0"/>
            <a:chExt cx="10486136" cy="3225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486136" cy="3225800"/>
            </a:xfrm>
            <a:custGeom>
              <a:avLst/>
              <a:gdLst/>
              <a:ahLst/>
              <a:cxnLst/>
              <a:rect r="r" b="b" t="t" l="l"/>
              <a:pathLst>
                <a:path h="3225800" w="10486136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10338689" y="0"/>
                  </a:lnTo>
                  <a:cubicBezTo>
                    <a:pt x="10420096" y="0"/>
                    <a:pt x="10486136" y="66040"/>
                    <a:pt x="10486136" y="147447"/>
                  </a:cubicBezTo>
                  <a:lnTo>
                    <a:pt x="10486136" y="3078353"/>
                  </a:lnTo>
                  <a:cubicBezTo>
                    <a:pt x="10486136" y="3159760"/>
                    <a:pt x="10420096" y="3225800"/>
                    <a:pt x="10338689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334643" y="5860923"/>
            <a:ext cx="814578" cy="814578"/>
            <a:chOff x="0" y="0"/>
            <a:chExt cx="1086104" cy="108610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187198"/>
                  </a:moveTo>
                  <a:cubicBezTo>
                    <a:pt x="0" y="83820"/>
                    <a:pt x="83820" y="0"/>
                    <a:pt x="187198" y="0"/>
                  </a:cubicBezTo>
                  <a:lnTo>
                    <a:pt x="898906" y="0"/>
                  </a:lnTo>
                  <a:cubicBezTo>
                    <a:pt x="1002284" y="0"/>
                    <a:pt x="1086104" y="83820"/>
                    <a:pt x="1086104" y="187198"/>
                  </a:cubicBezTo>
                  <a:lnTo>
                    <a:pt x="1086104" y="898906"/>
                  </a:lnTo>
                  <a:cubicBezTo>
                    <a:pt x="1086104" y="1002284"/>
                    <a:pt x="1002284" y="1086104"/>
                    <a:pt x="898906" y="1086104"/>
                  </a:cubicBezTo>
                  <a:lnTo>
                    <a:pt x="187198" y="1086104"/>
                  </a:lnTo>
                  <a:cubicBezTo>
                    <a:pt x="83820" y="1086104"/>
                    <a:pt x="0" y="1002284"/>
                    <a:pt x="0" y="898906"/>
                  </a:cubicBezTo>
                  <a:close/>
                </a:path>
              </a:pathLst>
            </a:custGeom>
            <a:solidFill>
              <a:srgbClr val="FFF0E9"/>
            </a:solidFill>
            <a:ln w="19050" cap="sq">
              <a:solidFill>
                <a:srgbClr val="FFF0E9"/>
              </a:solidFill>
              <a:prstDash val="solid"/>
              <a:miter/>
            </a:ln>
          </p:spPr>
        </p:sp>
      </p:grpSp>
      <p:sp>
        <p:nvSpPr>
          <p:cNvPr name="Freeform 48" id="48" descr="/opt/nvm/versions/node/v22.16.0/lib/node_modules/@fortawesome/fontawesome-free/svgs/solid/brain.svg"/>
          <p:cNvSpPr/>
          <p:nvPr/>
        </p:nvSpPr>
        <p:spPr>
          <a:xfrm flipH="false" flipV="false" rot="0">
            <a:off x="1536192" y="6048756"/>
            <a:ext cx="411480" cy="411480"/>
          </a:xfrm>
          <a:custGeom>
            <a:avLst/>
            <a:gdLst/>
            <a:ahLst/>
            <a:cxnLst/>
            <a:rect r="r" b="b" t="t" l="l"/>
            <a:pathLst>
              <a:path h="411480" w="411480">
                <a:moveTo>
                  <a:pt x="0" y="0"/>
                </a:moveTo>
                <a:lnTo>
                  <a:pt x="411480" y="0"/>
                </a:lnTo>
                <a:lnTo>
                  <a:pt x="411480" y="411480"/>
                </a:lnTo>
                <a:lnTo>
                  <a:pt x="0" y="4114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2372868" y="6083046"/>
            <a:ext cx="6199632" cy="342900"/>
            <a:chOff x="0" y="0"/>
            <a:chExt cx="8266176" cy="457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266176" cy="457200"/>
            </a:xfrm>
            <a:custGeom>
              <a:avLst/>
              <a:gdLst/>
              <a:ahLst/>
              <a:cxnLst/>
              <a:rect r="r" b="b" t="t" l="l"/>
              <a:pathLst>
                <a:path h="457200" w="8266176">
                  <a:moveTo>
                    <a:pt x="0" y="0"/>
                  </a:moveTo>
                  <a:lnTo>
                    <a:pt x="8266176" y="0"/>
                  </a:lnTo>
                  <a:lnTo>
                    <a:pt x="826617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2289" r="0" b="-30228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8266176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Generic AI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372868" y="6419088"/>
            <a:ext cx="6131052" cy="1330452"/>
            <a:chOff x="0" y="0"/>
            <a:chExt cx="8174736" cy="177393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74736" cy="1773936"/>
            </a:xfrm>
            <a:custGeom>
              <a:avLst/>
              <a:gdLst/>
              <a:ahLst/>
              <a:cxnLst/>
              <a:rect r="r" b="b" t="t" l="l"/>
              <a:pathLst>
                <a:path h="1773936" w="8174736">
                  <a:moveTo>
                    <a:pt x="0" y="0"/>
                  </a:moveTo>
                  <a:lnTo>
                    <a:pt x="8174736" y="0"/>
                  </a:lnTo>
                  <a:lnTo>
                    <a:pt x="8174736" y="1773936"/>
                  </a:lnTo>
                  <a:lnTo>
                    <a:pt x="0" y="17739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91" r="0" b="-3979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8174736" cy="17739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Ungrounded prompts produce vague coaching, irrelevant questions, or unsafe résumé rewrites.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385935" y="5545455"/>
            <a:ext cx="7864602" cy="2419350"/>
            <a:chOff x="0" y="0"/>
            <a:chExt cx="10486136" cy="3225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486136" cy="3225800"/>
            </a:xfrm>
            <a:custGeom>
              <a:avLst/>
              <a:gdLst/>
              <a:ahLst/>
              <a:cxnLst/>
              <a:rect r="r" b="b" t="t" l="l"/>
              <a:pathLst>
                <a:path h="3225800" w="10486136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10338689" y="0"/>
                  </a:lnTo>
                  <a:cubicBezTo>
                    <a:pt x="10420096" y="0"/>
                    <a:pt x="10486136" y="66040"/>
                    <a:pt x="10486136" y="147447"/>
                  </a:cubicBezTo>
                  <a:lnTo>
                    <a:pt x="10486136" y="3078353"/>
                  </a:lnTo>
                  <a:cubicBezTo>
                    <a:pt x="10486136" y="3159760"/>
                    <a:pt x="10420096" y="3225800"/>
                    <a:pt x="10338689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9701403" y="5860923"/>
            <a:ext cx="814578" cy="814578"/>
            <a:chOff x="0" y="0"/>
            <a:chExt cx="1086104" cy="108610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187198"/>
                  </a:moveTo>
                  <a:cubicBezTo>
                    <a:pt x="0" y="83820"/>
                    <a:pt x="83820" y="0"/>
                    <a:pt x="187198" y="0"/>
                  </a:cubicBezTo>
                  <a:lnTo>
                    <a:pt x="898906" y="0"/>
                  </a:lnTo>
                  <a:cubicBezTo>
                    <a:pt x="1002284" y="0"/>
                    <a:pt x="1086104" y="83820"/>
                    <a:pt x="1086104" y="187198"/>
                  </a:cubicBezTo>
                  <a:lnTo>
                    <a:pt x="1086104" y="898906"/>
                  </a:lnTo>
                  <a:cubicBezTo>
                    <a:pt x="1086104" y="1002284"/>
                    <a:pt x="1002284" y="1086104"/>
                    <a:pt x="898906" y="1086104"/>
                  </a:cubicBezTo>
                  <a:lnTo>
                    <a:pt x="187198" y="1086104"/>
                  </a:lnTo>
                  <a:cubicBezTo>
                    <a:pt x="83820" y="1086104"/>
                    <a:pt x="0" y="1002284"/>
                    <a:pt x="0" y="898906"/>
                  </a:cubicBezTo>
                  <a:close/>
                </a:path>
              </a:pathLst>
            </a:custGeom>
            <a:solidFill>
              <a:srgbClr val="E9FBF7"/>
            </a:solidFill>
            <a:ln w="19050" cap="sq">
              <a:solidFill>
                <a:srgbClr val="E9FBF7"/>
              </a:solidFill>
              <a:prstDash val="solid"/>
              <a:miter/>
            </a:ln>
          </p:spPr>
        </p:sp>
      </p:grpSp>
      <p:sp>
        <p:nvSpPr>
          <p:cNvPr name="Freeform 59" id="59" descr="/opt/nvm/versions/node/v22.16.0/lib/node_modules/@fortawesome/fontawesome-free/svgs/solid/users.svg"/>
          <p:cNvSpPr/>
          <p:nvPr/>
        </p:nvSpPr>
        <p:spPr>
          <a:xfrm flipH="false" flipV="false" rot="0">
            <a:off x="9902952" y="6089904"/>
            <a:ext cx="411480" cy="329184"/>
          </a:xfrm>
          <a:custGeom>
            <a:avLst/>
            <a:gdLst/>
            <a:ahLst/>
            <a:cxnLst/>
            <a:rect r="r" b="b" t="t" l="l"/>
            <a:pathLst>
              <a:path h="329184" w="411480">
                <a:moveTo>
                  <a:pt x="0" y="0"/>
                </a:moveTo>
                <a:lnTo>
                  <a:pt x="411480" y="0"/>
                </a:lnTo>
                <a:lnTo>
                  <a:pt x="411480" y="329184"/>
                </a:lnTo>
                <a:lnTo>
                  <a:pt x="0" y="3291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84" t="0" r="-287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10739628" y="6083046"/>
            <a:ext cx="6199632" cy="342900"/>
            <a:chOff x="0" y="0"/>
            <a:chExt cx="8266176" cy="4572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266176" cy="457200"/>
            </a:xfrm>
            <a:custGeom>
              <a:avLst/>
              <a:gdLst/>
              <a:ahLst/>
              <a:cxnLst/>
              <a:rect r="r" b="b" t="t" l="l"/>
              <a:pathLst>
                <a:path h="457200" w="8266176">
                  <a:moveTo>
                    <a:pt x="0" y="0"/>
                  </a:moveTo>
                  <a:lnTo>
                    <a:pt x="8266176" y="0"/>
                  </a:lnTo>
                  <a:lnTo>
                    <a:pt x="826617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2289" r="0" b="-30228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8266176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Missing delivery feedback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739628" y="6419088"/>
            <a:ext cx="6131052" cy="1330452"/>
            <a:chOff x="0" y="0"/>
            <a:chExt cx="8174736" cy="177393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174736" cy="1773936"/>
            </a:xfrm>
            <a:custGeom>
              <a:avLst/>
              <a:gdLst/>
              <a:ahLst/>
              <a:cxnLst/>
              <a:rect r="r" b="b" t="t" l="l"/>
              <a:pathLst>
                <a:path h="1773936" w="8174736">
                  <a:moveTo>
                    <a:pt x="0" y="0"/>
                  </a:moveTo>
                  <a:lnTo>
                    <a:pt x="8174736" y="0"/>
                  </a:lnTo>
                  <a:lnTo>
                    <a:pt x="8174736" y="1773936"/>
                  </a:lnTo>
                  <a:lnTo>
                    <a:pt x="0" y="17739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91" r="0" b="-39791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8174736" cy="17739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Most tools cannot evaluate the visual and speech behaviors that shape a real interview.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69926"/>
            <a:chOff x="0" y="0"/>
            <a:chExt cx="24408790" cy="2265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26568"/>
            </a:xfrm>
            <a:custGeom>
              <a:avLst/>
              <a:gdLst/>
              <a:ahLst/>
              <a:cxnLst/>
              <a:rect r="r" b="b" t="t" l="l"/>
              <a:pathLst>
                <a:path h="22656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26568"/>
                  </a:lnTo>
                  <a:lnTo>
                    <a:pt x="0" y="226568"/>
                  </a:lnTo>
                  <a:close/>
                </a:path>
              </a:pathLst>
            </a:custGeom>
            <a:solidFill>
              <a:srgbClr val="FF7A45"/>
            </a:solidFill>
            <a:ln w="19050" cap="sq">
              <a:solidFill>
                <a:srgbClr val="FF7A4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141351"/>
            <a:ext cx="18306593" cy="73914"/>
            <a:chOff x="0" y="0"/>
            <a:chExt cx="24408790" cy="985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98552"/>
            </a:xfrm>
            <a:custGeom>
              <a:avLst/>
              <a:gdLst/>
              <a:ahLst/>
              <a:cxnLst/>
              <a:rect r="r" b="b" t="t" l="l"/>
              <a:pathLst>
                <a:path h="98552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98552"/>
                  </a:lnTo>
                  <a:lnTo>
                    <a:pt x="0" y="98552"/>
                  </a:lnTo>
                  <a:close/>
                </a:path>
              </a:pathLst>
            </a:custGeom>
            <a:solidFill>
              <a:srgbClr val="2DD4BF"/>
            </a:solidFill>
            <a:ln w="19050" cap="sq">
              <a:solidFill>
                <a:srgbClr val="2DD4B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32688" y="576072"/>
            <a:ext cx="12070080" cy="576072"/>
            <a:chOff x="0" y="0"/>
            <a:chExt cx="16093440" cy="7680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93439" cy="768096"/>
            </a:xfrm>
            <a:custGeom>
              <a:avLst/>
              <a:gdLst/>
              <a:ahLst/>
              <a:cxnLst/>
              <a:rect r="r" b="b" t="t" l="l"/>
              <a:pathLst>
                <a:path h="768096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257" r="0" b="-35825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609344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Solution &amp; Mission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0120" y="1234440"/>
            <a:ext cx="14813280" cy="411480"/>
            <a:chOff x="0" y="0"/>
            <a:chExt cx="1975104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751039" cy="548640"/>
            </a:xfrm>
            <a:custGeom>
              <a:avLst/>
              <a:gdLst/>
              <a:ahLst/>
              <a:cxnLst/>
              <a:rect r="r" b="b" t="t" l="l"/>
              <a:pathLst>
                <a:path h="54864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97510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One product, one candidate context, multiple intelligence layers.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664940" y="644652"/>
            <a:ext cx="685800" cy="384048"/>
            <a:chOff x="0" y="0"/>
            <a:chExt cx="9144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914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2400">
            <a:off x="926973" y="9761030"/>
            <a:ext cx="16402050" cy="0"/>
          </a:xfrm>
          <a:prstGeom prst="line">
            <a:avLst/>
          </a:prstGeom>
          <a:ln cap="rnd" w="9525">
            <a:solidFill>
              <a:srgbClr val="D9DE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60120" y="9848088"/>
            <a:ext cx="5623560" cy="192024"/>
            <a:chOff x="0" y="0"/>
            <a:chExt cx="7498080" cy="2560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98080" cy="256032"/>
            </a:xfrm>
            <a:custGeom>
              <a:avLst/>
              <a:gdLst/>
              <a:ahLst/>
              <a:cxnLst/>
              <a:rect r="r" b="b" t="t" l="l"/>
              <a:pathLst>
                <a:path h="256032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49808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9AA3B8"/>
                  </a:solidFill>
                  <a:latin typeface="Aptos"/>
                  <a:ea typeface="Aptos"/>
                  <a:cs typeface="Aptos"/>
                  <a:sym typeface="Aptos"/>
                </a:rPr>
                <a:t>CAREER PILOT  •  ITI Intake 46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253460" y="9848088"/>
            <a:ext cx="1028700" cy="192024"/>
            <a:chOff x="0" y="0"/>
            <a:chExt cx="1371600" cy="2560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71600" cy="256032"/>
            </a:xfrm>
            <a:custGeom>
              <a:avLst/>
              <a:gdLst/>
              <a:ahLst/>
              <a:cxnLst/>
              <a:rect r="r" b="b" t="t" l="l"/>
              <a:pathLst>
                <a:path h="25603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37160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>
                  <a:solidFill>
                    <a:srgbClr val="9AA3B8"/>
                  </a:solidFill>
                  <a:latin typeface="Aptos"/>
                  <a:ea typeface="Aptos"/>
                  <a:cs typeface="Aptos"/>
                  <a:sym typeface="Aptos"/>
                </a:rPr>
                <a:t>5 / 17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69848" y="1947672"/>
            <a:ext cx="3017520" cy="384048"/>
            <a:chOff x="0" y="0"/>
            <a:chExt cx="4023360" cy="5120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23360" cy="512064"/>
            </a:xfrm>
            <a:custGeom>
              <a:avLst/>
              <a:gdLst/>
              <a:ahLst/>
              <a:cxnLst/>
              <a:rect r="r" b="b" t="t" l="l"/>
              <a:pathLst>
                <a:path h="512064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40233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Our mission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69848" y="2496312"/>
            <a:ext cx="15910560" cy="1234440"/>
            <a:chOff x="0" y="0"/>
            <a:chExt cx="21214080" cy="16459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2140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140" r="0" b="-20114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2121408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Turn career preparation into a measurable coaching experience that connects candidate evidence, target-job requirements, realistic practice, and actionable improvement.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87755" y="4859655"/>
            <a:ext cx="5121402" cy="2762250"/>
            <a:chOff x="0" y="0"/>
            <a:chExt cx="6828536" cy="3683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28536" cy="3683000"/>
            </a:xfrm>
            <a:custGeom>
              <a:avLst/>
              <a:gdLst/>
              <a:ahLst/>
              <a:cxnLst/>
              <a:rect r="r" b="b" t="t" l="l"/>
              <a:pathLst>
                <a:path h="3683000" w="6828536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681216" y="0"/>
                  </a:lnTo>
                  <a:cubicBezTo>
                    <a:pt x="6762623" y="0"/>
                    <a:pt x="6828536" y="65913"/>
                    <a:pt x="6828536" y="147320"/>
                  </a:cubicBezTo>
                  <a:lnTo>
                    <a:pt x="6828536" y="3535680"/>
                  </a:lnTo>
                  <a:cubicBezTo>
                    <a:pt x="6828536" y="3617087"/>
                    <a:pt x="6762623" y="3683000"/>
                    <a:pt x="6681216" y="3683000"/>
                  </a:cubicBezTo>
                  <a:lnTo>
                    <a:pt x="147320" y="3683000"/>
                  </a:lnTo>
                  <a:cubicBezTo>
                    <a:pt x="65913" y="3683000"/>
                    <a:pt x="0" y="3617087"/>
                    <a:pt x="0" y="353568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403223" y="5175123"/>
            <a:ext cx="814578" cy="814578"/>
            <a:chOff x="0" y="0"/>
            <a:chExt cx="1086104" cy="108610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187198"/>
                  </a:moveTo>
                  <a:cubicBezTo>
                    <a:pt x="0" y="83820"/>
                    <a:pt x="83820" y="0"/>
                    <a:pt x="187198" y="0"/>
                  </a:cubicBezTo>
                  <a:lnTo>
                    <a:pt x="898906" y="0"/>
                  </a:lnTo>
                  <a:cubicBezTo>
                    <a:pt x="1002284" y="0"/>
                    <a:pt x="1086104" y="83820"/>
                    <a:pt x="1086104" y="187198"/>
                  </a:cubicBezTo>
                  <a:lnTo>
                    <a:pt x="1086104" y="898906"/>
                  </a:lnTo>
                  <a:cubicBezTo>
                    <a:pt x="1086104" y="1002284"/>
                    <a:pt x="1002284" y="1086104"/>
                    <a:pt x="898906" y="1086104"/>
                  </a:cubicBezTo>
                  <a:lnTo>
                    <a:pt x="187198" y="1086104"/>
                  </a:lnTo>
                  <a:cubicBezTo>
                    <a:pt x="83820" y="1086104"/>
                    <a:pt x="0" y="1002284"/>
                    <a:pt x="0" y="898906"/>
                  </a:cubicBezTo>
                  <a:close/>
                </a:path>
              </a:pathLst>
            </a:custGeom>
            <a:solidFill>
              <a:srgbClr val="FFF0E9"/>
            </a:solidFill>
            <a:ln w="19050" cap="sq">
              <a:solidFill>
                <a:srgbClr val="FFF0E9"/>
              </a:solidFill>
              <a:prstDash val="solid"/>
              <a:miter/>
            </a:ln>
          </p:spPr>
        </p:sp>
      </p:grpSp>
      <p:sp>
        <p:nvSpPr>
          <p:cNvPr name="Freeform 32" id="32" descr="/opt/nvm/versions/node/v22.16.0/lib/node_modules/@fortawesome/fontawesome-free/svgs/solid/brain.svg"/>
          <p:cNvSpPr/>
          <p:nvPr/>
        </p:nvSpPr>
        <p:spPr>
          <a:xfrm flipH="false" flipV="false" rot="0">
            <a:off x="1604772" y="5362956"/>
            <a:ext cx="411480" cy="411480"/>
          </a:xfrm>
          <a:custGeom>
            <a:avLst/>
            <a:gdLst/>
            <a:ahLst/>
            <a:cxnLst/>
            <a:rect r="r" b="b" t="t" l="l"/>
            <a:pathLst>
              <a:path h="411480" w="411480">
                <a:moveTo>
                  <a:pt x="0" y="0"/>
                </a:moveTo>
                <a:lnTo>
                  <a:pt x="411480" y="0"/>
                </a:lnTo>
                <a:lnTo>
                  <a:pt x="411480" y="411480"/>
                </a:lnTo>
                <a:lnTo>
                  <a:pt x="0" y="4114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2441448" y="5397246"/>
            <a:ext cx="3456432" cy="342900"/>
            <a:chOff x="0" y="0"/>
            <a:chExt cx="4608576" cy="457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608576" cy="457200"/>
            </a:xfrm>
            <a:custGeom>
              <a:avLst/>
              <a:gdLst/>
              <a:ahLst/>
              <a:cxnLst/>
              <a:rect r="r" b="b" t="t" l="l"/>
              <a:pathLst>
                <a:path h="457200" w="4608576">
                  <a:moveTo>
                    <a:pt x="0" y="0"/>
                  </a:moveTo>
                  <a:lnTo>
                    <a:pt x="4608576" y="0"/>
                  </a:lnTo>
                  <a:lnTo>
                    <a:pt x="460857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409" r="0" b="-14640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4608576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Grounded personalization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441448" y="5733288"/>
            <a:ext cx="3387852" cy="1673352"/>
            <a:chOff x="0" y="0"/>
            <a:chExt cx="4517136" cy="223113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517136" cy="2231136"/>
            </a:xfrm>
            <a:custGeom>
              <a:avLst/>
              <a:gdLst/>
              <a:ahLst/>
              <a:cxnLst/>
              <a:rect r="r" b="b" t="t" l="l"/>
              <a:pathLst>
                <a:path h="2231136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2231136"/>
                  </a:lnTo>
                  <a:lnTo>
                    <a:pt x="0" y="22311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72" t="0" r="-13372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4517136" cy="22311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CV, track, job context, and RAG keep feedback relevant.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779895" y="4859655"/>
            <a:ext cx="5121402" cy="2762250"/>
            <a:chOff x="0" y="0"/>
            <a:chExt cx="6828536" cy="3683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828536" cy="3683000"/>
            </a:xfrm>
            <a:custGeom>
              <a:avLst/>
              <a:gdLst/>
              <a:ahLst/>
              <a:cxnLst/>
              <a:rect r="r" b="b" t="t" l="l"/>
              <a:pathLst>
                <a:path h="3683000" w="6828536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681216" y="0"/>
                  </a:lnTo>
                  <a:cubicBezTo>
                    <a:pt x="6762623" y="0"/>
                    <a:pt x="6828536" y="65913"/>
                    <a:pt x="6828536" y="147320"/>
                  </a:cubicBezTo>
                  <a:lnTo>
                    <a:pt x="6828536" y="3535680"/>
                  </a:lnTo>
                  <a:cubicBezTo>
                    <a:pt x="6828536" y="3617087"/>
                    <a:pt x="6762623" y="3683000"/>
                    <a:pt x="6681216" y="3683000"/>
                  </a:cubicBezTo>
                  <a:lnTo>
                    <a:pt x="147320" y="3683000"/>
                  </a:lnTo>
                  <a:cubicBezTo>
                    <a:pt x="65913" y="3683000"/>
                    <a:pt x="0" y="3617087"/>
                    <a:pt x="0" y="353568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7095363" y="5175123"/>
            <a:ext cx="814578" cy="814578"/>
            <a:chOff x="0" y="0"/>
            <a:chExt cx="1086104" cy="108610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187198"/>
                  </a:moveTo>
                  <a:cubicBezTo>
                    <a:pt x="0" y="83820"/>
                    <a:pt x="83820" y="0"/>
                    <a:pt x="187198" y="0"/>
                  </a:cubicBezTo>
                  <a:lnTo>
                    <a:pt x="898906" y="0"/>
                  </a:lnTo>
                  <a:cubicBezTo>
                    <a:pt x="1002284" y="0"/>
                    <a:pt x="1086104" y="83820"/>
                    <a:pt x="1086104" y="187198"/>
                  </a:cubicBezTo>
                  <a:lnTo>
                    <a:pt x="1086104" y="898906"/>
                  </a:lnTo>
                  <a:cubicBezTo>
                    <a:pt x="1086104" y="1002284"/>
                    <a:pt x="1002284" y="1086104"/>
                    <a:pt x="898906" y="1086104"/>
                  </a:cubicBezTo>
                  <a:lnTo>
                    <a:pt x="187198" y="1086104"/>
                  </a:lnTo>
                  <a:cubicBezTo>
                    <a:pt x="83820" y="1086104"/>
                    <a:pt x="0" y="1002284"/>
                    <a:pt x="0" y="898906"/>
                  </a:cubicBezTo>
                  <a:close/>
                </a:path>
              </a:pathLst>
            </a:custGeom>
            <a:solidFill>
              <a:srgbClr val="E9FBF7"/>
            </a:solidFill>
            <a:ln w="19050" cap="sq">
              <a:solidFill>
                <a:srgbClr val="E9FBF7"/>
              </a:solidFill>
              <a:prstDash val="solid"/>
              <a:miter/>
            </a:ln>
          </p:spPr>
        </p:sp>
      </p:grpSp>
      <p:sp>
        <p:nvSpPr>
          <p:cNvPr name="Freeform 43" id="43" descr="/opt/nvm/versions/node/v22.16.0/lib/node_modules/@fortawesome/fontawesome-free/svgs/solid/users.svg"/>
          <p:cNvSpPr/>
          <p:nvPr/>
        </p:nvSpPr>
        <p:spPr>
          <a:xfrm flipH="false" flipV="false" rot="0">
            <a:off x="7296912" y="5404104"/>
            <a:ext cx="411480" cy="329184"/>
          </a:xfrm>
          <a:custGeom>
            <a:avLst/>
            <a:gdLst/>
            <a:ahLst/>
            <a:cxnLst/>
            <a:rect r="r" b="b" t="t" l="l"/>
            <a:pathLst>
              <a:path h="329184" w="411480">
                <a:moveTo>
                  <a:pt x="0" y="0"/>
                </a:moveTo>
                <a:lnTo>
                  <a:pt x="411480" y="0"/>
                </a:lnTo>
                <a:lnTo>
                  <a:pt x="411480" y="329184"/>
                </a:lnTo>
                <a:lnTo>
                  <a:pt x="0" y="3291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84" t="0" r="-287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8133588" y="5397246"/>
            <a:ext cx="3456432" cy="342900"/>
            <a:chOff x="0" y="0"/>
            <a:chExt cx="4608576" cy="457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608576" cy="457200"/>
            </a:xfrm>
            <a:custGeom>
              <a:avLst/>
              <a:gdLst/>
              <a:ahLst/>
              <a:cxnLst/>
              <a:rect r="r" b="b" t="t" l="l"/>
              <a:pathLst>
                <a:path h="457200" w="4608576">
                  <a:moveTo>
                    <a:pt x="0" y="0"/>
                  </a:moveTo>
                  <a:lnTo>
                    <a:pt x="4608576" y="0"/>
                  </a:lnTo>
                  <a:lnTo>
                    <a:pt x="460857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409" r="0" b="-14640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4608576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Realistic practice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133588" y="5733288"/>
            <a:ext cx="3387852" cy="1673352"/>
            <a:chOff x="0" y="0"/>
            <a:chExt cx="4517136" cy="223113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517136" cy="2231136"/>
            </a:xfrm>
            <a:custGeom>
              <a:avLst/>
              <a:gdLst/>
              <a:ahLst/>
              <a:cxnLst/>
              <a:rect r="r" b="b" t="t" l="l"/>
              <a:pathLst>
                <a:path h="2231136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2231136"/>
                  </a:lnTo>
                  <a:lnTo>
                    <a:pt x="0" y="22311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72" t="0" r="-13372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4517136" cy="22311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Adaptive interviews plus voice and visual coaching simulate real pressure.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472035" y="4859655"/>
            <a:ext cx="5121402" cy="2762250"/>
            <a:chOff x="0" y="0"/>
            <a:chExt cx="6828536" cy="36830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828536" cy="3683000"/>
            </a:xfrm>
            <a:custGeom>
              <a:avLst/>
              <a:gdLst/>
              <a:ahLst/>
              <a:cxnLst/>
              <a:rect r="r" b="b" t="t" l="l"/>
              <a:pathLst>
                <a:path h="3683000" w="6828536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681216" y="0"/>
                  </a:lnTo>
                  <a:cubicBezTo>
                    <a:pt x="6762623" y="0"/>
                    <a:pt x="6828536" y="65913"/>
                    <a:pt x="6828536" y="147320"/>
                  </a:cubicBezTo>
                  <a:lnTo>
                    <a:pt x="6828536" y="3535680"/>
                  </a:lnTo>
                  <a:cubicBezTo>
                    <a:pt x="6828536" y="3617087"/>
                    <a:pt x="6762623" y="3683000"/>
                    <a:pt x="6681216" y="3683000"/>
                  </a:cubicBezTo>
                  <a:lnTo>
                    <a:pt x="147320" y="3683000"/>
                  </a:lnTo>
                  <a:cubicBezTo>
                    <a:pt x="65913" y="3683000"/>
                    <a:pt x="0" y="3617087"/>
                    <a:pt x="0" y="353568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2787503" y="5175123"/>
            <a:ext cx="814578" cy="814578"/>
            <a:chOff x="0" y="0"/>
            <a:chExt cx="1086104" cy="108610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187198"/>
                  </a:moveTo>
                  <a:cubicBezTo>
                    <a:pt x="0" y="83820"/>
                    <a:pt x="83820" y="0"/>
                    <a:pt x="187198" y="0"/>
                  </a:cubicBezTo>
                  <a:lnTo>
                    <a:pt x="898906" y="0"/>
                  </a:lnTo>
                  <a:cubicBezTo>
                    <a:pt x="1002284" y="0"/>
                    <a:pt x="1086104" y="83820"/>
                    <a:pt x="1086104" y="187198"/>
                  </a:cubicBezTo>
                  <a:lnTo>
                    <a:pt x="1086104" y="898906"/>
                  </a:lnTo>
                  <a:cubicBezTo>
                    <a:pt x="1086104" y="1002284"/>
                    <a:pt x="1002284" y="1086104"/>
                    <a:pt x="898906" y="1086104"/>
                  </a:cubicBezTo>
                  <a:lnTo>
                    <a:pt x="187198" y="1086104"/>
                  </a:lnTo>
                  <a:cubicBezTo>
                    <a:pt x="83820" y="1086104"/>
                    <a:pt x="0" y="1002284"/>
                    <a:pt x="0" y="898906"/>
                  </a:cubicBezTo>
                  <a:close/>
                </a:path>
              </a:pathLst>
            </a:custGeom>
            <a:solidFill>
              <a:srgbClr val="FFF0E9"/>
            </a:solidFill>
            <a:ln w="19050" cap="sq">
              <a:solidFill>
                <a:srgbClr val="FFF0E9"/>
              </a:solidFill>
              <a:prstDash val="solid"/>
              <a:miter/>
            </a:ln>
          </p:spPr>
        </p:sp>
      </p:grpSp>
      <p:sp>
        <p:nvSpPr>
          <p:cNvPr name="Freeform 54" id="54" descr="/opt/nvm/versions/node/v22.16.0/lib/node_modules/@fortawesome/fontawesome-free/svgs/solid/trophy.svg"/>
          <p:cNvSpPr/>
          <p:nvPr/>
        </p:nvSpPr>
        <p:spPr>
          <a:xfrm flipH="false" flipV="false" rot="0">
            <a:off x="12989052" y="5385816"/>
            <a:ext cx="411480" cy="365760"/>
          </a:xfrm>
          <a:custGeom>
            <a:avLst/>
            <a:gdLst/>
            <a:ahLst/>
            <a:cxnLst/>
            <a:rect r="r" b="b" t="t" l="l"/>
            <a:pathLst>
              <a:path h="365760" w="411480">
                <a:moveTo>
                  <a:pt x="0" y="0"/>
                </a:moveTo>
                <a:lnTo>
                  <a:pt x="411480" y="0"/>
                </a:lnTo>
                <a:lnTo>
                  <a:pt x="411480" y="365760"/>
                </a:lnTo>
                <a:lnTo>
                  <a:pt x="0" y="3657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43" t="0" r="-141" b="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13825728" y="5397246"/>
            <a:ext cx="3456432" cy="342900"/>
            <a:chOff x="0" y="0"/>
            <a:chExt cx="4608576" cy="4572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608576" cy="457200"/>
            </a:xfrm>
            <a:custGeom>
              <a:avLst/>
              <a:gdLst/>
              <a:ahLst/>
              <a:cxnLst/>
              <a:rect r="r" b="b" t="t" l="l"/>
              <a:pathLst>
                <a:path h="457200" w="4608576">
                  <a:moveTo>
                    <a:pt x="0" y="0"/>
                  </a:moveTo>
                  <a:lnTo>
                    <a:pt x="4608576" y="0"/>
                  </a:lnTo>
                  <a:lnTo>
                    <a:pt x="460857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409" r="0" b="-146409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4608576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Actionable improvement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825728" y="5733288"/>
            <a:ext cx="3387852" cy="1673352"/>
            <a:chOff x="0" y="0"/>
            <a:chExt cx="4517136" cy="223113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517136" cy="2231136"/>
            </a:xfrm>
            <a:custGeom>
              <a:avLst/>
              <a:gdLst/>
              <a:ahLst/>
              <a:cxnLst/>
              <a:rect r="r" b="b" t="t" l="l"/>
              <a:pathLst>
                <a:path h="2231136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2231136"/>
                  </a:lnTo>
                  <a:lnTo>
                    <a:pt x="0" y="22311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72" t="0" r="-13372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4517136" cy="22311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ATS gaps, CV optimization, reports, and challenges turn feedback into the next action.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69926"/>
            <a:chOff x="0" y="0"/>
            <a:chExt cx="24408790" cy="2265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26568"/>
            </a:xfrm>
            <a:custGeom>
              <a:avLst/>
              <a:gdLst/>
              <a:ahLst/>
              <a:cxnLst/>
              <a:rect r="r" b="b" t="t" l="l"/>
              <a:pathLst>
                <a:path h="22656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26568"/>
                  </a:lnTo>
                  <a:lnTo>
                    <a:pt x="0" y="226568"/>
                  </a:lnTo>
                  <a:close/>
                </a:path>
              </a:pathLst>
            </a:custGeom>
            <a:solidFill>
              <a:srgbClr val="FF7A45"/>
            </a:solidFill>
            <a:ln w="19050" cap="sq">
              <a:solidFill>
                <a:srgbClr val="FF7A4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141351"/>
            <a:ext cx="18306593" cy="73914"/>
            <a:chOff x="0" y="0"/>
            <a:chExt cx="24408790" cy="985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98552"/>
            </a:xfrm>
            <a:custGeom>
              <a:avLst/>
              <a:gdLst/>
              <a:ahLst/>
              <a:cxnLst/>
              <a:rect r="r" b="b" t="t" l="l"/>
              <a:pathLst>
                <a:path h="98552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98552"/>
                  </a:lnTo>
                  <a:lnTo>
                    <a:pt x="0" y="98552"/>
                  </a:lnTo>
                  <a:close/>
                </a:path>
              </a:pathLst>
            </a:custGeom>
            <a:solidFill>
              <a:srgbClr val="2DD4BF"/>
            </a:solidFill>
            <a:ln w="19050" cap="sq">
              <a:solidFill>
                <a:srgbClr val="2DD4B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32688" y="576072"/>
            <a:ext cx="12070080" cy="576072"/>
            <a:chOff x="0" y="0"/>
            <a:chExt cx="16093440" cy="7680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93439" cy="768096"/>
            </a:xfrm>
            <a:custGeom>
              <a:avLst/>
              <a:gdLst/>
              <a:ahLst/>
              <a:cxnLst/>
              <a:rect r="r" b="b" t="t" l="l"/>
              <a:pathLst>
                <a:path h="768096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257" r="0" b="-35825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609344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Key Features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0120" y="1234440"/>
            <a:ext cx="14813280" cy="411480"/>
            <a:chOff x="0" y="0"/>
            <a:chExt cx="1975104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751039" cy="548640"/>
            </a:xfrm>
            <a:custGeom>
              <a:avLst/>
              <a:gdLst/>
              <a:ahLst/>
              <a:cxnLst/>
              <a:rect r="r" b="b" t="t" l="l"/>
              <a:pathLst>
                <a:path h="54864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97510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What the application actually does today.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664940" y="644652"/>
            <a:ext cx="685800" cy="384048"/>
            <a:chOff x="0" y="0"/>
            <a:chExt cx="9144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914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06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2400">
            <a:off x="926973" y="9761030"/>
            <a:ext cx="16402050" cy="0"/>
          </a:xfrm>
          <a:prstGeom prst="line">
            <a:avLst/>
          </a:prstGeom>
          <a:ln cap="rnd" w="9525">
            <a:solidFill>
              <a:srgbClr val="D9DE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60120" y="9848088"/>
            <a:ext cx="5623560" cy="192024"/>
            <a:chOff x="0" y="0"/>
            <a:chExt cx="7498080" cy="2560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98080" cy="256032"/>
            </a:xfrm>
            <a:custGeom>
              <a:avLst/>
              <a:gdLst/>
              <a:ahLst/>
              <a:cxnLst/>
              <a:rect r="r" b="b" t="t" l="l"/>
              <a:pathLst>
                <a:path h="256032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49808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9AA3B8"/>
                  </a:solidFill>
                  <a:latin typeface="Aptos"/>
                  <a:ea typeface="Aptos"/>
                  <a:cs typeface="Aptos"/>
                  <a:sym typeface="Aptos"/>
                </a:rPr>
                <a:t>CAREER PILOT  •  ITI Intake 46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253460" y="9848088"/>
            <a:ext cx="1028700" cy="192024"/>
            <a:chOff x="0" y="0"/>
            <a:chExt cx="1371600" cy="2560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71600" cy="256032"/>
            </a:xfrm>
            <a:custGeom>
              <a:avLst/>
              <a:gdLst/>
              <a:ahLst/>
              <a:cxnLst/>
              <a:rect r="r" b="b" t="t" l="l"/>
              <a:pathLst>
                <a:path h="25603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37160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>
                  <a:solidFill>
                    <a:srgbClr val="9AA3B8"/>
                  </a:solidFill>
                  <a:latin typeface="Aptos"/>
                  <a:ea typeface="Aptos"/>
                  <a:cs typeface="Aptos"/>
                  <a:sym typeface="Aptos"/>
                </a:rPr>
                <a:t>6 / 17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19175" y="1979295"/>
            <a:ext cx="7905750" cy="1966722"/>
            <a:chOff x="0" y="0"/>
            <a:chExt cx="10541000" cy="26222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41000" cy="2622296"/>
            </a:xfrm>
            <a:custGeom>
              <a:avLst/>
              <a:gdLst/>
              <a:ahLst/>
              <a:cxnLst/>
              <a:rect r="r" b="b" t="t" l="l"/>
              <a:pathLst>
                <a:path h="2622296" w="105410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10393299" y="0"/>
                  </a:lnTo>
                  <a:cubicBezTo>
                    <a:pt x="10474833" y="0"/>
                    <a:pt x="10541000" y="66167"/>
                    <a:pt x="10541000" y="147701"/>
                  </a:cubicBezTo>
                  <a:lnTo>
                    <a:pt x="10541000" y="2474595"/>
                  </a:lnTo>
                  <a:cubicBezTo>
                    <a:pt x="10541000" y="2556129"/>
                    <a:pt x="10474833" y="2622296"/>
                    <a:pt x="10393299" y="2622296"/>
                  </a:cubicBezTo>
                  <a:lnTo>
                    <a:pt x="147701" y="2622296"/>
                  </a:lnTo>
                  <a:cubicBezTo>
                    <a:pt x="66167" y="2622296"/>
                    <a:pt x="0" y="2556129"/>
                    <a:pt x="0" y="247459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34643" y="2294763"/>
            <a:ext cx="814578" cy="814578"/>
            <a:chOff x="0" y="0"/>
            <a:chExt cx="1086104" cy="10861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187198"/>
                  </a:moveTo>
                  <a:cubicBezTo>
                    <a:pt x="0" y="83820"/>
                    <a:pt x="83820" y="0"/>
                    <a:pt x="187198" y="0"/>
                  </a:cubicBezTo>
                  <a:lnTo>
                    <a:pt x="898906" y="0"/>
                  </a:lnTo>
                  <a:cubicBezTo>
                    <a:pt x="1002284" y="0"/>
                    <a:pt x="1086104" y="83820"/>
                    <a:pt x="1086104" y="187198"/>
                  </a:cubicBezTo>
                  <a:lnTo>
                    <a:pt x="1086104" y="898906"/>
                  </a:lnTo>
                  <a:cubicBezTo>
                    <a:pt x="1086104" y="1002284"/>
                    <a:pt x="1002284" y="1086104"/>
                    <a:pt x="898906" y="1086104"/>
                  </a:cubicBezTo>
                  <a:lnTo>
                    <a:pt x="187198" y="1086104"/>
                  </a:lnTo>
                  <a:cubicBezTo>
                    <a:pt x="83820" y="1086104"/>
                    <a:pt x="0" y="1002284"/>
                    <a:pt x="0" y="898906"/>
                  </a:cubicBezTo>
                  <a:close/>
                </a:path>
              </a:pathLst>
            </a:custGeom>
            <a:solidFill>
              <a:srgbClr val="FFF0E9"/>
            </a:solidFill>
            <a:ln w="19050" cap="sq">
              <a:solidFill>
                <a:srgbClr val="FFF0E9"/>
              </a:solidFill>
              <a:prstDash val="solid"/>
              <a:miter/>
            </a:ln>
          </p:spPr>
        </p:sp>
      </p:grpSp>
      <p:sp>
        <p:nvSpPr>
          <p:cNvPr name="Freeform 26" id="26" descr="/opt/nvm/versions/node/v22.16.0/lib/node_modules/@fortawesome/fontawesome-free/svgs/solid/database.svg"/>
          <p:cNvSpPr/>
          <p:nvPr/>
        </p:nvSpPr>
        <p:spPr>
          <a:xfrm flipH="false" flipV="false" rot="0">
            <a:off x="1561909" y="2482596"/>
            <a:ext cx="360045" cy="411480"/>
          </a:xfrm>
          <a:custGeom>
            <a:avLst/>
            <a:gdLst/>
            <a:ahLst/>
            <a:cxnLst/>
            <a:rect r="r" b="b" t="t" l="l"/>
            <a:pathLst>
              <a:path h="411480" w="360045">
                <a:moveTo>
                  <a:pt x="0" y="0"/>
                </a:moveTo>
                <a:lnTo>
                  <a:pt x="360045" y="0"/>
                </a:lnTo>
                <a:lnTo>
                  <a:pt x="360045" y="411480"/>
                </a:lnTo>
                <a:lnTo>
                  <a:pt x="0" y="4114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657" r="0" b="-657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2372868" y="2516886"/>
            <a:ext cx="6240780" cy="342900"/>
            <a:chOff x="0" y="0"/>
            <a:chExt cx="8321040" cy="457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321040" cy="457200"/>
            </a:xfrm>
            <a:custGeom>
              <a:avLst/>
              <a:gdLst/>
              <a:ahLst/>
              <a:cxnLst/>
              <a:rect r="r" b="b" t="t" l="l"/>
              <a:pathLst>
                <a:path h="45720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627" r="0" b="-30462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832104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CV Knowledge Hub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372868" y="2852928"/>
            <a:ext cx="6172200" cy="877824"/>
            <a:chOff x="0" y="0"/>
            <a:chExt cx="8229600" cy="11704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2296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04" r="0" b="-8700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8229600" cy="1170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Upload, analyze, and reuse the active CV across career workflows.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344787" y="1979295"/>
            <a:ext cx="7905750" cy="1966722"/>
            <a:chOff x="0" y="0"/>
            <a:chExt cx="10541000" cy="26222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541000" cy="2622296"/>
            </a:xfrm>
            <a:custGeom>
              <a:avLst/>
              <a:gdLst/>
              <a:ahLst/>
              <a:cxnLst/>
              <a:rect r="r" b="b" t="t" l="l"/>
              <a:pathLst>
                <a:path h="2622296" w="105410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10393299" y="0"/>
                  </a:lnTo>
                  <a:cubicBezTo>
                    <a:pt x="10474833" y="0"/>
                    <a:pt x="10541000" y="66167"/>
                    <a:pt x="10541000" y="147701"/>
                  </a:cubicBezTo>
                  <a:lnTo>
                    <a:pt x="10541000" y="2474595"/>
                  </a:lnTo>
                  <a:cubicBezTo>
                    <a:pt x="10541000" y="2556129"/>
                    <a:pt x="10474833" y="2622296"/>
                    <a:pt x="10393299" y="2622296"/>
                  </a:cubicBezTo>
                  <a:lnTo>
                    <a:pt x="147701" y="2622296"/>
                  </a:lnTo>
                  <a:cubicBezTo>
                    <a:pt x="66167" y="2622296"/>
                    <a:pt x="0" y="2556129"/>
                    <a:pt x="0" y="247459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660255" y="2294763"/>
            <a:ext cx="814578" cy="814578"/>
            <a:chOff x="0" y="0"/>
            <a:chExt cx="1086104" cy="108610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187198"/>
                  </a:moveTo>
                  <a:cubicBezTo>
                    <a:pt x="0" y="83820"/>
                    <a:pt x="83820" y="0"/>
                    <a:pt x="187198" y="0"/>
                  </a:cubicBezTo>
                  <a:lnTo>
                    <a:pt x="898906" y="0"/>
                  </a:lnTo>
                  <a:cubicBezTo>
                    <a:pt x="1002284" y="0"/>
                    <a:pt x="1086104" y="83820"/>
                    <a:pt x="1086104" y="187198"/>
                  </a:cubicBezTo>
                  <a:lnTo>
                    <a:pt x="1086104" y="898906"/>
                  </a:lnTo>
                  <a:cubicBezTo>
                    <a:pt x="1086104" y="1002284"/>
                    <a:pt x="1002284" y="1086104"/>
                    <a:pt x="898906" y="1086104"/>
                  </a:cubicBezTo>
                  <a:lnTo>
                    <a:pt x="187198" y="1086104"/>
                  </a:lnTo>
                  <a:cubicBezTo>
                    <a:pt x="83820" y="1086104"/>
                    <a:pt x="0" y="1002284"/>
                    <a:pt x="0" y="898906"/>
                  </a:cubicBezTo>
                  <a:close/>
                </a:path>
              </a:pathLst>
            </a:custGeom>
            <a:solidFill>
              <a:srgbClr val="E9FBF7"/>
            </a:solidFill>
            <a:ln w="19050" cap="sq">
              <a:solidFill>
                <a:srgbClr val="E9FBF7"/>
              </a:solidFill>
              <a:prstDash val="solid"/>
              <a:miter/>
            </a:ln>
          </p:spPr>
        </p:sp>
      </p:grpSp>
      <p:sp>
        <p:nvSpPr>
          <p:cNvPr name="Freeform 37" id="37" descr="/opt/nvm/versions/node/v22.16.0/lib/node_modules/@fortawesome/fontawesome-free/svgs/solid/users.svg"/>
          <p:cNvSpPr/>
          <p:nvPr/>
        </p:nvSpPr>
        <p:spPr>
          <a:xfrm flipH="false" flipV="false" rot="0">
            <a:off x="9861804" y="2523744"/>
            <a:ext cx="411480" cy="329184"/>
          </a:xfrm>
          <a:custGeom>
            <a:avLst/>
            <a:gdLst/>
            <a:ahLst/>
            <a:cxnLst/>
            <a:rect r="r" b="b" t="t" l="l"/>
            <a:pathLst>
              <a:path h="329184" w="411480">
                <a:moveTo>
                  <a:pt x="0" y="0"/>
                </a:moveTo>
                <a:lnTo>
                  <a:pt x="411480" y="0"/>
                </a:lnTo>
                <a:lnTo>
                  <a:pt x="411480" y="329184"/>
                </a:lnTo>
                <a:lnTo>
                  <a:pt x="0" y="3291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84" t="0" r="-287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0698480" y="2516886"/>
            <a:ext cx="6240780" cy="342900"/>
            <a:chOff x="0" y="0"/>
            <a:chExt cx="8321040" cy="457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321040" cy="457200"/>
            </a:xfrm>
            <a:custGeom>
              <a:avLst/>
              <a:gdLst/>
              <a:ahLst/>
              <a:cxnLst/>
              <a:rect r="r" b="b" t="t" l="l"/>
              <a:pathLst>
                <a:path h="45720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627" r="0" b="-30462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832104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Adaptive Mock Interviews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698480" y="2852928"/>
            <a:ext cx="6172200" cy="877824"/>
            <a:chOff x="0" y="0"/>
            <a:chExt cx="8229600" cy="117043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2296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04" r="0" b="-8700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8229600" cy="1170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Voice and video practice with contextual AI evaluation.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19175" y="4379595"/>
            <a:ext cx="7905750" cy="1966722"/>
            <a:chOff x="0" y="0"/>
            <a:chExt cx="10541000" cy="26222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541000" cy="2622296"/>
            </a:xfrm>
            <a:custGeom>
              <a:avLst/>
              <a:gdLst/>
              <a:ahLst/>
              <a:cxnLst/>
              <a:rect r="r" b="b" t="t" l="l"/>
              <a:pathLst>
                <a:path h="2622296" w="105410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10393299" y="0"/>
                  </a:lnTo>
                  <a:cubicBezTo>
                    <a:pt x="10474833" y="0"/>
                    <a:pt x="10541000" y="66167"/>
                    <a:pt x="10541000" y="147701"/>
                  </a:cubicBezTo>
                  <a:lnTo>
                    <a:pt x="10541000" y="2474595"/>
                  </a:lnTo>
                  <a:cubicBezTo>
                    <a:pt x="10541000" y="2556129"/>
                    <a:pt x="10474833" y="2622296"/>
                    <a:pt x="10393299" y="2622296"/>
                  </a:cubicBezTo>
                  <a:lnTo>
                    <a:pt x="147701" y="2622296"/>
                  </a:lnTo>
                  <a:cubicBezTo>
                    <a:pt x="66167" y="2622296"/>
                    <a:pt x="0" y="2556129"/>
                    <a:pt x="0" y="247459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334643" y="4695063"/>
            <a:ext cx="814578" cy="814578"/>
            <a:chOff x="0" y="0"/>
            <a:chExt cx="1086104" cy="108610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187198"/>
                  </a:moveTo>
                  <a:cubicBezTo>
                    <a:pt x="0" y="83820"/>
                    <a:pt x="83820" y="0"/>
                    <a:pt x="187198" y="0"/>
                  </a:cubicBezTo>
                  <a:lnTo>
                    <a:pt x="898906" y="0"/>
                  </a:lnTo>
                  <a:cubicBezTo>
                    <a:pt x="1002284" y="0"/>
                    <a:pt x="1086104" y="83820"/>
                    <a:pt x="1086104" y="187198"/>
                  </a:cubicBezTo>
                  <a:lnTo>
                    <a:pt x="1086104" y="898906"/>
                  </a:lnTo>
                  <a:cubicBezTo>
                    <a:pt x="1086104" y="1002284"/>
                    <a:pt x="1002284" y="1086104"/>
                    <a:pt x="898906" y="1086104"/>
                  </a:cubicBezTo>
                  <a:lnTo>
                    <a:pt x="187198" y="1086104"/>
                  </a:lnTo>
                  <a:cubicBezTo>
                    <a:pt x="83820" y="1086104"/>
                    <a:pt x="0" y="1002284"/>
                    <a:pt x="0" y="898906"/>
                  </a:cubicBezTo>
                  <a:close/>
                </a:path>
              </a:pathLst>
            </a:custGeom>
            <a:solidFill>
              <a:srgbClr val="FFF0E9"/>
            </a:solidFill>
            <a:ln w="19050" cap="sq">
              <a:solidFill>
                <a:srgbClr val="FFF0E9"/>
              </a:solidFill>
              <a:prstDash val="solid"/>
              <a:miter/>
            </a:ln>
          </p:spPr>
        </p:sp>
      </p:grpSp>
      <p:sp>
        <p:nvSpPr>
          <p:cNvPr name="Freeform 48" id="48" descr="/opt/nvm/versions/node/v22.16.0/lib/node_modules/@fortawesome/fontawesome-free/svgs/solid/brain.svg"/>
          <p:cNvSpPr/>
          <p:nvPr/>
        </p:nvSpPr>
        <p:spPr>
          <a:xfrm flipH="false" flipV="false" rot="0">
            <a:off x="1536192" y="4882896"/>
            <a:ext cx="411480" cy="411480"/>
          </a:xfrm>
          <a:custGeom>
            <a:avLst/>
            <a:gdLst/>
            <a:ahLst/>
            <a:cxnLst/>
            <a:rect r="r" b="b" t="t" l="l"/>
            <a:pathLst>
              <a:path h="411480" w="411480">
                <a:moveTo>
                  <a:pt x="0" y="0"/>
                </a:moveTo>
                <a:lnTo>
                  <a:pt x="411480" y="0"/>
                </a:lnTo>
                <a:lnTo>
                  <a:pt x="411480" y="411480"/>
                </a:lnTo>
                <a:lnTo>
                  <a:pt x="0" y="4114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2372868" y="4917186"/>
            <a:ext cx="6240780" cy="342900"/>
            <a:chOff x="0" y="0"/>
            <a:chExt cx="8321040" cy="457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321040" cy="457200"/>
            </a:xfrm>
            <a:custGeom>
              <a:avLst/>
              <a:gdLst/>
              <a:ahLst/>
              <a:cxnLst/>
              <a:rect r="r" b="b" t="t" l="l"/>
              <a:pathLst>
                <a:path h="45720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627" r="0" b="-30462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832104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ATS &amp; CV Optimization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372868" y="5253228"/>
            <a:ext cx="6172200" cy="877824"/>
            <a:chOff x="0" y="0"/>
            <a:chExt cx="8229600" cy="117043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2296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04" r="0" b="-8700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8229600" cy="1170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Match a job, identify gaps, optimize sections, and generate cover letters.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344787" y="4379595"/>
            <a:ext cx="7905750" cy="1966722"/>
            <a:chOff x="0" y="0"/>
            <a:chExt cx="10541000" cy="262229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541000" cy="2622296"/>
            </a:xfrm>
            <a:custGeom>
              <a:avLst/>
              <a:gdLst/>
              <a:ahLst/>
              <a:cxnLst/>
              <a:rect r="r" b="b" t="t" l="l"/>
              <a:pathLst>
                <a:path h="2622296" w="105410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10393299" y="0"/>
                  </a:lnTo>
                  <a:cubicBezTo>
                    <a:pt x="10474833" y="0"/>
                    <a:pt x="10541000" y="66167"/>
                    <a:pt x="10541000" y="147701"/>
                  </a:cubicBezTo>
                  <a:lnTo>
                    <a:pt x="10541000" y="2474595"/>
                  </a:lnTo>
                  <a:cubicBezTo>
                    <a:pt x="10541000" y="2556129"/>
                    <a:pt x="10474833" y="2622296"/>
                    <a:pt x="10393299" y="2622296"/>
                  </a:cubicBezTo>
                  <a:lnTo>
                    <a:pt x="147701" y="2622296"/>
                  </a:lnTo>
                  <a:cubicBezTo>
                    <a:pt x="66167" y="2622296"/>
                    <a:pt x="0" y="2556129"/>
                    <a:pt x="0" y="247459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9660255" y="4695063"/>
            <a:ext cx="814578" cy="814578"/>
            <a:chOff x="0" y="0"/>
            <a:chExt cx="1086104" cy="108610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187198"/>
                  </a:moveTo>
                  <a:cubicBezTo>
                    <a:pt x="0" y="83820"/>
                    <a:pt x="83820" y="0"/>
                    <a:pt x="187198" y="0"/>
                  </a:cubicBezTo>
                  <a:lnTo>
                    <a:pt x="898906" y="0"/>
                  </a:lnTo>
                  <a:cubicBezTo>
                    <a:pt x="1002284" y="0"/>
                    <a:pt x="1086104" y="83820"/>
                    <a:pt x="1086104" y="187198"/>
                  </a:cubicBezTo>
                  <a:lnTo>
                    <a:pt x="1086104" y="898906"/>
                  </a:lnTo>
                  <a:cubicBezTo>
                    <a:pt x="1086104" y="1002284"/>
                    <a:pt x="1002284" y="1086104"/>
                    <a:pt x="898906" y="1086104"/>
                  </a:cubicBezTo>
                  <a:lnTo>
                    <a:pt x="187198" y="1086104"/>
                  </a:lnTo>
                  <a:cubicBezTo>
                    <a:pt x="83820" y="1086104"/>
                    <a:pt x="0" y="1002284"/>
                    <a:pt x="0" y="898906"/>
                  </a:cubicBezTo>
                  <a:close/>
                </a:path>
              </a:pathLst>
            </a:custGeom>
            <a:solidFill>
              <a:srgbClr val="E9FBF7"/>
            </a:solidFill>
            <a:ln w="19050" cap="sq">
              <a:solidFill>
                <a:srgbClr val="E9FBF7"/>
              </a:solidFill>
              <a:prstDash val="solid"/>
              <a:miter/>
            </a:ln>
          </p:spPr>
        </p:sp>
      </p:grpSp>
      <p:sp>
        <p:nvSpPr>
          <p:cNvPr name="Freeform 59" id="59" descr="/opt/nvm/versions/node/v22.16.0/lib/node_modules/@fortawesome/fontawesome-free/svgs/solid/cloud.svg"/>
          <p:cNvSpPr/>
          <p:nvPr/>
        </p:nvSpPr>
        <p:spPr>
          <a:xfrm flipH="false" flipV="false" rot="0">
            <a:off x="9861804" y="4924044"/>
            <a:ext cx="411480" cy="329184"/>
          </a:xfrm>
          <a:custGeom>
            <a:avLst/>
            <a:gdLst/>
            <a:ahLst/>
            <a:cxnLst/>
            <a:rect r="r" b="b" t="t" l="l"/>
            <a:pathLst>
              <a:path h="329184" w="411480">
                <a:moveTo>
                  <a:pt x="0" y="0"/>
                </a:moveTo>
                <a:lnTo>
                  <a:pt x="411480" y="0"/>
                </a:lnTo>
                <a:lnTo>
                  <a:pt x="411480" y="329184"/>
                </a:lnTo>
                <a:lnTo>
                  <a:pt x="0" y="3291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84" t="0" r="-287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10698480" y="4917186"/>
            <a:ext cx="6240780" cy="342900"/>
            <a:chOff x="0" y="0"/>
            <a:chExt cx="8321040" cy="4572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321040" cy="457200"/>
            </a:xfrm>
            <a:custGeom>
              <a:avLst/>
              <a:gdLst/>
              <a:ahLst/>
              <a:cxnLst/>
              <a:rect r="r" b="b" t="t" l="l"/>
              <a:pathLst>
                <a:path h="45720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627" r="0" b="-304627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832104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Performance Reports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698480" y="5253228"/>
            <a:ext cx="6172200" cy="877824"/>
            <a:chOff x="0" y="0"/>
            <a:chExt cx="8229600" cy="117043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2296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04" r="0" b="-87004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8229600" cy="1170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Score breakdowns, history, coaching tips, and advanced insights.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19175" y="6779895"/>
            <a:ext cx="7905750" cy="1966722"/>
            <a:chOff x="0" y="0"/>
            <a:chExt cx="10541000" cy="262229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541000" cy="2622296"/>
            </a:xfrm>
            <a:custGeom>
              <a:avLst/>
              <a:gdLst/>
              <a:ahLst/>
              <a:cxnLst/>
              <a:rect r="r" b="b" t="t" l="l"/>
              <a:pathLst>
                <a:path h="2622296" w="105410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10393299" y="0"/>
                  </a:lnTo>
                  <a:cubicBezTo>
                    <a:pt x="10474833" y="0"/>
                    <a:pt x="10541000" y="66167"/>
                    <a:pt x="10541000" y="147701"/>
                  </a:cubicBezTo>
                  <a:lnTo>
                    <a:pt x="10541000" y="2474595"/>
                  </a:lnTo>
                  <a:cubicBezTo>
                    <a:pt x="10541000" y="2556129"/>
                    <a:pt x="10474833" y="2622296"/>
                    <a:pt x="10393299" y="2622296"/>
                  </a:cubicBezTo>
                  <a:lnTo>
                    <a:pt x="147701" y="2622296"/>
                  </a:lnTo>
                  <a:cubicBezTo>
                    <a:pt x="66167" y="2622296"/>
                    <a:pt x="0" y="2556129"/>
                    <a:pt x="0" y="247459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334643" y="7095363"/>
            <a:ext cx="814578" cy="814578"/>
            <a:chOff x="0" y="0"/>
            <a:chExt cx="1086104" cy="108610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187198"/>
                  </a:moveTo>
                  <a:cubicBezTo>
                    <a:pt x="0" y="83820"/>
                    <a:pt x="83820" y="0"/>
                    <a:pt x="187198" y="0"/>
                  </a:cubicBezTo>
                  <a:lnTo>
                    <a:pt x="898906" y="0"/>
                  </a:lnTo>
                  <a:cubicBezTo>
                    <a:pt x="1002284" y="0"/>
                    <a:pt x="1086104" y="83820"/>
                    <a:pt x="1086104" y="187198"/>
                  </a:cubicBezTo>
                  <a:lnTo>
                    <a:pt x="1086104" y="898906"/>
                  </a:lnTo>
                  <a:cubicBezTo>
                    <a:pt x="1086104" y="1002284"/>
                    <a:pt x="1002284" y="1086104"/>
                    <a:pt x="898906" y="1086104"/>
                  </a:cubicBezTo>
                  <a:lnTo>
                    <a:pt x="187198" y="1086104"/>
                  </a:lnTo>
                  <a:cubicBezTo>
                    <a:pt x="83820" y="1086104"/>
                    <a:pt x="0" y="1002284"/>
                    <a:pt x="0" y="898906"/>
                  </a:cubicBezTo>
                  <a:close/>
                </a:path>
              </a:pathLst>
            </a:custGeom>
            <a:solidFill>
              <a:srgbClr val="FFF0E9"/>
            </a:solidFill>
            <a:ln w="19050" cap="sq">
              <a:solidFill>
                <a:srgbClr val="FFF0E9"/>
              </a:solidFill>
              <a:prstDash val="solid"/>
              <a:miter/>
            </a:ln>
          </p:spPr>
        </p:sp>
      </p:grpSp>
      <p:sp>
        <p:nvSpPr>
          <p:cNvPr name="Freeform 70" id="70" descr="/opt/nvm/versions/node/v22.16.0/lib/node_modules/@fortawesome/fontawesome-free/svgs/solid/trophy.svg"/>
          <p:cNvSpPr/>
          <p:nvPr/>
        </p:nvSpPr>
        <p:spPr>
          <a:xfrm flipH="false" flipV="false" rot="0">
            <a:off x="1536192" y="7306056"/>
            <a:ext cx="411480" cy="365760"/>
          </a:xfrm>
          <a:custGeom>
            <a:avLst/>
            <a:gdLst/>
            <a:ahLst/>
            <a:cxnLst/>
            <a:rect r="r" b="b" t="t" l="l"/>
            <a:pathLst>
              <a:path h="365760" w="411480">
                <a:moveTo>
                  <a:pt x="0" y="0"/>
                </a:moveTo>
                <a:lnTo>
                  <a:pt x="411480" y="0"/>
                </a:lnTo>
                <a:lnTo>
                  <a:pt x="411480" y="365760"/>
                </a:lnTo>
                <a:lnTo>
                  <a:pt x="0" y="3657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43" t="0" r="-141" b="0"/>
            </a:stretch>
          </a:blipFill>
        </p:spPr>
      </p:sp>
      <p:grpSp>
        <p:nvGrpSpPr>
          <p:cNvPr name="Group 71" id="71"/>
          <p:cNvGrpSpPr/>
          <p:nvPr/>
        </p:nvGrpSpPr>
        <p:grpSpPr>
          <a:xfrm rot="0">
            <a:off x="2372868" y="7317486"/>
            <a:ext cx="6240780" cy="342900"/>
            <a:chOff x="0" y="0"/>
            <a:chExt cx="8321040" cy="4572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321040" cy="457200"/>
            </a:xfrm>
            <a:custGeom>
              <a:avLst/>
              <a:gdLst/>
              <a:ahLst/>
              <a:cxnLst/>
              <a:rect r="r" b="b" t="t" l="l"/>
              <a:pathLst>
                <a:path h="45720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627" r="0" b="-30462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832104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Interview Challenges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2372868" y="7653528"/>
            <a:ext cx="6172200" cy="877824"/>
            <a:chOff x="0" y="0"/>
            <a:chExt cx="8229600" cy="117043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2296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04" r="0" b="-87004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8229600" cy="1170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Discover and enter challenges; Max users can create and host them.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344787" y="6779895"/>
            <a:ext cx="7905750" cy="1966722"/>
            <a:chOff x="0" y="0"/>
            <a:chExt cx="10541000" cy="262229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541000" cy="2622296"/>
            </a:xfrm>
            <a:custGeom>
              <a:avLst/>
              <a:gdLst/>
              <a:ahLst/>
              <a:cxnLst/>
              <a:rect r="r" b="b" t="t" l="l"/>
              <a:pathLst>
                <a:path h="2622296" w="105410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10393299" y="0"/>
                  </a:lnTo>
                  <a:cubicBezTo>
                    <a:pt x="10474833" y="0"/>
                    <a:pt x="10541000" y="66167"/>
                    <a:pt x="10541000" y="147701"/>
                  </a:cubicBezTo>
                  <a:lnTo>
                    <a:pt x="10541000" y="2474595"/>
                  </a:lnTo>
                  <a:cubicBezTo>
                    <a:pt x="10541000" y="2556129"/>
                    <a:pt x="10474833" y="2622296"/>
                    <a:pt x="10393299" y="2622296"/>
                  </a:cubicBezTo>
                  <a:lnTo>
                    <a:pt x="147701" y="2622296"/>
                  </a:lnTo>
                  <a:cubicBezTo>
                    <a:pt x="66167" y="2622296"/>
                    <a:pt x="0" y="2556129"/>
                    <a:pt x="0" y="247459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9660255" y="7095363"/>
            <a:ext cx="814578" cy="814578"/>
            <a:chOff x="0" y="0"/>
            <a:chExt cx="1086104" cy="108610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187198"/>
                  </a:moveTo>
                  <a:cubicBezTo>
                    <a:pt x="0" y="83820"/>
                    <a:pt x="83820" y="0"/>
                    <a:pt x="187198" y="0"/>
                  </a:cubicBezTo>
                  <a:lnTo>
                    <a:pt x="898906" y="0"/>
                  </a:lnTo>
                  <a:cubicBezTo>
                    <a:pt x="1002284" y="0"/>
                    <a:pt x="1086104" y="83820"/>
                    <a:pt x="1086104" y="187198"/>
                  </a:cubicBezTo>
                  <a:lnTo>
                    <a:pt x="1086104" y="898906"/>
                  </a:lnTo>
                  <a:cubicBezTo>
                    <a:pt x="1086104" y="1002284"/>
                    <a:pt x="1002284" y="1086104"/>
                    <a:pt x="898906" y="1086104"/>
                  </a:cubicBezTo>
                  <a:lnTo>
                    <a:pt x="187198" y="1086104"/>
                  </a:lnTo>
                  <a:cubicBezTo>
                    <a:pt x="83820" y="1086104"/>
                    <a:pt x="0" y="1002284"/>
                    <a:pt x="0" y="898906"/>
                  </a:cubicBezTo>
                  <a:close/>
                </a:path>
              </a:pathLst>
            </a:custGeom>
            <a:solidFill>
              <a:srgbClr val="E9FBF7"/>
            </a:solidFill>
            <a:ln w="19050" cap="sq">
              <a:solidFill>
                <a:srgbClr val="E9FBF7"/>
              </a:solidFill>
              <a:prstDash val="solid"/>
              <a:miter/>
            </a:ln>
          </p:spPr>
        </p:sp>
      </p:grpSp>
      <p:sp>
        <p:nvSpPr>
          <p:cNvPr name="Freeform 81" id="81" descr="/opt/nvm/versions/node/v22.16.0/lib/node_modules/@fortawesome/fontawesome-free/svgs/solid/shield-halved.svg"/>
          <p:cNvSpPr/>
          <p:nvPr/>
        </p:nvSpPr>
        <p:spPr>
          <a:xfrm flipH="false" flipV="false" rot="0">
            <a:off x="9861804" y="7283196"/>
            <a:ext cx="411480" cy="411480"/>
          </a:xfrm>
          <a:custGeom>
            <a:avLst/>
            <a:gdLst/>
            <a:ahLst/>
            <a:cxnLst/>
            <a:rect r="r" b="b" t="t" l="l"/>
            <a:pathLst>
              <a:path h="411480" w="411480">
                <a:moveTo>
                  <a:pt x="0" y="0"/>
                </a:moveTo>
                <a:lnTo>
                  <a:pt x="411480" y="0"/>
                </a:lnTo>
                <a:lnTo>
                  <a:pt x="411480" y="411480"/>
                </a:lnTo>
                <a:lnTo>
                  <a:pt x="0" y="41148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2" id="82"/>
          <p:cNvGrpSpPr/>
          <p:nvPr/>
        </p:nvGrpSpPr>
        <p:grpSpPr>
          <a:xfrm rot="0">
            <a:off x="10698480" y="7317486"/>
            <a:ext cx="6240780" cy="342900"/>
            <a:chOff x="0" y="0"/>
            <a:chExt cx="8321040" cy="4572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321040" cy="457200"/>
            </a:xfrm>
            <a:custGeom>
              <a:avLst/>
              <a:gdLst/>
              <a:ahLst/>
              <a:cxnLst/>
              <a:rect r="r" b="b" t="t" l="l"/>
              <a:pathLst>
                <a:path h="45720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627" r="0" b="-304627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832104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Centralized Access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698480" y="7653528"/>
            <a:ext cx="6172200" cy="877824"/>
            <a:chOff x="0" y="0"/>
            <a:chExt cx="8229600" cy="117043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2296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04" r="0" b="-87004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8229600" cy="1170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One access layer governs plan rights, quota, coins, cached state, and upgrade UI.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69926"/>
            <a:chOff x="0" y="0"/>
            <a:chExt cx="24408790" cy="2265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26568"/>
            </a:xfrm>
            <a:custGeom>
              <a:avLst/>
              <a:gdLst/>
              <a:ahLst/>
              <a:cxnLst/>
              <a:rect r="r" b="b" t="t" l="l"/>
              <a:pathLst>
                <a:path h="22656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26568"/>
                  </a:lnTo>
                  <a:lnTo>
                    <a:pt x="0" y="226568"/>
                  </a:lnTo>
                  <a:close/>
                </a:path>
              </a:pathLst>
            </a:custGeom>
            <a:solidFill>
              <a:srgbClr val="FF7A45"/>
            </a:solidFill>
            <a:ln w="19050" cap="sq">
              <a:solidFill>
                <a:srgbClr val="FF7A4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141351"/>
            <a:ext cx="18306593" cy="73914"/>
            <a:chOff x="0" y="0"/>
            <a:chExt cx="24408790" cy="985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98552"/>
            </a:xfrm>
            <a:custGeom>
              <a:avLst/>
              <a:gdLst/>
              <a:ahLst/>
              <a:cxnLst/>
              <a:rect r="r" b="b" t="t" l="l"/>
              <a:pathLst>
                <a:path h="98552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98552"/>
                  </a:lnTo>
                  <a:lnTo>
                    <a:pt x="0" y="98552"/>
                  </a:lnTo>
                  <a:close/>
                </a:path>
              </a:pathLst>
            </a:custGeom>
            <a:solidFill>
              <a:srgbClr val="2DD4BF"/>
            </a:solidFill>
            <a:ln w="19050" cap="sq">
              <a:solidFill>
                <a:srgbClr val="2DD4B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32688" y="576072"/>
            <a:ext cx="12070080" cy="576072"/>
            <a:chOff x="0" y="0"/>
            <a:chExt cx="16093440" cy="7680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93439" cy="768096"/>
            </a:xfrm>
            <a:custGeom>
              <a:avLst/>
              <a:gdLst/>
              <a:ahLst/>
              <a:cxnLst/>
              <a:rect r="r" b="b" t="t" l="l"/>
              <a:pathLst>
                <a:path h="768096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257" r="0" b="-35825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609344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Target Market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0120" y="1234440"/>
            <a:ext cx="14813280" cy="411480"/>
            <a:chOff x="0" y="0"/>
            <a:chExt cx="1975104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751039" cy="548640"/>
            </a:xfrm>
            <a:custGeom>
              <a:avLst/>
              <a:gdLst/>
              <a:ahLst/>
              <a:cxnLst/>
              <a:rect r="r" b="b" t="t" l="l"/>
              <a:pathLst>
                <a:path h="54864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97510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Career Pilot serves both individual candidates and structured assessment use cases.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664940" y="644652"/>
            <a:ext cx="685800" cy="384048"/>
            <a:chOff x="0" y="0"/>
            <a:chExt cx="9144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914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07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2400">
            <a:off x="926973" y="9761030"/>
            <a:ext cx="16402050" cy="0"/>
          </a:xfrm>
          <a:prstGeom prst="line">
            <a:avLst/>
          </a:prstGeom>
          <a:ln cap="rnd" w="9525">
            <a:solidFill>
              <a:srgbClr val="D9DE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60120" y="9848088"/>
            <a:ext cx="5623560" cy="192024"/>
            <a:chOff x="0" y="0"/>
            <a:chExt cx="7498080" cy="2560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98080" cy="256032"/>
            </a:xfrm>
            <a:custGeom>
              <a:avLst/>
              <a:gdLst/>
              <a:ahLst/>
              <a:cxnLst/>
              <a:rect r="r" b="b" t="t" l="l"/>
              <a:pathLst>
                <a:path h="256032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49808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9AA3B8"/>
                  </a:solidFill>
                  <a:latin typeface="Aptos"/>
                  <a:ea typeface="Aptos"/>
                  <a:cs typeface="Aptos"/>
                  <a:sym typeface="Aptos"/>
                </a:rPr>
                <a:t>CAREER PILOT  •  ITI Intake 46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253460" y="9848088"/>
            <a:ext cx="1028700" cy="192024"/>
            <a:chOff x="0" y="0"/>
            <a:chExt cx="1371600" cy="2560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71600" cy="256032"/>
            </a:xfrm>
            <a:custGeom>
              <a:avLst/>
              <a:gdLst/>
              <a:ahLst/>
              <a:cxnLst/>
              <a:rect r="r" b="b" t="t" l="l"/>
              <a:pathLst>
                <a:path h="25603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37160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>
                  <a:solidFill>
                    <a:srgbClr val="9AA3B8"/>
                  </a:solidFill>
                  <a:latin typeface="Aptos"/>
                  <a:ea typeface="Aptos"/>
                  <a:cs typeface="Aptos"/>
                  <a:sym typeface="Aptos"/>
                </a:rPr>
                <a:t>7 / 17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87755" y="1979295"/>
            <a:ext cx="7631430" cy="1637538"/>
            <a:chOff x="0" y="0"/>
            <a:chExt cx="10175240" cy="21833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175239" cy="2183384"/>
            </a:xfrm>
            <a:custGeom>
              <a:avLst/>
              <a:gdLst/>
              <a:ahLst/>
              <a:cxnLst/>
              <a:rect r="r" b="b" t="t" l="l"/>
              <a:pathLst>
                <a:path h="2183384" w="10175239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10027158" y="0"/>
                  </a:lnTo>
                  <a:cubicBezTo>
                    <a:pt x="10108946" y="0"/>
                    <a:pt x="10175239" y="66294"/>
                    <a:pt x="10175239" y="148082"/>
                  </a:cubicBezTo>
                  <a:lnTo>
                    <a:pt x="10175239" y="2035302"/>
                  </a:lnTo>
                  <a:cubicBezTo>
                    <a:pt x="10175239" y="2117090"/>
                    <a:pt x="10108946" y="2183384"/>
                    <a:pt x="10027158" y="2183384"/>
                  </a:cubicBezTo>
                  <a:lnTo>
                    <a:pt x="148082" y="2183384"/>
                  </a:lnTo>
                  <a:cubicBezTo>
                    <a:pt x="66294" y="2183384"/>
                    <a:pt x="0" y="2117090"/>
                    <a:pt x="0" y="203530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81328" y="2290572"/>
            <a:ext cx="2880360" cy="342900"/>
            <a:chOff x="0" y="0"/>
            <a:chExt cx="3840480" cy="457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40480" cy="457200"/>
            </a:xfrm>
            <a:custGeom>
              <a:avLst/>
              <a:gdLst/>
              <a:ahLst/>
              <a:cxnLst/>
              <a:rect r="r" b="b" t="t" l="l"/>
              <a:pathLst>
                <a:path h="45720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38404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Fresh Graduates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320540" y="2235708"/>
            <a:ext cx="3909060" cy="795528"/>
            <a:chOff x="0" y="0"/>
            <a:chExt cx="5212080" cy="106070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12080" cy="1060704"/>
            </a:xfrm>
            <a:custGeom>
              <a:avLst/>
              <a:gdLst/>
              <a:ahLst/>
              <a:cxnLst/>
              <a:rect r="r" b="b" t="t" l="l"/>
              <a:pathLst>
                <a:path h="1060704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745" r="0" b="-4574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5212080" cy="1060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Build confidence, learn interview structure, and improve ATS readiness.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87755" y="4105275"/>
            <a:ext cx="7631430" cy="1637538"/>
            <a:chOff x="0" y="0"/>
            <a:chExt cx="10175240" cy="21833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175239" cy="2183384"/>
            </a:xfrm>
            <a:custGeom>
              <a:avLst/>
              <a:gdLst/>
              <a:ahLst/>
              <a:cxnLst/>
              <a:rect r="r" b="b" t="t" l="l"/>
              <a:pathLst>
                <a:path h="2183384" w="10175239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10027158" y="0"/>
                  </a:lnTo>
                  <a:cubicBezTo>
                    <a:pt x="10108946" y="0"/>
                    <a:pt x="10175239" y="66294"/>
                    <a:pt x="10175239" y="148082"/>
                  </a:cubicBezTo>
                  <a:lnTo>
                    <a:pt x="10175239" y="2035302"/>
                  </a:lnTo>
                  <a:cubicBezTo>
                    <a:pt x="10175239" y="2117090"/>
                    <a:pt x="10108946" y="2183384"/>
                    <a:pt x="10027158" y="2183384"/>
                  </a:cubicBezTo>
                  <a:lnTo>
                    <a:pt x="148082" y="2183384"/>
                  </a:lnTo>
                  <a:cubicBezTo>
                    <a:pt x="66294" y="2183384"/>
                    <a:pt x="0" y="2117090"/>
                    <a:pt x="0" y="203530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481328" y="4416552"/>
            <a:ext cx="2880360" cy="342900"/>
            <a:chOff x="0" y="0"/>
            <a:chExt cx="3840480" cy="457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840480" cy="457200"/>
            </a:xfrm>
            <a:custGeom>
              <a:avLst/>
              <a:gdLst/>
              <a:ahLst/>
              <a:cxnLst/>
              <a:rect r="r" b="b" t="t" l="l"/>
              <a:pathLst>
                <a:path h="45720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8404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Career Changers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320540" y="4361688"/>
            <a:ext cx="3909060" cy="795528"/>
            <a:chOff x="0" y="0"/>
            <a:chExt cx="5212080" cy="106070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12080" cy="1060704"/>
            </a:xfrm>
            <a:custGeom>
              <a:avLst/>
              <a:gdLst/>
              <a:ahLst/>
              <a:cxnLst/>
              <a:rect r="r" b="b" t="t" l="l"/>
              <a:pathLst>
                <a:path h="1060704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745" r="0" b="-4574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5212080" cy="1060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Identify skill gaps and practice for a new target track.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87755" y="6231255"/>
            <a:ext cx="7631430" cy="1637538"/>
            <a:chOff x="0" y="0"/>
            <a:chExt cx="10175240" cy="21833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175239" cy="2183384"/>
            </a:xfrm>
            <a:custGeom>
              <a:avLst/>
              <a:gdLst/>
              <a:ahLst/>
              <a:cxnLst/>
              <a:rect r="r" b="b" t="t" l="l"/>
              <a:pathLst>
                <a:path h="2183384" w="10175239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10027158" y="0"/>
                  </a:lnTo>
                  <a:cubicBezTo>
                    <a:pt x="10108946" y="0"/>
                    <a:pt x="10175239" y="66294"/>
                    <a:pt x="10175239" y="148082"/>
                  </a:cubicBezTo>
                  <a:lnTo>
                    <a:pt x="10175239" y="2035302"/>
                  </a:lnTo>
                  <a:cubicBezTo>
                    <a:pt x="10175239" y="2117090"/>
                    <a:pt x="10108946" y="2183384"/>
                    <a:pt x="10027158" y="2183384"/>
                  </a:cubicBezTo>
                  <a:lnTo>
                    <a:pt x="148082" y="2183384"/>
                  </a:lnTo>
                  <a:cubicBezTo>
                    <a:pt x="66294" y="2183384"/>
                    <a:pt x="0" y="2117090"/>
                    <a:pt x="0" y="203530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481328" y="6542532"/>
            <a:ext cx="2880360" cy="342900"/>
            <a:chOff x="0" y="0"/>
            <a:chExt cx="3840480" cy="457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840480" cy="457200"/>
            </a:xfrm>
            <a:custGeom>
              <a:avLst/>
              <a:gdLst/>
              <a:ahLst/>
              <a:cxnLst/>
              <a:rect r="r" b="b" t="t" l="l"/>
              <a:pathLst>
                <a:path h="45720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38404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Working Engineers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320540" y="6487668"/>
            <a:ext cx="3909060" cy="795528"/>
            <a:chOff x="0" y="0"/>
            <a:chExt cx="5212080" cy="106070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212080" cy="1060704"/>
            </a:xfrm>
            <a:custGeom>
              <a:avLst/>
              <a:gdLst/>
              <a:ahLst/>
              <a:cxnLst/>
              <a:rect r="r" b="b" t="t" l="l"/>
              <a:pathLst>
                <a:path h="1060704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745" r="0" b="-4574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5212080" cy="1060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Sharpen technical, behavioral, and system-design communication.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454515" y="3007995"/>
            <a:ext cx="7631430" cy="1637538"/>
            <a:chOff x="0" y="0"/>
            <a:chExt cx="10175240" cy="218338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175239" cy="2183384"/>
            </a:xfrm>
            <a:custGeom>
              <a:avLst/>
              <a:gdLst/>
              <a:ahLst/>
              <a:cxnLst/>
              <a:rect r="r" b="b" t="t" l="l"/>
              <a:pathLst>
                <a:path h="2183384" w="10175239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10027158" y="0"/>
                  </a:lnTo>
                  <a:cubicBezTo>
                    <a:pt x="10108946" y="0"/>
                    <a:pt x="10175239" y="66294"/>
                    <a:pt x="10175239" y="148082"/>
                  </a:cubicBezTo>
                  <a:lnTo>
                    <a:pt x="10175239" y="2035302"/>
                  </a:lnTo>
                  <a:cubicBezTo>
                    <a:pt x="10175239" y="2117090"/>
                    <a:pt x="10108946" y="2183384"/>
                    <a:pt x="10027158" y="2183384"/>
                  </a:cubicBezTo>
                  <a:lnTo>
                    <a:pt x="148082" y="2183384"/>
                  </a:lnTo>
                  <a:cubicBezTo>
                    <a:pt x="66294" y="2183384"/>
                    <a:pt x="0" y="2117090"/>
                    <a:pt x="0" y="2035302"/>
                  </a:cubicBezTo>
                  <a:close/>
                </a:path>
              </a:pathLst>
            </a:custGeom>
            <a:solidFill>
              <a:srgbClr val="E9FBF7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848088" y="3319272"/>
            <a:ext cx="2880360" cy="342900"/>
            <a:chOff x="0" y="0"/>
            <a:chExt cx="3840480" cy="457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840480" cy="457200"/>
            </a:xfrm>
            <a:custGeom>
              <a:avLst/>
              <a:gdLst/>
              <a:ahLst/>
              <a:cxnLst/>
              <a:rect r="r" b="b" t="t" l="l"/>
              <a:pathLst>
                <a:path h="45720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8404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F766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Recruiters &amp; Hiring Teams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687300" y="3264408"/>
            <a:ext cx="3909060" cy="795528"/>
            <a:chOff x="0" y="0"/>
            <a:chExt cx="5212080" cy="106070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212080" cy="1060704"/>
            </a:xfrm>
            <a:custGeom>
              <a:avLst/>
              <a:gdLst/>
              <a:ahLst/>
              <a:cxnLst/>
              <a:rect r="r" b="b" t="t" l="l"/>
              <a:pathLst>
                <a:path h="1060704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745" r="0" b="-4574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5212080" cy="1060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Use private challenges as a structured first-round screening format.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454515" y="5545455"/>
            <a:ext cx="7631430" cy="1637538"/>
            <a:chOff x="0" y="0"/>
            <a:chExt cx="10175240" cy="218338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175239" cy="2183384"/>
            </a:xfrm>
            <a:custGeom>
              <a:avLst/>
              <a:gdLst/>
              <a:ahLst/>
              <a:cxnLst/>
              <a:rect r="r" b="b" t="t" l="l"/>
              <a:pathLst>
                <a:path h="2183384" w="10175239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10027158" y="0"/>
                  </a:lnTo>
                  <a:cubicBezTo>
                    <a:pt x="10108946" y="0"/>
                    <a:pt x="10175239" y="66294"/>
                    <a:pt x="10175239" y="148082"/>
                  </a:cubicBezTo>
                  <a:lnTo>
                    <a:pt x="10175239" y="2035302"/>
                  </a:lnTo>
                  <a:cubicBezTo>
                    <a:pt x="10175239" y="2117090"/>
                    <a:pt x="10108946" y="2183384"/>
                    <a:pt x="10027158" y="2183384"/>
                  </a:cubicBezTo>
                  <a:lnTo>
                    <a:pt x="148082" y="2183384"/>
                  </a:lnTo>
                  <a:cubicBezTo>
                    <a:pt x="66294" y="2183384"/>
                    <a:pt x="0" y="2117090"/>
                    <a:pt x="0" y="2035302"/>
                  </a:cubicBezTo>
                  <a:close/>
                </a:path>
              </a:pathLst>
            </a:custGeom>
            <a:solidFill>
              <a:srgbClr val="E9FBF7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9848088" y="5856732"/>
            <a:ext cx="2880360" cy="342900"/>
            <a:chOff x="0" y="0"/>
            <a:chExt cx="3840480" cy="457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840480" cy="457200"/>
            </a:xfrm>
            <a:custGeom>
              <a:avLst/>
              <a:gdLst/>
              <a:ahLst/>
              <a:cxnLst/>
              <a:rect r="r" b="b" t="t" l="l"/>
              <a:pathLst>
                <a:path h="45720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38404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F766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Training &amp; Communities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687300" y="5801868"/>
            <a:ext cx="3909060" cy="795528"/>
            <a:chOff x="0" y="0"/>
            <a:chExt cx="5212080" cy="106070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212080" cy="1060704"/>
            </a:xfrm>
            <a:custGeom>
              <a:avLst/>
              <a:gdLst/>
              <a:ahLst/>
              <a:cxnLst/>
              <a:rect r="r" b="b" t="t" l="l"/>
              <a:pathLst>
                <a:path h="1060704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745" r="0" b="-4574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5212080" cy="1060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Run public challenges and readiness competitions at scale.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69926"/>
            <a:chOff x="0" y="0"/>
            <a:chExt cx="24408790" cy="2265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26568"/>
            </a:xfrm>
            <a:custGeom>
              <a:avLst/>
              <a:gdLst/>
              <a:ahLst/>
              <a:cxnLst/>
              <a:rect r="r" b="b" t="t" l="l"/>
              <a:pathLst>
                <a:path h="22656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26568"/>
                  </a:lnTo>
                  <a:lnTo>
                    <a:pt x="0" y="226568"/>
                  </a:lnTo>
                  <a:close/>
                </a:path>
              </a:pathLst>
            </a:custGeom>
            <a:solidFill>
              <a:srgbClr val="FF7A45"/>
            </a:solidFill>
            <a:ln w="19050" cap="sq">
              <a:solidFill>
                <a:srgbClr val="FF7A4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141351"/>
            <a:ext cx="18306593" cy="73914"/>
            <a:chOff x="0" y="0"/>
            <a:chExt cx="24408790" cy="985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98552"/>
            </a:xfrm>
            <a:custGeom>
              <a:avLst/>
              <a:gdLst/>
              <a:ahLst/>
              <a:cxnLst/>
              <a:rect r="r" b="b" t="t" l="l"/>
              <a:pathLst>
                <a:path h="98552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98552"/>
                  </a:lnTo>
                  <a:lnTo>
                    <a:pt x="0" y="98552"/>
                  </a:lnTo>
                  <a:close/>
                </a:path>
              </a:pathLst>
            </a:custGeom>
            <a:solidFill>
              <a:srgbClr val="2DD4BF"/>
            </a:solidFill>
            <a:ln w="19050" cap="sq">
              <a:solidFill>
                <a:srgbClr val="2DD4B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32688" y="576072"/>
            <a:ext cx="12070080" cy="576072"/>
            <a:chOff x="0" y="0"/>
            <a:chExt cx="16093440" cy="7680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93439" cy="768096"/>
            </a:xfrm>
            <a:custGeom>
              <a:avLst/>
              <a:gdLst/>
              <a:ahLst/>
              <a:cxnLst/>
              <a:rect r="r" b="b" t="t" l="l"/>
              <a:pathLst>
                <a:path h="768096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257" r="0" b="-35825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609344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Subscriptions &amp; Monetization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0120" y="1234440"/>
            <a:ext cx="14813280" cy="411480"/>
            <a:chOff x="0" y="0"/>
            <a:chExt cx="1975104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751039" cy="548640"/>
            </a:xfrm>
            <a:custGeom>
              <a:avLst/>
              <a:gdLst/>
              <a:ahLst/>
              <a:cxnLst/>
              <a:rect r="r" b="b" t="t" l="l"/>
              <a:pathLst>
                <a:path h="54864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97510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Simple tiers plus optional coin top-ups — payment remains provider-agnostic.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664940" y="644652"/>
            <a:ext cx="685800" cy="384048"/>
            <a:chOff x="0" y="0"/>
            <a:chExt cx="9144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914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08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2400">
            <a:off x="926973" y="9761030"/>
            <a:ext cx="16402050" cy="0"/>
          </a:xfrm>
          <a:prstGeom prst="line">
            <a:avLst/>
          </a:prstGeom>
          <a:ln cap="rnd" w="9525">
            <a:solidFill>
              <a:srgbClr val="D9DE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60120" y="9848088"/>
            <a:ext cx="5623560" cy="192024"/>
            <a:chOff x="0" y="0"/>
            <a:chExt cx="7498080" cy="2560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98080" cy="256032"/>
            </a:xfrm>
            <a:custGeom>
              <a:avLst/>
              <a:gdLst/>
              <a:ahLst/>
              <a:cxnLst/>
              <a:rect r="r" b="b" t="t" l="l"/>
              <a:pathLst>
                <a:path h="256032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49808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9AA3B8"/>
                  </a:solidFill>
                  <a:latin typeface="Aptos"/>
                  <a:ea typeface="Aptos"/>
                  <a:cs typeface="Aptos"/>
                  <a:sym typeface="Aptos"/>
                </a:rPr>
                <a:t>CAREER PILOT  •  ITI Intake 46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253460" y="9848088"/>
            <a:ext cx="1028700" cy="192024"/>
            <a:chOff x="0" y="0"/>
            <a:chExt cx="1371600" cy="2560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71600" cy="256032"/>
            </a:xfrm>
            <a:custGeom>
              <a:avLst/>
              <a:gdLst/>
              <a:ahLst/>
              <a:cxnLst/>
              <a:rect r="r" b="b" t="t" l="l"/>
              <a:pathLst>
                <a:path h="25603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37160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>
                  <a:solidFill>
                    <a:srgbClr val="9AA3B8"/>
                  </a:solidFill>
                  <a:latin typeface="Aptos"/>
                  <a:ea typeface="Aptos"/>
                  <a:cs typeface="Aptos"/>
                  <a:sym typeface="Aptos"/>
                </a:rPr>
                <a:t>8 / 17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19175" y="2047875"/>
            <a:ext cx="5025390" cy="3242310"/>
            <a:chOff x="0" y="0"/>
            <a:chExt cx="6700520" cy="4323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700520" cy="4323080"/>
            </a:xfrm>
            <a:custGeom>
              <a:avLst/>
              <a:gdLst/>
              <a:ahLst/>
              <a:cxnLst/>
              <a:rect r="r" b="b" t="t" l="l"/>
              <a:pathLst>
                <a:path h="4323080" w="67005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553327" y="0"/>
                  </a:lnTo>
                  <a:cubicBezTo>
                    <a:pt x="6634607" y="0"/>
                    <a:pt x="6700520" y="65913"/>
                    <a:pt x="6700520" y="147193"/>
                  </a:cubicBezTo>
                  <a:lnTo>
                    <a:pt x="6700520" y="4175887"/>
                  </a:lnTo>
                  <a:cubicBezTo>
                    <a:pt x="6700520" y="4257167"/>
                    <a:pt x="6634607" y="4323080"/>
                    <a:pt x="6553327" y="4323080"/>
                  </a:cubicBezTo>
                  <a:lnTo>
                    <a:pt x="147193" y="4323080"/>
                  </a:lnTo>
                  <a:cubicBezTo>
                    <a:pt x="65913" y="4323080"/>
                    <a:pt x="0" y="4257167"/>
                    <a:pt x="0" y="417588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71600" y="2414016"/>
            <a:ext cx="4320540" cy="384048"/>
            <a:chOff x="0" y="0"/>
            <a:chExt cx="5760720" cy="5120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760720" cy="512064"/>
            </a:xfrm>
            <a:custGeom>
              <a:avLst/>
              <a:gdLst/>
              <a:ahLst/>
              <a:cxnLst/>
              <a:rect r="r" b="b" t="t" l="l"/>
              <a:pathLst>
                <a:path h="512064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57607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FREE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71600" y="3086100"/>
            <a:ext cx="4320540" cy="438912"/>
            <a:chOff x="0" y="0"/>
            <a:chExt cx="5760720" cy="5852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60720" cy="585216"/>
            </a:xfrm>
            <a:custGeom>
              <a:avLst/>
              <a:gdLst/>
              <a:ahLst/>
              <a:cxnLst/>
              <a:rect r="r" b="b" t="t" l="l"/>
              <a:pathLst>
                <a:path h="585216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805" r="0" b="-14180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576072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 EGP / month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71600" y="3771900"/>
            <a:ext cx="4320540" cy="342900"/>
            <a:chOff x="0" y="0"/>
            <a:chExt cx="5760720" cy="457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760720" cy="457200"/>
            </a:xfrm>
            <a:custGeom>
              <a:avLst/>
              <a:gdLst/>
              <a:ahLst/>
              <a:cxnLst/>
              <a:rect r="r" b="b" t="t" l="l"/>
              <a:pathLst>
                <a:path h="45720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511" r="0" b="-19551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576072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 monthly coins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40180" y="4389120"/>
            <a:ext cx="4183380" cy="658368"/>
            <a:chOff x="0" y="0"/>
            <a:chExt cx="5577840" cy="87782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577840" cy="877824"/>
            </a:xfrm>
            <a:custGeom>
              <a:avLst/>
              <a:gdLst/>
              <a:ahLst/>
              <a:cxnLst/>
              <a:rect r="r" b="b" t="t" l="l"/>
              <a:pathLst>
                <a:path h="877824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811" r="0" b="-7381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577840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Enter public &amp; private challenges • Voice interviews via coins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670167" y="2047875"/>
            <a:ext cx="5025390" cy="3242310"/>
            <a:chOff x="0" y="0"/>
            <a:chExt cx="6700520" cy="43230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700520" cy="4323080"/>
            </a:xfrm>
            <a:custGeom>
              <a:avLst/>
              <a:gdLst/>
              <a:ahLst/>
              <a:cxnLst/>
              <a:rect r="r" b="b" t="t" l="l"/>
              <a:pathLst>
                <a:path h="4323080" w="67005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553327" y="0"/>
                  </a:lnTo>
                  <a:cubicBezTo>
                    <a:pt x="6634607" y="0"/>
                    <a:pt x="6700520" y="65913"/>
                    <a:pt x="6700520" y="147193"/>
                  </a:cubicBezTo>
                  <a:lnTo>
                    <a:pt x="6700520" y="4175887"/>
                  </a:lnTo>
                  <a:cubicBezTo>
                    <a:pt x="6700520" y="4257167"/>
                    <a:pt x="6634607" y="4323080"/>
                    <a:pt x="6553327" y="4323080"/>
                  </a:cubicBezTo>
                  <a:lnTo>
                    <a:pt x="147193" y="4323080"/>
                  </a:lnTo>
                  <a:cubicBezTo>
                    <a:pt x="65913" y="4323080"/>
                    <a:pt x="0" y="4257167"/>
                    <a:pt x="0" y="4175887"/>
                  </a:cubicBezTo>
                  <a:close/>
                </a:path>
              </a:pathLst>
            </a:custGeom>
            <a:solidFill>
              <a:srgbClr val="FFF0E9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7022592" y="2414016"/>
            <a:ext cx="4320540" cy="384048"/>
            <a:chOff x="0" y="0"/>
            <a:chExt cx="5760720" cy="5120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760720" cy="512064"/>
            </a:xfrm>
            <a:custGeom>
              <a:avLst/>
              <a:gdLst/>
              <a:ahLst/>
              <a:cxnLst/>
              <a:rect r="r" b="b" t="t" l="l"/>
              <a:pathLst>
                <a:path h="512064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57607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PLUS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022592" y="3086100"/>
            <a:ext cx="4320540" cy="438912"/>
            <a:chOff x="0" y="0"/>
            <a:chExt cx="5760720" cy="58521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760720" cy="585216"/>
            </a:xfrm>
            <a:custGeom>
              <a:avLst/>
              <a:gdLst/>
              <a:ahLst/>
              <a:cxnLst/>
              <a:rect r="r" b="b" t="t" l="l"/>
              <a:pathLst>
                <a:path h="585216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805" r="0" b="-14180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576072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349 EGP / month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022592" y="3771900"/>
            <a:ext cx="4320540" cy="342900"/>
            <a:chOff x="0" y="0"/>
            <a:chExt cx="5760720" cy="457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760720" cy="457200"/>
            </a:xfrm>
            <a:custGeom>
              <a:avLst/>
              <a:gdLst/>
              <a:ahLst/>
              <a:cxnLst/>
              <a:rect r="r" b="b" t="t" l="l"/>
              <a:pathLst>
                <a:path h="45720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511" r="0" b="-19551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576072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80 coins / month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091172" y="4389120"/>
            <a:ext cx="4183380" cy="658368"/>
            <a:chOff x="0" y="0"/>
            <a:chExt cx="5577840" cy="87782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577840" cy="877824"/>
            </a:xfrm>
            <a:custGeom>
              <a:avLst/>
              <a:gdLst/>
              <a:ahLst/>
              <a:cxnLst/>
              <a:rect r="r" b="b" t="t" l="l"/>
              <a:pathLst>
                <a:path h="877824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811" r="0" b="-7381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5577840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ATS • CV AI • Cover letter • Quizzes • PDF reports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321159" y="2047875"/>
            <a:ext cx="5025390" cy="3242310"/>
            <a:chOff x="0" y="0"/>
            <a:chExt cx="6700520" cy="4323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700520" cy="4323080"/>
            </a:xfrm>
            <a:custGeom>
              <a:avLst/>
              <a:gdLst/>
              <a:ahLst/>
              <a:cxnLst/>
              <a:rect r="r" b="b" t="t" l="l"/>
              <a:pathLst>
                <a:path h="4323080" w="67005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553327" y="0"/>
                  </a:lnTo>
                  <a:cubicBezTo>
                    <a:pt x="6634607" y="0"/>
                    <a:pt x="6700520" y="65913"/>
                    <a:pt x="6700520" y="147193"/>
                  </a:cubicBezTo>
                  <a:lnTo>
                    <a:pt x="6700520" y="4175887"/>
                  </a:lnTo>
                  <a:cubicBezTo>
                    <a:pt x="6700520" y="4257167"/>
                    <a:pt x="6634607" y="4323080"/>
                    <a:pt x="6553327" y="4323080"/>
                  </a:cubicBezTo>
                  <a:lnTo>
                    <a:pt x="147193" y="4323080"/>
                  </a:lnTo>
                  <a:cubicBezTo>
                    <a:pt x="65913" y="4323080"/>
                    <a:pt x="0" y="4257167"/>
                    <a:pt x="0" y="4175887"/>
                  </a:cubicBezTo>
                  <a:close/>
                </a:path>
              </a:pathLst>
            </a:custGeom>
            <a:solidFill>
              <a:srgbClr val="E9FBF7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2673584" y="2414016"/>
            <a:ext cx="4320540" cy="384048"/>
            <a:chOff x="0" y="0"/>
            <a:chExt cx="5760720" cy="51206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760720" cy="512064"/>
            </a:xfrm>
            <a:custGeom>
              <a:avLst/>
              <a:gdLst/>
              <a:ahLst/>
              <a:cxnLst/>
              <a:rect r="r" b="b" t="t" l="l"/>
              <a:pathLst>
                <a:path h="512064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57607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F766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MAX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673584" y="3086100"/>
            <a:ext cx="4320540" cy="438912"/>
            <a:chOff x="0" y="0"/>
            <a:chExt cx="5760720" cy="58521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760720" cy="585216"/>
            </a:xfrm>
            <a:custGeom>
              <a:avLst/>
              <a:gdLst/>
              <a:ahLst/>
              <a:cxnLst/>
              <a:rect r="r" b="b" t="t" l="l"/>
              <a:pathLst>
                <a:path h="585216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805" r="0" b="-14180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576072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599 EGP / month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673584" y="3771900"/>
            <a:ext cx="4320540" cy="342900"/>
            <a:chOff x="0" y="0"/>
            <a:chExt cx="5760720" cy="457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760720" cy="457200"/>
            </a:xfrm>
            <a:custGeom>
              <a:avLst/>
              <a:gdLst/>
              <a:ahLst/>
              <a:cxnLst/>
              <a:rect r="r" b="b" t="t" l="l"/>
              <a:pathLst>
                <a:path h="45720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511" r="0" b="-19551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576072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160 coins / month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742164" y="4389120"/>
            <a:ext cx="4183380" cy="658368"/>
            <a:chOff x="0" y="0"/>
            <a:chExt cx="5577840" cy="87782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577840" cy="877824"/>
            </a:xfrm>
            <a:custGeom>
              <a:avLst/>
              <a:gdLst/>
              <a:ahLst/>
              <a:cxnLst/>
              <a:rect r="r" b="b" t="t" l="l"/>
              <a:pathLst>
                <a:path h="877824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811" r="0" b="-7381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5577840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Video AI • Advanced reports • Create &amp; host challenges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69848" y="5966460"/>
            <a:ext cx="2743200" cy="384048"/>
            <a:chOff x="0" y="0"/>
            <a:chExt cx="3657600" cy="51206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Coin Packs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979295" y="6745605"/>
            <a:ext cx="3105150" cy="1184910"/>
            <a:chOff x="0" y="0"/>
            <a:chExt cx="4140200" cy="15798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140200" cy="1579880"/>
            </a:xfrm>
            <a:custGeom>
              <a:avLst/>
              <a:gdLst/>
              <a:ahLst/>
              <a:cxnLst/>
              <a:rect r="r" b="b" t="t" l="l"/>
              <a:pathLst>
                <a:path h="1579880" w="4140200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3991483" y="0"/>
                  </a:lnTo>
                  <a:cubicBezTo>
                    <a:pt x="4073652" y="0"/>
                    <a:pt x="4140200" y="66548"/>
                    <a:pt x="4140200" y="148717"/>
                  </a:cubicBezTo>
                  <a:lnTo>
                    <a:pt x="4140200" y="1431163"/>
                  </a:lnTo>
                  <a:cubicBezTo>
                    <a:pt x="4140200" y="1513332"/>
                    <a:pt x="4073652" y="1579880"/>
                    <a:pt x="3991483" y="1579880"/>
                  </a:cubicBezTo>
                  <a:lnTo>
                    <a:pt x="148717" y="1579880"/>
                  </a:lnTo>
                  <a:cubicBezTo>
                    <a:pt x="66548" y="1579880"/>
                    <a:pt x="0" y="1513332"/>
                    <a:pt x="0" y="143116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2263140" y="7002018"/>
            <a:ext cx="2537460" cy="274320"/>
            <a:chOff x="0" y="0"/>
            <a:chExt cx="3383280" cy="3657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383280" cy="365760"/>
            </a:xfrm>
            <a:custGeom>
              <a:avLst/>
              <a:gdLst/>
              <a:ahLst/>
              <a:cxnLst/>
              <a:rect r="r" b="b" t="t" l="l"/>
              <a:pathLst>
                <a:path h="36576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338328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50 coins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2263140" y="7440930"/>
            <a:ext cx="2537460" cy="246888"/>
            <a:chOff x="0" y="0"/>
            <a:chExt cx="3383280" cy="32918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383280" cy="329184"/>
            </a:xfrm>
            <a:custGeom>
              <a:avLst/>
              <a:gdLst/>
              <a:ahLst/>
              <a:cxnLst/>
              <a:rect r="r" b="b" t="t" l="l"/>
              <a:pathLst>
                <a:path h="329184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262" r="0" b="-150262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338328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FF7A45"/>
                  </a:solidFill>
                  <a:latin typeface="Aptos"/>
                  <a:ea typeface="Aptos"/>
                  <a:cs typeface="Aptos"/>
                  <a:sym typeface="Aptos"/>
                </a:rPr>
                <a:t>149 EGP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591196" y="6745605"/>
            <a:ext cx="3105150" cy="1184910"/>
            <a:chOff x="0" y="0"/>
            <a:chExt cx="4140200" cy="15798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140200" cy="1579880"/>
            </a:xfrm>
            <a:custGeom>
              <a:avLst/>
              <a:gdLst/>
              <a:ahLst/>
              <a:cxnLst/>
              <a:rect r="r" b="b" t="t" l="l"/>
              <a:pathLst>
                <a:path h="1579880" w="4140200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3991483" y="0"/>
                  </a:lnTo>
                  <a:cubicBezTo>
                    <a:pt x="4073652" y="0"/>
                    <a:pt x="4140200" y="66548"/>
                    <a:pt x="4140200" y="148717"/>
                  </a:cubicBezTo>
                  <a:lnTo>
                    <a:pt x="4140200" y="1431163"/>
                  </a:lnTo>
                  <a:cubicBezTo>
                    <a:pt x="4140200" y="1513332"/>
                    <a:pt x="4073652" y="1579880"/>
                    <a:pt x="3991483" y="1579880"/>
                  </a:cubicBezTo>
                  <a:lnTo>
                    <a:pt x="148717" y="1579880"/>
                  </a:lnTo>
                  <a:cubicBezTo>
                    <a:pt x="66548" y="1579880"/>
                    <a:pt x="0" y="1513332"/>
                    <a:pt x="0" y="143116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7875041" y="7002018"/>
            <a:ext cx="2537460" cy="274320"/>
            <a:chOff x="0" y="0"/>
            <a:chExt cx="3383280" cy="3657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383280" cy="365760"/>
            </a:xfrm>
            <a:custGeom>
              <a:avLst/>
              <a:gdLst/>
              <a:ahLst/>
              <a:cxnLst/>
              <a:rect r="r" b="b" t="t" l="l"/>
              <a:pathLst>
                <a:path h="36576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338328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120 coins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7875041" y="7440930"/>
            <a:ext cx="2537460" cy="246888"/>
            <a:chOff x="0" y="0"/>
            <a:chExt cx="3383280" cy="32918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383280" cy="329184"/>
            </a:xfrm>
            <a:custGeom>
              <a:avLst/>
              <a:gdLst/>
              <a:ahLst/>
              <a:cxnLst/>
              <a:rect r="r" b="b" t="t" l="l"/>
              <a:pathLst>
                <a:path h="329184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262" r="0" b="-150262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338328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FF7A45"/>
                  </a:solidFill>
                  <a:latin typeface="Aptos"/>
                  <a:ea typeface="Aptos"/>
                  <a:cs typeface="Aptos"/>
                  <a:sym typeface="Aptos"/>
                </a:rPr>
                <a:t>299 EGP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281279" y="6683883"/>
            <a:ext cx="3105150" cy="1184910"/>
            <a:chOff x="0" y="0"/>
            <a:chExt cx="4140200" cy="15798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140200" cy="1579880"/>
            </a:xfrm>
            <a:custGeom>
              <a:avLst/>
              <a:gdLst/>
              <a:ahLst/>
              <a:cxnLst/>
              <a:rect r="r" b="b" t="t" l="l"/>
              <a:pathLst>
                <a:path h="1579880" w="4140200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3991483" y="0"/>
                  </a:lnTo>
                  <a:cubicBezTo>
                    <a:pt x="4073652" y="0"/>
                    <a:pt x="4140200" y="66548"/>
                    <a:pt x="4140200" y="148717"/>
                  </a:cubicBezTo>
                  <a:lnTo>
                    <a:pt x="4140200" y="1431163"/>
                  </a:lnTo>
                  <a:cubicBezTo>
                    <a:pt x="4140200" y="1513332"/>
                    <a:pt x="4073652" y="1579880"/>
                    <a:pt x="3991483" y="1579880"/>
                  </a:cubicBezTo>
                  <a:lnTo>
                    <a:pt x="148717" y="1579880"/>
                  </a:lnTo>
                  <a:cubicBezTo>
                    <a:pt x="66548" y="1579880"/>
                    <a:pt x="0" y="1513332"/>
                    <a:pt x="0" y="143116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3565124" y="6940296"/>
            <a:ext cx="2537460" cy="274320"/>
            <a:chOff x="0" y="0"/>
            <a:chExt cx="3383280" cy="36576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383280" cy="365760"/>
            </a:xfrm>
            <a:custGeom>
              <a:avLst/>
              <a:gdLst/>
              <a:ahLst/>
              <a:cxnLst/>
              <a:rect r="r" b="b" t="t" l="l"/>
              <a:pathLst>
                <a:path h="36576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338328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300 coins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3565124" y="7379208"/>
            <a:ext cx="2537460" cy="246888"/>
            <a:chOff x="0" y="0"/>
            <a:chExt cx="3383280" cy="32918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383280" cy="329184"/>
            </a:xfrm>
            <a:custGeom>
              <a:avLst/>
              <a:gdLst/>
              <a:ahLst/>
              <a:cxnLst/>
              <a:rect r="r" b="b" t="t" l="l"/>
              <a:pathLst>
                <a:path h="329184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262" r="0" b="-150262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0"/>
              <a:ext cx="338328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FF7A45"/>
                  </a:solidFill>
                  <a:latin typeface="Aptos"/>
                  <a:ea typeface="Aptos"/>
                  <a:cs typeface="Aptos"/>
                  <a:sym typeface="Aptos"/>
                </a:rPr>
                <a:t>599 EGP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69926"/>
            <a:chOff x="0" y="0"/>
            <a:chExt cx="24408790" cy="2265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26568"/>
            </a:xfrm>
            <a:custGeom>
              <a:avLst/>
              <a:gdLst/>
              <a:ahLst/>
              <a:cxnLst/>
              <a:rect r="r" b="b" t="t" l="l"/>
              <a:pathLst>
                <a:path h="22656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26568"/>
                  </a:lnTo>
                  <a:lnTo>
                    <a:pt x="0" y="226568"/>
                  </a:lnTo>
                  <a:close/>
                </a:path>
              </a:pathLst>
            </a:custGeom>
            <a:solidFill>
              <a:srgbClr val="FF7A45"/>
            </a:solidFill>
            <a:ln w="19050" cap="sq">
              <a:solidFill>
                <a:srgbClr val="FF7A4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141351"/>
            <a:ext cx="18306593" cy="73914"/>
            <a:chOff x="0" y="0"/>
            <a:chExt cx="24408790" cy="985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98552"/>
            </a:xfrm>
            <a:custGeom>
              <a:avLst/>
              <a:gdLst/>
              <a:ahLst/>
              <a:cxnLst/>
              <a:rect r="r" b="b" t="t" l="l"/>
              <a:pathLst>
                <a:path h="98552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98552"/>
                  </a:lnTo>
                  <a:lnTo>
                    <a:pt x="0" y="98552"/>
                  </a:lnTo>
                  <a:close/>
                </a:path>
              </a:pathLst>
            </a:custGeom>
            <a:solidFill>
              <a:srgbClr val="2DD4BF"/>
            </a:solidFill>
            <a:ln w="19050" cap="sq">
              <a:solidFill>
                <a:srgbClr val="2DD4B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32688" y="576072"/>
            <a:ext cx="12070080" cy="576072"/>
            <a:chOff x="0" y="0"/>
            <a:chExt cx="16093440" cy="7680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93439" cy="768096"/>
            </a:xfrm>
            <a:custGeom>
              <a:avLst/>
              <a:gdLst/>
              <a:ahLst/>
              <a:cxnLst/>
              <a:rect r="r" b="b" t="t" l="l"/>
              <a:pathLst>
                <a:path h="768096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257" r="0" b="-35825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609344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Technologies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0120" y="1234440"/>
            <a:ext cx="14813280" cy="411480"/>
            <a:chOff x="0" y="0"/>
            <a:chExt cx="1975104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751039" cy="548640"/>
            </a:xfrm>
            <a:custGeom>
              <a:avLst/>
              <a:gdLst/>
              <a:ahLst/>
              <a:cxnLst/>
              <a:rect r="r" b="b" t="t" l="l"/>
              <a:pathLst>
                <a:path h="54864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97510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Top platform technologies only — not implementation-level dependencies.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664940" y="644652"/>
            <a:ext cx="685800" cy="384048"/>
            <a:chOff x="0" y="0"/>
            <a:chExt cx="9144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914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09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2400">
            <a:off x="926973" y="9761030"/>
            <a:ext cx="16402050" cy="0"/>
          </a:xfrm>
          <a:prstGeom prst="line">
            <a:avLst/>
          </a:prstGeom>
          <a:ln cap="rnd" w="9525">
            <a:solidFill>
              <a:srgbClr val="D9DE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60120" y="9848088"/>
            <a:ext cx="5623560" cy="192024"/>
            <a:chOff x="0" y="0"/>
            <a:chExt cx="7498080" cy="2560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98080" cy="256032"/>
            </a:xfrm>
            <a:custGeom>
              <a:avLst/>
              <a:gdLst/>
              <a:ahLst/>
              <a:cxnLst/>
              <a:rect r="r" b="b" t="t" l="l"/>
              <a:pathLst>
                <a:path h="256032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49808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9AA3B8"/>
                  </a:solidFill>
                  <a:latin typeface="Aptos"/>
                  <a:ea typeface="Aptos"/>
                  <a:cs typeface="Aptos"/>
                  <a:sym typeface="Aptos"/>
                </a:rPr>
                <a:t>CAREER PILOT  •  ITI Intake 46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253460" y="9848088"/>
            <a:ext cx="1028700" cy="192024"/>
            <a:chOff x="0" y="0"/>
            <a:chExt cx="1371600" cy="2560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71600" cy="256032"/>
            </a:xfrm>
            <a:custGeom>
              <a:avLst/>
              <a:gdLst/>
              <a:ahLst/>
              <a:cxnLst/>
              <a:rect r="r" b="b" t="t" l="l"/>
              <a:pathLst>
                <a:path h="25603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37160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>
                  <a:solidFill>
                    <a:srgbClr val="9AA3B8"/>
                  </a:solidFill>
                  <a:latin typeface="Aptos"/>
                  <a:ea typeface="Aptos"/>
                  <a:cs typeface="Aptos"/>
                  <a:sym typeface="Aptos"/>
                </a:rPr>
                <a:t>9 / 17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15187" y="2438781"/>
            <a:ext cx="3653790" cy="2323338"/>
            <a:chOff x="0" y="0"/>
            <a:chExt cx="4871720" cy="30977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71720" cy="3097784"/>
            </a:xfrm>
            <a:custGeom>
              <a:avLst/>
              <a:gdLst/>
              <a:ahLst/>
              <a:cxnLst/>
              <a:rect r="r" b="b" t="t" l="l"/>
              <a:pathLst>
                <a:path h="3097784" w="487172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724146" y="0"/>
                  </a:lnTo>
                  <a:cubicBezTo>
                    <a:pt x="4805680" y="0"/>
                    <a:pt x="4871720" y="66040"/>
                    <a:pt x="4871720" y="147574"/>
                  </a:cubicBezTo>
                  <a:lnTo>
                    <a:pt x="4871720" y="2950210"/>
                  </a:lnTo>
                  <a:cubicBezTo>
                    <a:pt x="4871720" y="3031744"/>
                    <a:pt x="4805680" y="3097784"/>
                    <a:pt x="4724146" y="3097784"/>
                  </a:cubicBezTo>
                  <a:lnTo>
                    <a:pt x="147574" y="3097784"/>
                  </a:lnTo>
                  <a:cubicBezTo>
                    <a:pt x="66040" y="3097784"/>
                    <a:pt x="0" y="3031744"/>
                    <a:pt x="0" y="295021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2514219" y="2781681"/>
            <a:ext cx="814578" cy="814578"/>
            <a:chOff x="0" y="0"/>
            <a:chExt cx="1086104" cy="10861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187198"/>
                  </a:moveTo>
                  <a:cubicBezTo>
                    <a:pt x="0" y="83820"/>
                    <a:pt x="83820" y="0"/>
                    <a:pt x="187198" y="0"/>
                  </a:cubicBezTo>
                  <a:lnTo>
                    <a:pt x="898906" y="0"/>
                  </a:lnTo>
                  <a:cubicBezTo>
                    <a:pt x="1002284" y="0"/>
                    <a:pt x="1086104" y="83820"/>
                    <a:pt x="1086104" y="187198"/>
                  </a:cubicBezTo>
                  <a:lnTo>
                    <a:pt x="1086104" y="898906"/>
                  </a:lnTo>
                  <a:cubicBezTo>
                    <a:pt x="1086104" y="1002284"/>
                    <a:pt x="1002284" y="1086104"/>
                    <a:pt x="898906" y="1086104"/>
                  </a:cubicBezTo>
                  <a:lnTo>
                    <a:pt x="187198" y="1086104"/>
                  </a:lnTo>
                  <a:cubicBezTo>
                    <a:pt x="83820" y="1086104"/>
                    <a:pt x="0" y="1002284"/>
                    <a:pt x="0" y="898906"/>
                  </a:cubicBezTo>
                  <a:close/>
                </a:path>
              </a:pathLst>
            </a:custGeom>
            <a:solidFill>
              <a:srgbClr val="FFF0E9"/>
            </a:solidFill>
            <a:ln w="19050" cap="sq">
              <a:solidFill>
                <a:srgbClr val="FFF0E9"/>
              </a:solidFill>
              <a:prstDash val="solid"/>
              <a:miter/>
            </a:ln>
          </p:spPr>
        </p:sp>
      </p:grpSp>
      <p:sp>
        <p:nvSpPr>
          <p:cNvPr name="Freeform 26" id="26" descr="/opt/nvm/versions/node/v22.16.0/lib/node_modules/@fortawesome/fontawesome-free/svgs/brands/android.svg"/>
          <p:cNvSpPr/>
          <p:nvPr/>
        </p:nvSpPr>
        <p:spPr>
          <a:xfrm flipH="false" flipV="false" rot="0">
            <a:off x="2715768" y="2992374"/>
            <a:ext cx="411480" cy="365760"/>
          </a:xfrm>
          <a:custGeom>
            <a:avLst/>
            <a:gdLst/>
            <a:ahLst/>
            <a:cxnLst/>
            <a:rect r="r" b="b" t="t" l="l"/>
            <a:pathLst>
              <a:path h="365760" w="411480">
                <a:moveTo>
                  <a:pt x="0" y="0"/>
                </a:moveTo>
                <a:lnTo>
                  <a:pt x="411480" y="0"/>
                </a:lnTo>
                <a:lnTo>
                  <a:pt x="411480" y="365760"/>
                </a:lnTo>
                <a:lnTo>
                  <a:pt x="0" y="3657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43" t="0" r="-141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399032" y="3792474"/>
            <a:ext cx="3086100" cy="301752"/>
            <a:chOff x="0" y="0"/>
            <a:chExt cx="4114800" cy="4023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14800" cy="402336"/>
            </a:xfrm>
            <a:custGeom>
              <a:avLst/>
              <a:gdLst/>
              <a:ahLst/>
              <a:cxnLst/>
              <a:rect r="r" b="b" t="t" l="l"/>
              <a:pathLst>
                <a:path h="402336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278" r="0" b="-14927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411480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Android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99032" y="4190238"/>
            <a:ext cx="3086100" cy="342900"/>
            <a:chOff x="0" y="0"/>
            <a:chExt cx="4114800" cy="457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114800" cy="457200"/>
            </a:xfrm>
            <a:custGeom>
              <a:avLst/>
              <a:gdLst/>
              <a:ahLst/>
              <a:cxnLst/>
              <a:rect r="r" b="b" t="t" l="l"/>
              <a:pathLst>
                <a:path h="45720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4114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Kotlin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339715" y="2438781"/>
            <a:ext cx="3653790" cy="2323338"/>
            <a:chOff x="0" y="0"/>
            <a:chExt cx="4871720" cy="309778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71720" cy="3097784"/>
            </a:xfrm>
            <a:custGeom>
              <a:avLst/>
              <a:gdLst/>
              <a:ahLst/>
              <a:cxnLst/>
              <a:rect r="r" b="b" t="t" l="l"/>
              <a:pathLst>
                <a:path h="3097784" w="487172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724146" y="0"/>
                  </a:lnTo>
                  <a:cubicBezTo>
                    <a:pt x="4805680" y="0"/>
                    <a:pt x="4871720" y="66040"/>
                    <a:pt x="4871720" y="147574"/>
                  </a:cubicBezTo>
                  <a:lnTo>
                    <a:pt x="4871720" y="2950210"/>
                  </a:lnTo>
                  <a:cubicBezTo>
                    <a:pt x="4871720" y="3031744"/>
                    <a:pt x="4805680" y="3097784"/>
                    <a:pt x="4724146" y="3097784"/>
                  </a:cubicBezTo>
                  <a:lnTo>
                    <a:pt x="147574" y="3097784"/>
                  </a:lnTo>
                  <a:cubicBezTo>
                    <a:pt x="66040" y="3097784"/>
                    <a:pt x="0" y="3031744"/>
                    <a:pt x="0" y="295021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6738747" y="2781681"/>
            <a:ext cx="814578" cy="814578"/>
            <a:chOff x="0" y="0"/>
            <a:chExt cx="1086104" cy="108610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187198"/>
                  </a:moveTo>
                  <a:cubicBezTo>
                    <a:pt x="0" y="83820"/>
                    <a:pt x="83820" y="0"/>
                    <a:pt x="187198" y="0"/>
                  </a:cubicBezTo>
                  <a:lnTo>
                    <a:pt x="898906" y="0"/>
                  </a:lnTo>
                  <a:cubicBezTo>
                    <a:pt x="1002284" y="0"/>
                    <a:pt x="1086104" y="83820"/>
                    <a:pt x="1086104" y="187198"/>
                  </a:cubicBezTo>
                  <a:lnTo>
                    <a:pt x="1086104" y="898906"/>
                  </a:lnTo>
                  <a:cubicBezTo>
                    <a:pt x="1086104" y="1002284"/>
                    <a:pt x="1002284" y="1086104"/>
                    <a:pt x="898906" y="1086104"/>
                  </a:cubicBezTo>
                  <a:lnTo>
                    <a:pt x="187198" y="1086104"/>
                  </a:lnTo>
                  <a:cubicBezTo>
                    <a:pt x="83820" y="1086104"/>
                    <a:pt x="0" y="1002284"/>
                    <a:pt x="0" y="898906"/>
                  </a:cubicBezTo>
                  <a:close/>
                </a:path>
              </a:pathLst>
            </a:custGeom>
            <a:solidFill>
              <a:srgbClr val="E9FBF7"/>
            </a:solidFill>
            <a:ln w="19050" cap="sq">
              <a:solidFill>
                <a:srgbClr val="E9FBF7"/>
              </a:solidFill>
              <a:prstDash val="solid"/>
              <a:miter/>
            </a:ln>
          </p:spPr>
        </p:sp>
      </p:grpSp>
      <p:sp>
        <p:nvSpPr>
          <p:cNvPr name="Freeform 37" id="37" descr="/opt/nvm/versions/node/v22.16.0/lib/node_modules/@fortawesome/fontawesome-free/svgs/brands/swift.svg"/>
          <p:cNvSpPr/>
          <p:nvPr/>
        </p:nvSpPr>
        <p:spPr>
          <a:xfrm flipH="false" flipV="false" rot="0">
            <a:off x="6966014" y="2969514"/>
            <a:ext cx="360045" cy="411480"/>
          </a:xfrm>
          <a:custGeom>
            <a:avLst/>
            <a:gdLst/>
            <a:ahLst/>
            <a:cxnLst/>
            <a:rect r="r" b="b" t="t" l="l"/>
            <a:pathLst>
              <a:path h="411480" w="360045">
                <a:moveTo>
                  <a:pt x="0" y="0"/>
                </a:moveTo>
                <a:lnTo>
                  <a:pt x="360044" y="0"/>
                </a:lnTo>
                <a:lnTo>
                  <a:pt x="360044" y="411480"/>
                </a:lnTo>
                <a:lnTo>
                  <a:pt x="0" y="4114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57" r="0" b="-657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5623560" y="3792474"/>
            <a:ext cx="3086100" cy="301752"/>
            <a:chOff x="0" y="0"/>
            <a:chExt cx="4114800" cy="4023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114800" cy="402336"/>
            </a:xfrm>
            <a:custGeom>
              <a:avLst/>
              <a:gdLst/>
              <a:ahLst/>
              <a:cxnLst/>
              <a:rect r="r" b="b" t="t" l="l"/>
              <a:pathLst>
                <a:path h="402336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278" r="0" b="-14927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411480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iOS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623560" y="4190238"/>
            <a:ext cx="3086100" cy="342900"/>
            <a:chOff x="0" y="0"/>
            <a:chExt cx="4114800" cy="457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14800" cy="457200"/>
            </a:xfrm>
            <a:custGeom>
              <a:avLst/>
              <a:gdLst/>
              <a:ahLst/>
              <a:cxnLst/>
              <a:rect r="r" b="b" t="t" l="l"/>
              <a:pathLst>
                <a:path h="45720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4114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Swift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564243" y="2438781"/>
            <a:ext cx="3653790" cy="2323338"/>
            <a:chOff x="0" y="0"/>
            <a:chExt cx="4871720" cy="30977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71720" cy="3097784"/>
            </a:xfrm>
            <a:custGeom>
              <a:avLst/>
              <a:gdLst/>
              <a:ahLst/>
              <a:cxnLst/>
              <a:rect r="r" b="b" t="t" l="l"/>
              <a:pathLst>
                <a:path h="3097784" w="487172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724146" y="0"/>
                  </a:lnTo>
                  <a:cubicBezTo>
                    <a:pt x="4805680" y="0"/>
                    <a:pt x="4871720" y="66040"/>
                    <a:pt x="4871720" y="147574"/>
                  </a:cubicBezTo>
                  <a:lnTo>
                    <a:pt x="4871720" y="2950210"/>
                  </a:lnTo>
                  <a:cubicBezTo>
                    <a:pt x="4871720" y="3031744"/>
                    <a:pt x="4805680" y="3097784"/>
                    <a:pt x="4724146" y="3097784"/>
                  </a:cubicBezTo>
                  <a:lnTo>
                    <a:pt x="147574" y="3097784"/>
                  </a:lnTo>
                  <a:cubicBezTo>
                    <a:pt x="66040" y="3097784"/>
                    <a:pt x="0" y="3031744"/>
                    <a:pt x="0" y="295021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0963275" y="2781681"/>
            <a:ext cx="814578" cy="814578"/>
            <a:chOff x="0" y="0"/>
            <a:chExt cx="1086104" cy="108610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187198"/>
                  </a:moveTo>
                  <a:cubicBezTo>
                    <a:pt x="0" y="83820"/>
                    <a:pt x="83820" y="0"/>
                    <a:pt x="187198" y="0"/>
                  </a:cubicBezTo>
                  <a:lnTo>
                    <a:pt x="898906" y="0"/>
                  </a:lnTo>
                  <a:cubicBezTo>
                    <a:pt x="1002284" y="0"/>
                    <a:pt x="1086104" y="83820"/>
                    <a:pt x="1086104" y="187198"/>
                  </a:cubicBezTo>
                  <a:lnTo>
                    <a:pt x="1086104" y="898906"/>
                  </a:lnTo>
                  <a:cubicBezTo>
                    <a:pt x="1086104" y="1002284"/>
                    <a:pt x="1002284" y="1086104"/>
                    <a:pt x="898906" y="1086104"/>
                  </a:cubicBezTo>
                  <a:lnTo>
                    <a:pt x="187198" y="1086104"/>
                  </a:lnTo>
                  <a:cubicBezTo>
                    <a:pt x="83820" y="1086104"/>
                    <a:pt x="0" y="1002284"/>
                    <a:pt x="0" y="898906"/>
                  </a:cubicBezTo>
                  <a:close/>
                </a:path>
              </a:pathLst>
            </a:custGeom>
            <a:solidFill>
              <a:srgbClr val="FFF0E9"/>
            </a:solidFill>
            <a:ln w="19050" cap="sq">
              <a:solidFill>
                <a:srgbClr val="FFF0E9"/>
              </a:solidFill>
              <a:prstDash val="solid"/>
              <a:miter/>
            </a:ln>
          </p:spPr>
        </p:sp>
      </p:grpSp>
      <p:sp>
        <p:nvSpPr>
          <p:cNvPr name="Freeform 48" id="48" descr="/opt/nvm/versions/node/v22.16.0/lib/node_modules/@fortawesome/fontawesome-free/svgs/brands/java.svg"/>
          <p:cNvSpPr/>
          <p:nvPr/>
        </p:nvSpPr>
        <p:spPr>
          <a:xfrm flipH="false" flipV="false" rot="0">
            <a:off x="11216259" y="2969514"/>
            <a:ext cx="308610" cy="411480"/>
          </a:xfrm>
          <a:custGeom>
            <a:avLst/>
            <a:gdLst/>
            <a:ahLst/>
            <a:cxnLst/>
            <a:rect r="r" b="b" t="t" l="l"/>
            <a:pathLst>
              <a:path h="411480" w="308610">
                <a:moveTo>
                  <a:pt x="0" y="0"/>
                </a:moveTo>
                <a:lnTo>
                  <a:pt x="308610" y="0"/>
                </a:lnTo>
                <a:lnTo>
                  <a:pt x="308610" y="411480"/>
                </a:lnTo>
                <a:lnTo>
                  <a:pt x="0" y="4114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9848088" y="3792474"/>
            <a:ext cx="3086100" cy="301752"/>
            <a:chOff x="0" y="0"/>
            <a:chExt cx="4114800" cy="40233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14800" cy="402336"/>
            </a:xfrm>
            <a:custGeom>
              <a:avLst/>
              <a:gdLst/>
              <a:ahLst/>
              <a:cxnLst/>
              <a:rect r="r" b="b" t="t" l="l"/>
              <a:pathLst>
                <a:path h="402336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278" r="0" b="-14927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411480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Backend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848088" y="4190238"/>
            <a:ext cx="3086100" cy="342900"/>
            <a:chOff x="0" y="0"/>
            <a:chExt cx="4114800" cy="457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114800" cy="457200"/>
            </a:xfrm>
            <a:custGeom>
              <a:avLst/>
              <a:gdLst/>
              <a:ahLst/>
              <a:cxnLst/>
              <a:rect r="r" b="b" t="t" l="l"/>
              <a:pathLst>
                <a:path h="45720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4114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Java + Spring Boot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788771" y="2438781"/>
            <a:ext cx="3653790" cy="2323338"/>
            <a:chOff x="0" y="0"/>
            <a:chExt cx="4871720" cy="309778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871720" cy="3097784"/>
            </a:xfrm>
            <a:custGeom>
              <a:avLst/>
              <a:gdLst/>
              <a:ahLst/>
              <a:cxnLst/>
              <a:rect r="r" b="b" t="t" l="l"/>
              <a:pathLst>
                <a:path h="3097784" w="487172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724146" y="0"/>
                  </a:lnTo>
                  <a:cubicBezTo>
                    <a:pt x="4805680" y="0"/>
                    <a:pt x="4871720" y="66040"/>
                    <a:pt x="4871720" y="147574"/>
                  </a:cubicBezTo>
                  <a:lnTo>
                    <a:pt x="4871720" y="2950210"/>
                  </a:lnTo>
                  <a:cubicBezTo>
                    <a:pt x="4871720" y="3031744"/>
                    <a:pt x="4805680" y="3097784"/>
                    <a:pt x="4724146" y="3097784"/>
                  </a:cubicBezTo>
                  <a:lnTo>
                    <a:pt x="147574" y="3097784"/>
                  </a:lnTo>
                  <a:cubicBezTo>
                    <a:pt x="66040" y="3097784"/>
                    <a:pt x="0" y="3031744"/>
                    <a:pt x="0" y="295021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5187803" y="2781681"/>
            <a:ext cx="814578" cy="814578"/>
            <a:chOff x="0" y="0"/>
            <a:chExt cx="1086104" cy="108610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187198"/>
                  </a:moveTo>
                  <a:cubicBezTo>
                    <a:pt x="0" y="83820"/>
                    <a:pt x="83820" y="0"/>
                    <a:pt x="187198" y="0"/>
                  </a:cubicBezTo>
                  <a:lnTo>
                    <a:pt x="898906" y="0"/>
                  </a:lnTo>
                  <a:cubicBezTo>
                    <a:pt x="1002284" y="0"/>
                    <a:pt x="1086104" y="83820"/>
                    <a:pt x="1086104" y="187198"/>
                  </a:cubicBezTo>
                  <a:lnTo>
                    <a:pt x="1086104" y="898906"/>
                  </a:lnTo>
                  <a:cubicBezTo>
                    <a:pt x="1086104" y="1002284"/>
                    <a:pt x="1002284" y="1086104"/>
                    <a:pt x="898906" y="1086104"/>
                  </a:cubicBezTo>
                  <a:lnTo>
                    <a:pt x="187198" y="1086104"/>
                  </a:lnTo>
                  <a:cubicBezTo>
                    <a:pt x="83820" y="1086104"/>
                    <a:pt x="0" y="1002284"/>
                    <a:pt x="0" y="898906"/>
                  </a:cubicBezTo>
                  <a:close/>
                </a:path>
              </a:pathLst>
            </a:custGeom>
            <a:solidFill>
              <a:srgbClr val="E9FBF7"/>
            </a:solidFill>
            <a:ln w="19050" cap="sq">
              <a:solidFill>
                <a:srgbClr val="E9FBF7"/>
              </a:solidFill>
              <a:prstDash val="solid"/>
              <a:miter/>
            </a:ln>
          </p:spPr>
        </p:sp>
      </p:grpSp>
      <p:sp>
        <p:nvSpPr>
          <p:cNvPr name="Freeform 59" id="59" descr="/opt/nvm/versions/node/v22.16.0/lib/node_modules/@fortawesome/fontawesome-free/svgs/solid/database.svg"/>
          <p:cNvSpPr/>
          <p:nvPr/>
        </p:nvSpPr>
        <p:spPr>
          <a:xfrm flipH="false" flipV="false" rot="0">
            <a:off x="15415070" y="2969514"/>
            <a:ext cx="360045" cy="411480"/>
          </a:xfrm>
          <a:custGeom>
            <a:avLst/>
            <a:gdLst/>
            <a:ahLst/>
            <a:cxnLst/>
            <a:rect r="r" b="b" t="t" l="l"/>
            <a:pathLst>
              <a:path h="411480" w="360045">
                <a:moveTo>
                  <a:pt x="0" y="0"/>
                </a:moveTo>
                <a:lnTo>
                  <a:pt x="360044" y="0"/>
                </a:lnTo>
                <a:lnTo>
                  <a:pt x="360044" y="411480"/>
                </a:lnTo>
                <a:lnTo>
                  <a:pt x="0" y="4114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657" r="0" b="-657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14072616" y="3792474"/>
            <a:ext cx="3086100" cy="301752"/>
            <a:chOff x="0" y="0"/>
            <a:chExt cx="4114800" cy="40233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114800" cy="402336"/>
            </a:xfrm>
            <a:custGeom>
              <a:avLst/>
              <a:gdLst/>
              <a:ahLst/>
              <a:cxnLst/>
              <a:rect r="r" b="b" t="t" l="l"/>
              <a:pathLst>
                <a:path h="402336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278" r="0" b="-14927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411480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Database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4072616" y="4190238"/>
            <a:ext cx="3086100" cy="342900"/>
            <a:chOff x="0" y="0"/>
            <a:chExt cx="4114800" cy="4572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114800" cy="457200"/>
            </a:xfrm>
            <a:custGeom>
              <a:avLst/>
              <a:gdLst/>
              <a:ahLst/>
              <a:cxnLst/>
              <a:rect r="r" b="b" t="t" l="l"/>
              <a:pathLst>
                <a:path h="45720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4114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PostgreSQL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115187" y="5524881"/>
            <a:ext cx="3653790" cy="2323338"/>
            <a:chOff x="0" y="0"/>
            <a:chExt cx="4871720" cy="309778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871720" cy="3097784"/>
            </a:xfrm>
            <a:custGeom>
              <a:avLst/>
              <a:gdLst/>
              <a:ahLst/>
              <a:cxnLst/>
              <a:rect r="r" b="b" t="t" l="l"/>
              <a:pathLst>
                <a:path h="3097784" w="487172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724146" y="0"/>
                  </a:lnTo>
                  <a:cubicBezTo>
                    <a:pt x="4805680" y="0"/>
                    <a:pt x="4871720" y="66040"/>
                    <a:pt x="4871720" y="147574"/>
                  </a:cubicBezTo>
                  <a:lnTo>
                    <a:pt x="4871720" y="2950210"/>
                  </a:lnTo>
                  <a:cubicBezTo>
                    <a:pt x="4871720" y="3031744"/>
                    <a:pt x="4805680" y="3097784"/>
                    <a:pt x="4724146" y="3097784"/>
                  </a:cubicBezTo>
                  <a:lnTo>
                    <a:pt x="147574" y="3097784"/>
                  </a:lnTo>
                  <a:cubicBezTo>
                    <a:pt x="66040" y="3097784"/>
                    <a:pt x="0" y="3031744"/>
                    <a:pt x="0" y="295021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2514219" y="5867781"/>
            <a:ext cx="814578" cy="814578"/>
            <a:chOff x="0" y="0"/>
            <a:chExt cx="1086104" cy="108610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187198"/>
                  </a:moveTo>
                  <a:cubicBezTo>
                    <a:pt x="0" y="83820"/>
                    <a:pt x="83820" y="0"/>
                    <a:pt x="187198" y="0"/>
                  </a:cubicBezTo>
                  <a:lnTo>
                    <a:pt x="898906" y="0"/>
                  </a:lnTo>
                  <a:cubicBezTo>
                    <a:pt x="1002284" y="0"/>
                    <a:pt x="1086104" y="83820"/>
                    <a:pt x="1086104" y="187198"/>
                  </a:cubicBezTo>
                  <a:lnTo>
                    <a:pt x="1086104" y="898906"/>
                  </a:lnTo>
                  <a:cubicBezTo>
                    <a:pt x="1086104" y="1002284"/>
                    <a:pt x="1002284" y="1086104"/>
                    <a:pt x="898906" y="1086104"/>
                  </a:cubicBezTo>
                  <a:lnTo>
                    <a:pt x="187198" y="1086104"/>
                  </a:lnTo>
                  <a:cubicBezTo>
                    <a:pt x="83820" y="1086104"/>
                    <a:pt x="0" y="1002284"/>
                    <a:pt x="0" y="898906"/>
                  </a:cubicBezTo>
                  <a:close/>
                </a:path>
              </a:pathLst>
            </a:custGeom>
            <a:solidFill>
              <a:srgbClr val="FFF0E9"/>
            </a:solidFill>
            <a:ln w="19050" cap="sq">
              <a:solidFill>
                <a:srgbClr val="FFF0E9"/>
              </a:solidFill>
              <a:prstDash val="solid"/>
              <a:miter/>
            </a:ln>
          </p:spPr>
        </p:sp>
      </p:grpSp>
      <p:sp>
        <p:nvSpPr>
          <p:cNvPr name="Freeform 70" id="70" descr="/opt/nvm/versions/node/v22.16.0/lib/node_modules/@fortawesome/fontawesome-free/svgs/brands/google.svg"/>
          <p:cNvSpPr/>
          <p:nvPr/>
        </p:nvSpPr>
        <p:spPr>
          <a:xfrm flipH="false" flipV="false" rot="0">
            <a:off x="2725407" y="6055614"/>
            <a:ext cx="392192" cy="411480"/>
          </a:xfrm>
          <a:custGeom>
            <a:avLst/>
            <a:gdLst/>
            <a:ahLst/>
            <a:cxnLst/>
            <a:rect r="r" b="b" t="t" l="l"/>
            <a:pathLst>
              <a:path h="411480" w="392192">
                <a:moveTo>
                  <a:pt x="0" y="0"/>
                </a:moveTo>
                <a:lnTo>
                  <a:pt x="392192" y="0"/>
                </a:lnTo>
                <a:lnTo>
                  <a:pt x="392192" y="411480"/>
                </a:lnTo>
                <a:lnTo>
                  <a:pt x="0" y="4114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75" t="0" r="-72" b="0"/>
            </a:stretch>
          </a:blipFill>
        </p:spPr>
      </p:sp>
      <p:grpSp>
        <p:nvGrpSpPr>
          <p:cNvPr name="Group 71" id="71"/>
          <p:cNvGrpSpPr/>
          <p:nvPr/>
        </p:nvGrpSpPr>
        <p:grpSpPr>
          <a:xfrm rot="0">
            <a:off x="1399032" y="6878574"/>
            <a:ext cx="3086100" cy="301752"/>
            <a:chOff x="0" y="0"/>
            <a:chExt cx="4114800" cy="40233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114800" cy="402336"/>
            </a:xfrm>
            <a:custGeom>
              <a:avLst/>
              <a:gdLst/>
              <a:ahLst/>
              <a:cxnLst/>
              <a:rect r="r" b="b" t="t" l="l"/>
              <a:pathLst>
                <a:path h="402336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278" r="0" b="-149278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411480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Cloud &amp; Realtime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99032" y="7276338"/>
            <a:ext cx="3086100" cy="342900"/>
            <a:chOff x="0" y="0"/>
            <a:chExt cx="4114800" cy="4572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114800" cy="457200"/>
            </a:xfrm>
            <a:custGeom>
              <a:avLst/>
              <a:gdLst/>
              <a:ahLst/>
              <a:cxnLst/>
              <a:rect r="r" b="b" t="t" l="l"/>
              <a:pathLst>
                <a:path h="45720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4114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Firebase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339715" y="5524881"/>
            <a:ext cx="3653790" cy="2323338"/>
            <a:chOff x="0" y="0"/>
            <a:chExt cx="4871720" cy="309778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871720" cy="3097784"/>
            </a:xfrm>
            <a:custGeom>
              <a:avLst/>
              <a:gdLst/>
              <a:ahLst/>
              <a:cxnLst/>
              <a:rect r="r" b="b" t="t" l="l"/>
              <a:pathLst>
                <a:path h="3097784" w="487172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724146" y="0"/>
                  </a:lnTo>
                  <a:cubicBezTo>
                    <a:pt x="4805680" y="0"/>
                    <a:pt x="4871720" y="66040"/>
                    <a:pt x="4871720" y="147574"/>
                  </a:cubicBezTo>
                  <a:lnTo>
                    <a:pt x="4871720" y="2950210"/>
                  </a:lnTo>
                  <a:cubicBezTo>
                    <a:pt x="4871720" y="3031744"/>
                    <a:pt x="4805680" y="3097784"/>
                    <a:pt x="4724146" y="3097784"/>
                  </a:cubicBezTo>
                  <a:lnTo>
                    <a:pt x="147574" y="3097784"/>
                  </a:lnTo>
                  <a:cubicBezTo>
                    <a:pt x="66040" y="3097784"/>
                    <a:pt x="0" y="3031744"/>
                    <a:pt x="0" y="295021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6738747" y="5867781"/>
            <a:ext cx="814578" cy="814578"/>
            <a:chOff x="0" y="0"/>
            <a:chExt cx="1086104" cy="108610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187198"/>
                  </a:moveTo>
                  <a:cubicBezTo>
                    <a:pt x="0" y="83820"/>
                    <a:pt x="83820" y="0"/>
                    <a:pt x="187198" y="0"/>
                  </a:cubicBezTo>
                  <a:lnTo>
                    <a:pt x="898906" y="0"/>
                  </a:lnTo>
                  <a:cubicBezTo>
                    <a:pt x="1002284" y="0"/>
                    <a:pt x="1086104" y="83820"/>
                    <a:pt x="1086104" y="187198"/>
                  </a:cubicBezTo>
                  <a:lnTo>
                    <a:pt x="1086104" y="898906"/>
                  </a:lnTo>
                  <a:cubicBezTo>
                    <a:pt x="1086104" y="1002284"/>
                    <a:pt x="1002284" y="1086104"/>
                    <a:pt x="898906" y="1086104"/>
                  </a:cubicBezTo>
                  <a:lnTo>
                    <a:pt x="187198" y="1086104"/>
                  </a:lnTo>
                  <a:cubicBezTo>
                    <a:pt x="83820" y="1086104"/>
                    <a:pt x="0" y="1002284"/>
                    <a:pt x="0" y="898906"/>
                  </a:cubicBezTo>
                  <a:close/>
                </a:path>
              </a:pathLst>
            </a:custGeom>
            <a:solidFill>
              <a:srgbClr val="E9FBF7"/>
            </a:solidFill>
            <a:ln w="19050" cap="sq">
              <a:solidFill>
                <a:srgbClr val="E9FBF7"/>
              </a:solidFill>
              <a:prstDash val="solid"/>
              <a:miter/>
            </a:ln>
          </p:spPr>
        </p:sp>
      </p:grpSp>
      <p:sp>
        <p:nvSpPr>
          <p:cNvPr name="Freeform 81" id="81" descr="/opt/nvm/versions/node/v22.16.0/lib/node_modules/@fortawesome/fontawesome-free/svgs/solid/brain.svg"/>
          <p:cNvSpPr/>
          <p:nvPr/>
        </p:nvSpPr>
        <p:spPr>
          <a:xfrm flipH="false" flipV="false" rot="0">
            <a:off x="6940296" y="6055614"/>
            <a:ext cx="411480" cy="411480"/>
          </a:xfrm>
          <a:custGeom>
            <a:avLst/>
            <a:gdLst/>
            <a:ahLst/>
            <a:cxnLst/>
            <a:rect r="r" b="b" t="t" l="l"/>
            <a:pathLst>
              <a:path h="411480" w="411480">
                <a:moveTo>
                  <a:pt x="0" y="0"/>
                </a:moveTo>
                <a:lnTo>
                  <a:pt x="411480" y="0"/>
                </a:lnTo>
                <a:lnTo>
                  <a:pt x="411480" y="411480"/>
                </a:lnTo>
                <a:lnTo>
                  <a:pt x="0" y="41148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2" id="82"/>
          <p:cNvGrpSpPr/>
          <p:nvPr/>
        </p:nvGrpSpPr>
        <p:grpSpPr>
          <a:xfrm rot="0">
            <a:off x="5623560" y="6878574"/>
            <a:ext cx="3086100" cy="301752"/>
            <a:chOff x="0" y="0"/>
            <a:chExt cx="4114800" cy="40233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114800" cy="402336"/>
            </a:xfrm>
            <a:custGeom>
              <a:avLst/>
              <a:gdLst/>
              <a:ahLst/>
              <a:cxnLst/>
              <a:rect r="r" b="b" t="t" l="l"/>
              <a:pathLst>
                <a:path h="402336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278" r="0" b="-149278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"/>
              <a:ext cx="411480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AI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5623560" y="7276338"/>
            <a:ext cx="3086100" cy="342900"/>
            <a:chOff x="0" y="0"/>
            <a:chExt cx="4114800" cy="4572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114800" cy="457200"/>
            </a:xfrm>
            <a:custGeom>
              <a:avLst/>
              <a:gdLst/>
              <a:ahLst/>
              <a:cxnLst/>
              <a:rect r="r" b="b" t="t" l="l"/>
              <a:pathLst>
                <a:path h="45720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4114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Gemini + RAG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564243" y="5524881"/>
            <a:ext cx="3653790" cy="2323338"/>
            <a:chOff x="0" y="0"/>
            <a:chExt cx="4871720" cy="309778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871720" cy="3097784"/>
            </a:xfrm>
            <a:custGeom>
              <a:avLst/>
              <a:gdLst/>
              <a:ahLst/>
              <a:cxnLst/>
              <a:rect r="r" b="b" t="t" l="l"/>
              <a:pathLst>
                <a:path h="3097784" w="487172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724146" y="0"/>
                  </a:lnTo>
                  <a:cubicBezTo>
                    <a:pt x="4805680" y="0"/>
                    <a:pt x="4871720" y="66040"/>
                    <a:pt x="4871720" y="147574"/>
                  </a:cubicBezTo>
                  <a:lnTo>
                    <a:pt x="4871720" y="2950210"/>
                  </a:lnTo>
                  <a:cubicBezTo>
                    <a:pt x="4871720" y="3031744"/>
                    <a:pt x="4805680" y="3097784"/>
                    <a:pt x="4724146" y="3097784"/>
                  </a:cubicBezTo>
                  <a:lnTo>
                    <a:pt x="147574" y="3097784"/>
                  </a:lnTo>
                  <a:cubicBezTo>
                    <a:pt x="66040" y="3097784"/>
                    <a:pt x="0" y="3031744"/>
                    <a:pt x="0" y="295021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0963275" y="5867781"/>
            <a:ext cx="814578" cy="814578"/>
            <a:chOff x="0" y="0"/>
            <a:chExt cx="1086104" cy="108610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187198"/>
                  </a:moveTo>
                  <a:cubicBezTo>
                    <a:pt x="0" y="83820"/>
                    <a:pt x="83820" y="0"/>
                    <a:pt x="187198" y="0"/>
                  </a:cubicBezTo>
                  <a:lnTo>
                    <a:pt x="898906" y="0"/>
                  </a:lnTo>
                  <a:cubicBezTo>
                    <a:pt x="1002284" y="0"/>
                    <a:pt x="1086104" y="83820"/>
                    <a:pt x="1086104" y="187198"/>
                  </a:cubicBezTo>
                  <a:lnTo>
                    <a:pt x="1086104" y="898906"/>
                  </a:lnTo>
                  <a:cubicBezTo>
                    <a:pt x="1086104" y="1002284"/>
                    <a:pt x="1002284" y="1086104"/>
                    <a:pt x="898906" y="1086104"/>
                  </a:cubicBezTo>
                  <a:lnTo>
                    <a:pt x="187198" y="1086104"/>
                  </a:lnTo>
                  <a:cubicBezTo>
                    <a:pt x="83820" y="1086104"/>
                    <a:pt x="0" y="1002284"/>
                    <a:pt x="0" y="898906"/>
                  </a:cubicBezTo>
                  <a:close/>
                </a:path>
              </a:pathLst>
            </a:custGeom>
            <a:solidFill>
              <a:srgbClr val="FFF0E9"/>
            </a:solidFill>
            <a:ln w="19050" cap="sq">
              <a:solidFill>
                <a:srgbClr val="FFF0E9"/>
              </a:solidFill>
              <a:prstDash val="solid"/>
              <a:miter/>
            </a:ln>
          </p:spPr>
        </p:sp>
      </p:grpSp>
      <p:sp>
        <p:nvSpPr>
          <p:cNvPr name="Freeform 92" id="92" descr="/opt/nvm/versions/node/v22.16.0/lib/node_modules/@fortawesome/fontawesome-free/svgs/brands/figma.svg"/>
          <p:cNvSpPr/>
          <p:nvPr/>
        </p:nvSpPr>
        <p:spPr>
          <a:xfrm flipH="false" flipV="false" rot="0">
            <a:off x="11216259" y="6055614"/>
            <a:ext cx="308610" cy="411480"/>
          </a:xfrm>
          <a:custGeom>
            <a:avLst/>
            <a:gdLst/>
            <a:ahLst/>
            <a:cxnLst/>
            <a:rect r="r" b="b" t="t" l="l"/>
            <a:pathLst>
              <a:path h="411480" w="308610">
                <a:moveTo>
                  <a:pt x="0" y="0"/>
                </a:moveTo>
                <a:lnTo>
                  <a:pt x="308610" y="0"/>
                </a:lnTo>
                <a:lnTo>
                  <a:pt x="308610" y="411480"/>
                </a:lnTo>
                <a:lnTo>
                  <a:pt x="0" y="41148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3" id="93"/>
          <p:cNvGrpSpPr/>
          <p:nvPr/>
        </p:nvGrpSpPr>
        <p:grpSpPr>
          <a:xfrm rot="0">
            <a:off x="9848088" y="6878574"/>
            <a:ext cx="3086100" cy="301752"/>
            <a:chOff x="0" y="0"/>
            <a:chExt cx="4114800" cy="40233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114800" cy="402336"/>
            </a:xfrm>
            <a:custGeom>
              <a:avLst/>
              <a:gdLst/>
              <a:ahLst/>
              <a:cxnLst/>
              <a:rect r="r" b="b" t="t" l="l"/>
              <a:pathLst>
                <a:path h="402336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278" r="0" b="-149278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9525"/>
              <a:ext cx="411480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Design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848088" y="7276338"/>
            <a:ext cx="3086100" cy="342900"/>
            <a:chOff x="0" y="0"/>
            <a:chExt cx="4114800" cy="4572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114800" cy="457200"/>
            </a:xfrm>
            <a:custGeom>
              <a:avLst/>
              <a:gdLst/>
              <a:ahLst/>
              <a:cxnLst/>
              <a:rect r="r" b="b" t="t" l="l"/>
              <a:pathLst>
                <a:path h="45720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4114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Figma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3788771" y="5524881"/>
            <a:ext cx="3653790" cy="2323338"/>
            <a:chOff x="0" y="0"/>
            <a:chExt cx="4871720" cy="3097784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871720" cy="3097784"/>
            </a:xfrm>
            <a:custGeom>
              <a:avLst/>
              <a:gdLst/>
              <a:ahLst/>
              <a:cxnLst/>
              <a:rect r="r" b="b" t="t" l="l"/>
              <a:pathLst>
                <a:path h="3097784" w="487172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724146" y="0"/>
                  </a:lnTo>
                  <a:cubicBezTo>
                    <a:pt x="4805680" y="0"/>
                    <a:pt x="4871720" y="66040"/>
                    <a:pt x="4871720" y="147574"/>
                  </a:cubicBezTo>
                  <a:lnTo>
                    <a:pt x="4871720" y="2950210"/>
                  </a:lnTo>
                  <a:cubicBezTo>
                    <a:pt x="4871720" y="3031744"/>
                    <a:pt x="4805680" y="3097784"/>
                    <a:pt x="4724146" y="3097784"/>
                  </a:cubicBezTo>
                  <a:lnTo>
                    <a:pt x="147574" y="3097784"/>
                  </a:lnTo>
                  <a:cubicBezTo>
                    <a:pt x="66040" y="3097784"/>
                    <a:pt x="0" y="3031744"/>
                    <a:pt x="0" y="295021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15187803" y="5867781"/>
            <a:ext cx="814578" cy="814578"/>
            <a:chOff x="0" y="0"/>
            <a:chExt cx="1086104" cy="108610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187198"/>
                  </a:moveTo>
                  <a:cubicBezTo>
                    <a:pt x="0" y="83820"/>
                    <a:pt x="83820" y="0"/>
                    <a:pt x="187198" y="0"/>
                  </a:cubicBezTo>
                  <a:lnTo>
                    <a:pt x="898906" y="0"/>
                  </a:lnTo>
                  <a:cubicBezTo>
                    <a:pt x="1002284" y="0"/>
                    <a:pt x="1086104" y="83820"/>
                    <a:pt x="1086104" y="187198"/>
                  </a:cubicBezTo>
                  <a:lnTo>
                    <a:pt x="1086104" y="898906"/>
                  </a:lnTo>
                  <a:cubicBezTo>
                    <a:pt x="1086104" y="1002284"/>
                    <a:pt x="1002284" y="1086104"/>
                    <a:pt x="898906" y="1086104"/>
                  </a:cubicBezTo>
                  <a:lnTo>
                    <a:pt x="187198" y="1086104"/>
                  </a:lnTo>
                  <a:cubicBezTo>
                    <a:pt x="83820" y="1086104"/>
                    <a:pt x="0" y="1002284"/>
                    <a:pt x="0" y="898906"/>
                  </a:cubicBezTo>
                  <a:close/>
                </a:path>
              </a:pathLst>
            </a:custGeom>
            <a:solidFill>
              <a:srgbClr val="E9FBF7"/>
            </a:solidFill>
            <a:ln w="19050" cap="sq">
              <a:solidFill>
                <a:srgbClr val="E9FBF7"/>
              </a:solidFill>
              <a:prstDash val="solid"/>
              <a:miter/>
            </a:ln>
          </p:spPr>
        </p:sp>
      </p:grpSp>
      <p:sp>
        <p:nvSpPr>
          <p:cNvPr name="Freeform 103" id="103" descr="/opt/nvm/versions/node/v22.16.0/lib/node_modules/@fortawesome/fontawesome-free/svgs/brands/github.svg"/>
          <p:cNvSpPr/>
          <p:nvPr/>
        </p:nvSpPr>
        <p:spPr>
          <a:xfrm flipH="false" flipV="false" rot="0">
            <a:off x="15395781" y="6055614"/>
            <a:ext cx="398621" cy="411480"/>
          </a:xfrm>
          <a:custGeom>
            <a:avLst/>
            <a:gdLst/>
            <a:ahLst/>
            <a:cxnLst/>
            <a:rect r="r" b="b" t="t" l="l"/>
            <a:pathLst>
              <a:path h="411480" w="398621">
                <a:moveTo>
                  <a:pt x="0" y="0"/>
                </a:moveTo>
                <a:lnTo>
                  <a:pt x="398622" y="0"/>
                </a:lnTo>
                <a:lnTo>
                  <a:pt x="398622" y="411480"/>
                </a:lnTo>
                <a:lnTo>
                  <a:pt x="0" y="41148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-743" r="0" b="-745"/>
            </a:stretch>
          </a:blipFill>
        </p:spPr>
      </p:sp>
      <p:grpSp>
        <p:nvGrpSpPr>
          <p:cNvPr name="Group 104" id="104"/>
          <p:cNvGrpSpPr/>
          <p:nvPr/>
        </p:nvGrpSpPr>
        <p:grpSpPr>
          <a:xfrm rot="0">
            <a:off x="14072616" y="6878574"/>
            <a:ext cx="3086100" cy="301752"/>
            <a:chOff x="0" y="0"/>
            <a:chExt cx="4114800" cy="40233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114800" cy="402336"/>
            </a:xfrm>
            <a:custGeom>
              <a:avLst/>
              <a:gdLst/>
              <a:ahLst/>
              <a:cxnLst/>
              <a:rect r="r" b="b" t="t" l="l"/>
              <a:pathLst>
                <a:path h="402336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278" r="0" b="-149278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411480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Collaboration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4072616" y="7276338"/>
            <a:ext cx="3086100" cy="342900"/>
            <a:chOff x="0" y="0"/>
            <a:chExt cx="4114800" cy="4572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114800" cy="457200"/>
            </a:xfrm>
            <a:custGeom>
              <a:avLst/>
              <a:gdLst/>
              <a:ahLst/>
              <a:cxnLst/>
              <a:rect r="r" b="b" t="t" l="l"/>
              <a:pathLst>
                <a:path h="45720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0"/>
              <a:ext cx="4114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GitHub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69926"/>
            <a:chOff x="0" y="0"/>
            <a:chExt cx="24408790" cy="2265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26568"/>
            </a:xfrm>
            <a:custGeom>
              <a:avLst/>
              <a:gdLst/>
              <a:ahLst/>
              <a:cxnLst/>
              <a:rect r="r" b="b" t="t" l="l"/>
              <a:pathLst>
                <a:path h="22656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26568"/>
                  </a:lnTo>
                  <a:lnTo>
                    <a:pt x="0" y="226568"/>
                  </a:lnTo>
                  <a:close/>
                </a:path>
              </a:pathLst>
            </a:custGeom>
            <a:solidFill>
              <a:srgbClr val="FF7A45"/>
            </a:solidFill>
            <a:ln w="19050" cap="sq">
              <a:solidFill>
                <a:srgbClr val="FF7A4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141351"/>
            <a:ext cx="18306593" cy="73914"/>
            <a:chOff x="0" y="0"/>
            <a:chExt cx="24408790" cy="985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98552"/>
            </a:xfrm>
            <a:custGeom>
              <a:avLst/>
              <a:gdLst/>
              <a:ahLst/>
              <a:cxnLst/>
              <a:rect r="r" b="b" t="t" l="l"/>
              <a:pathLst>
                <a:path h="98552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98552"/>
                  </a:lnTo>
                  <a:lnTo>
                    <a:pt x="0" y="98552"/>
                  </a:lnTo>
                  <a:close/>
                </a:path>
              </a:pathLst>
            </a:custGeom>
            <a:solidFill>
              <a:srgbClr val="2DD4BF"/>
            </a:solidFill>
            <a:ln w="19050" cap="sq">
              <a:solidFill>
                <a:srgbClr val="2DD4B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32688" y="576072"/>
            <a:ext cx="12070080" cy="576072"/>
            <a:chOff x="0" y="0"/>
            <a:chExt cx="16093440" cy="7680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93439" cy="768096"/>
            </a:xfrm>
            <a:custGeom>
              <a:avLst/>
              <a:gdLst/>
              <a:ahLst/>
              <a:cxnLst/>
              <a:rect r="r" b="b" t="t" l="l"/>
              <a:pathLst>
                <a:path h="768096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257" r="0" b="-35825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609344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Backend Architecture &amp; Access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0120" y="1234440"/>
            <a:ext cx="14813280" cy="411480"/>
            <a:chOff x="0" y="0"/>
            <a:chExt cx="1975104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751039" cy="548640"/>
            </a:xfrm>
            <a:custGeom>
              <a:avLst/>
              <a:gdLst/>
              <a:ahLst/>
              <a:cxnLst/>
              <a:rect r="r" b="b" t="t" l="l"/>
              <a:pathLst>
                <a:path h="54864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97510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Authoritative business services stay separate from the Android-first Challenge runtime.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664940" y="644652"/>
            <a:ext cx="685800" cy="384048"/>
            <a:chOff x="0" y="0"/>
            <a:chExt cx="9144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914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10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2400">
            <a:off x="926973" y="9761030"/>
            <a:ext cx="16402050" cy="0"/>
          </a:xfrm>
          <a:prstGeom prst="line">
            <a:avLst/>
          </a:prstGeom>
          <a:ln cap="rnd" w="9525">
            <a:solidFill>
              <a:srgbClr val="D9DE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60120" y="9848088"/>
            <a:ext cx="5623560" cy="192024"/>
            <a:chOff x="0" y="0"/>
            <a:chExt cx="7498080" cy="2560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98080" cy="256032"/>
            </a:xfrm>
            <a:custGeom>
              <a:avLst/>
              <a:gdLst/>
              <a:ahLst/>
              <a:cxnLst/>
              <a:rect r="r" b="b" t="t" l="l"/>
              <a:pathLst>
                <a:path h="256032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49808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9AA3B8"/>
                  </a:solidFill>
                  <a:latin typeface="Aptos"/>
                  <a:ea typeface="Aptos"/>
                  <a:cs typeface="Aptos"/>
                  <a:sym typeface="Aptos"/>
                </a:rPr>
                <a:t>CAREER PILOT  •  ITI Intake 46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253460" y="9848088"/>
            <a:ext cx="1028700" cy="192024"/>
            <a:chOff x="0" y="0"/>
            <a:chExt cx="1371600" cy="2560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71600" cy="256032"/>
            </a:xfrm>
            <a:custGeom>
              <a:avLst/>
              <a:gdLst/>
              <a:ahLst/>
              <a:cxnLst/>
              <a:rect r="r" b="b" t="t" l="l"/>
              <a:pathLst>
                <a:path h="25603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37160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>
                  <a:solidFill>
                    <a:srgbClr val="9AA3B8"/>
                  </a:solidFill>
                  <a:latin typeface="Aptos"/>
                  <a:ea typeface="Aptos"/>
                  <a:cs typeface="Aptos"/>
                  <a:sym typeface="Aptos"/>
                </a:rPr>
                <a:t>10 / 17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19175" y="2802255"/>
            <a:ext cx="2899410" cy="1459230"/>
            <a:chOff x="0" y="0"/>
            <a:chExt cx="3865880" cy="1945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65880" cy="1945640"/>
            </a:xfrm>
            <a:custGeom>
              <a:avLst/>
              <a:gdLst/>
              <a:ahLst/>
              <a:cxnLst/>
              <a:rect r="r" b="b" t="t" l="l"/>
              <a:pathLst>
                <a:path h="1945640" w="386588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3717671" y="0"/>
                  </a:lnTo>
                  <a:cubicBezTo>
                    <a:pt x="3799586" y="0"/>
                    <a:pt x="3865880" y="66421"/>
                    <a:pt x="3865880" y="148209"/>
                  </a:cubicBezTo>
                  <a:lnTo>
                    <a:pt x="3865880" y="1797431"/>
                  </a:lnTo>
                  <a:cubicBezTo>
                    <a:pt x="3865880" y="1879346"/>
                    <a:pt x="3799459" y="1945640"/>
                    <a:pt x="371767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FFF0E9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75588" y="3086100"/>
            <a:ext cx="2386584" cy="342900"/>
            <a:chOff x="0" y="0"/>
            <a:chExt cx="3182112" cy="457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82112" cy="457200"/>
            </a:xfrm>
            <a:custGeom>
              <a:avLst/>
              <a:gdLst/>
              <a:ahLst/>
              <a:cxnLst/>
              <a:rect r="r" b="b" t="t" l="l"/>
              <a:pathLst>
                <a:path h="457200" w="3182112">
                  <a:moveTo>
                    <a:pt x="0" y="0"/>
                  </a:moveTo>
                  <a:lnTo>
                    <a:pt x="3182112" y="0"/>
                  </a:lnTo>
                  <a:lnTo>
                    <a:pt x="318211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615" r="0" b="-8561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3182112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Mobile Clients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75588" y="3579876"/>
            <a:ext cx="2386584" cy="301752"/>
            <a:chOff x="0" y="0"/>
            <a:chExt cx="3182112" cy="4023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182112" cy="402336"/>
            </a:xfrm>
            <a:custGeom>
              <a:avLst/>
              <a:gdLst/>
              <a:ahLst/>
              <a:cxnLst/>
              <a:rect r="r" b="b" t="t" l="l"/>
              <a:pathLst>
                <a:path h="402336" w="3182112">
                  <a:moveTo>
                    <a:pt x="0" y="0"/>
                  </a:moveTo>
                  <a:lnTo>
                    <a:pt x="3182112" y="0"/>
                  </a:lnTo>
                  <a:lnTo>
                    <a:pt x="3182112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108" r="0" b="-10410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3182112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Android • iOS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722495" y="1979295"/>
            <a:ext cx="3242310" cy="1459230"/>
            <a:chOff x="0" y="0"/>
            <a:chExt cx="4323080" cy="1945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323080" cy="1945640"/>
            </a:xfrm>
            <a:custGeom>
              <a:avLst/>
              <a:gdLst/>
              <a:ahLst/>
              <a:cxnLst/>
              <a:rect r="r" b="b" t="t" l="l"/>
              <a:pathLst>
                <a:path h="1945640" w="432308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4174871" y="0"/>
                  </a:lnTo>
                  <a:cubicBezTo>
                    <a:pt x="4256786" y="0"/>
                    <a:pt x="4323080" y="66421"/>
                    <a:pt x="4323080" y="148209"/>
                  </a:cubicBezTo>
                  <a:lnTo>
                    <a:pt x="4323080" y="1797431"/>
                  </a:lnTo>
                  <a:cubicBezTo>
                    <a:pt x="4323080" y="1879346"/>
                    <a:pt x="4256659" y="1945640"/>
                    <a:pt x="417487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4978908" y="2263140"/>
            <a:ext cx="2729484" cy="342900"/>
            <a:chOff x="0" y="0"/>
            <a:chExt cx="3639312" cy="457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39312" cy="457200"/>
            </a:xfrm>
            <a:custGeom>
              <a:avLst/>
              <a:gdLst/>
              <a:ahLst/>
              <a:cxnLst/>
              <a:rect r="r" b="b" t="t" l="l"/>
              <a:pathLst>
                <a:path h="457200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100" r="0" b="-10510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639312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API &amp; Security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978908" y="2756916"/>
            <a:ext cx="2729484" cy="301752"/>
            <a:chOff x="0" y="0"/>
            <a:chExt cx="3639312" cy="40233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639312" cy="402336"/>
            </a:xfrm>
            <a:custGeom>
              <a:avLst/>
              <a:gdLst/>
              <a:ahLst/>
              <a:cxnLst/>
              <a:rect r="r" b="b" t="t" l="l"/>
              <a:pathLst>
                <a:path h="402336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251" r="0" b="-12625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3639312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REST • JWT • validation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722495" y="4173855"/>
            <a:ext cx="3242310" cy="1459230"/>
            <a:chOff x="0" y="0"/>
            <a:chExt cx="4323080" cy="1945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323080" cy="1945640"/>
            </a:xfrm>
            <a:custGeom>
              <a:avLst/>
              <a:gdLst/>
              <a:ahLst/>
              <a:cxnLst/>
              <a:rect r="r" b="b" t="t" l="l"/>
              <a:pathLst>
                <a:path h="1945640" w="432308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4174871" y="0"/>
                  </a:lnTo>
                  <a:cubicBezTo>
                    <a:pt x="4256786" y="0"/>
                    <a:pt x="4323080" y="66421"/>
                    <a:pt x="4323080" y="148209"/>
                  </a:cubicBezTo>
                  <a:lnTo>
                    <a:pt x="4323080" y="1797431"/>
                  </a:lnTo>
                  <a:cubicBezTo>
                    <a:pt x="4323080" y="1879346"/>
                    <a:pt x="4256659" y="1945640"/>
                    <a:pt x="417487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4978908" y="4457700"/>
            <a:ext cx="2729484" cy="342900"/>
            <a:chOff x="0" y="0"/>
            <a:chExt cx="3639312" cy="457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639312" cy="457200"/>
            </a:xfrm>
            <a:custGeom>
              <a:avLst/>
              <a:gdLst/>
              <a:ahLst/>
              <a:cxnLst/>
              <a:rect r="r" b="b" t="t" l="l"/>
              <a:pathLst>
                <a:path h="457200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100" r="0" b="-10510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3639312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Domain Services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978908" y="4951476"/>
            <a:ext cx="2729484" cy="301752"/>
            <a:chOff x="0" y="0"/>
            <a:chExt cx="3639312" cy="4023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39312" cy="402336"/>
            </a:xfrm>
            <a:custGeom>
              <a:avLst/>
              <a:gdLst/>
              <a:ahLst/>
              <a:cxnLst/>
              <a:rect r="r" b="b" t="t" l="l"/>
              <a:pathLst>
                <a:path h="402336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251" r="0" b="-12625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3639312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Interview • ATS • Profile • Billing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768715" y="3076575"/>
            <a:ext cx="3379470" cy="1459230"/>
            <a:chOff x="0" y="0"/>
            <a:chExt cx="4505960" cy="1945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505960" cy="1945640"/>
            </a:xfrm>
            <a:custGeom>
              <a:avLst/>
              <a:gdLst/>
              <a:ahLst/>
              <a:cxnLst/>
              <a:rect r="r" b="b" t="t" l="l"/>
              <a:pathLst>
                <a:path h="1945640" w="450596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4357751" y="0"/>
                  </a:lnTo>
                  <a:cubicBezTo>
                    <a:pt x="4439666" y="0"/>
                    <a:pt x="4505960" y="66421"/>
                    <a:pt x="4505960" y="148209"/>
                  </a:cubicBezTo>
                  <a:lnTo>
                    <a:pt x="4505960" y="1797431"/>
                  </a:lnTo>
                  <a:cubicBezTo>
                    <a:pt x="4505960" y="1879346"/>
                    <a:pt x="4439539" y="1945640"/>
                    <a:pt x="435775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E9FBF7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025128" y="3360420"/>
            <a:ext cx="2866644" cy="342900"/>
            <a:chOff x="0" y="0"/>
            <a:chExt cx="3822192" cy="457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822192" cy="457200"/>
            </a:xfrm>
            <a:custGeom>
              <a:avLst/>
              <a:gdLst/>
              <a:ahLst/>
              <a:cxnLst/>
              <a:rect r="r" b="b" t="t" l="l"/>
              <a:pathLst>
                <a:path h="457200" w="3822192">
                  <a:moveTo>
                    <a:pt x="0" y="0"/>
                  </a:moveTo>
                  <a:lnTo>
                    <a:pt x="3822192" y="0"/>
                  </a:lnTo>
                  <a:lnTo>
                    <a:pt x="382219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894" r="0" b="-11289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822192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PostgreSQL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025128" y="3854196"/>
            <a:ext cx="2866644" cy="301752"/>
            <a:chOff x="0" y="0"/>
            <a:chExt cx="3822192" cy="40233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822192" cy="402336"/>
            </a:xfrm>
            <a:custGeom>
              <a:avLst/>
              <a:gdLst/>
              <a:ahLst/>
              <a:cxnLst/>
              <a:rect r="r" b="b" t="t" l="l"/>
              <a:pathLst>
                <a:path h="402336" w="3822192">
                  <a:moveTo>
                    <a:pt x="0" y="0"/>
                  </a:moveTo>
                  <a:lnTo>
                    <a:pt x="3822192" y="0"/>
                  </a:lnTo>
                  <a:lnTo>
                    <a:pt x="3822192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822192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Relational data + vector search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952095" y="1979295"/>
            <a:ext cx="3516630" cy="1459230"/>
            <a:chOff x="0" y="0"/>
            <a:chExt cx="4688840" cy="19456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688840" cy="1945640"/>
            </a:xfrm>
            <a:custGeom>
              <a:avLst/>
              <a:gdLst/>
              <a:ahLst/>
              <a:cxnLst/>
              <a:rect r="r" b="b" t="t" l="l"/>
              <a:pathLst>
                <a:path h="1945640" w="468884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4540631" y="0"/>
                  </a:lnTo>
                  <a:cubicBezTo>
                    <a:pt x="4622546" y="0"/>
                    <a:pt x="4688840" y="66421"/>
                    <a:pt x="4688840" y="148209"/>
                  </a:cubicBezTo>
                  <a:lnTo>
                    <a:pt x="4688840" y="1797431"/>
                  </a:lnTo>
                  <a:cubicBezTo>
                    <a:pt x="4688840" y="1879346"/>
                    <a:pt x="4622419" y="1945640"/>
                    <a:pt x="454063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3208508" y="2263140"/>
            <a:ext cx="3003804" cy="342900"/>
            <a:chOff x="0" y="0"/>
            <a:chExt cx="4005072" cy="457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005072" cy="457200"/>
            </a:xfrm>
            <a:custGeom>
              <a:avLst/>
              <a:gdLst/>
              <a:ahLst/>
              <a:cxnLst/>
              <a:rect r="r" b="b" t="t" l="l"/>
              <a:pathLst>
                <a:path h="457200" w="4005072">
                  <a:moveTo>
                    <a:pt x="0" y="0"/>
                  </a:moveTo>
                  <a:lnTo>
                    <a:pt x="4005072" y="0"/>
                  </a:lnTo>
                  <a:lnTo>
                    <a:pt x="400507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688" r="0" b="-12068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4005072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Services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208508" y="2756916"/>
            <a:ext cx="3003804" cy="301752"/>
            <a:chOff x="0" y="0"/>
            <a:chExt cx="4005072" cy="40233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005072" cy="402336"/>
            </a:xfrm>
            <a:custGeom>
              <a:avLst/>
              <a:gdLst/>
              <a:ahLst/>
              <a:cxnLst/>
              <a:rect r="r" b="b" t="t" l="l"/>
              <a:pathLst>
                <a:path h="402336" w="4005072">
                  <a:moveTo>
                    <a:pt x="0" y="0"/>
                  </a:moveTo>
                  <a:lnTo>
                    <a:pt x="4005072" y="0"/>
                  </a:lnTo>
                  <a:lnTo>
                    <a:pt x="4005072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964" r="0" b="-14396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4005072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RAG • Agents • ATS AI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952095" y="4722495"/>
            <a:ext cx="3516630" cy="1459230"/>
            <a:chOff x="0" y="0"/>
            <a:chExt cx="4688840" cy="1945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688840" cy="1945640"/>
            </a:xfrm>
            <a:custGeom>
              <a:avLst/>
              <a:gdLst/>
              <a:ahLst/>
              <a:cxnLst/>
              <a:rect r="r" b="b" t="t" l="l"/>
              <a:pathLst>
                <a:path h="1945640" w="468884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4540631" y="0"/>
                  </a:lnTo>
                  <a:cubicBezTo>
                    <a:pt x="4622546" y="0"/>
                    <a:pt x="4688840" y="66421"/>
                    <a:pt x="4688840" y="148209"/>
                  </a:cubicBezTo>
                  <a:lnTo>
                    <a:pt x="4688840" y="1797431"/>
                  </a:lnTo>
                  <a:cubicBezTo>
                    <a:pt x="4688840" y="1879346"/>
                    <a:pt x="4622419" y="1945640"/>
                    <a:pt x="454063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3208508" y="5006340"/>
            <a:ext cx="3003804" cy="342900"/>
            <a:chOff x="0" y="0"/>
            <a:chExt cx="4005072" cy="4572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005072" cy="457200"/>
            </a:xfrm>
            <a:custGeom>
              <a:avLst/>
              <a:gdLst/>
              <a:ahLst/>
              <a:cxnLst/>
              <a:rect r="r" b="b" t="t" l="l"/>
              <a:pathLst>
                <a:path h="457200" w="4005072">
                  <a:moveTo>
                    <a:pt x="0" y="0"/>
                  </a:moveTo>
                  <a:lnTo>
                    <a:pt x="4005072" y="0"/>
                  </a:lnTo>
                  <a:lnTo>
                    <a:pt x="400507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688" r="0" b="-120688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4005072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Payment Service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3208508" y="5500116"/>
            <a:ext cx="3003804" cy="301752"/>
            <a:chOff x="0" y="0"/>
            <a:chExt cx="4005072" cy="40233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005072" cy="402336"/>
            </a:xfrm>
            <a:custGeom>
              <a:avLst/>
              <a:gdLst/>
              <a:ahLst/>
              <a:cxnLst/>
              <a:rect r="r" b="b" t="t" l="l"/>
              <a:pathLst>
                <a:path h="402336" w="4005072">
                  <a:moveTo>
                    <a:pt x="0" y="0"/>
                  </a:moveTo>
                  <a:lnTo>
                    <a:pt x="4005072" y="0"/>
                  </a:lnTo>
                  <a:lnTo>
                    <a:pt x="4005072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964" r="0" b="-143964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4005072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Secure checkout + settlement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3899535" y="3488055"/>
            <a:ext cx="677418" cy="499110"/>
            <a:chOff x="0" y="0"/>
            <a:chExt cx="903224" cy="6654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03224" cy="665480"/>
            </a:xfrm>
            <a:custGeom>
              <a:avLst/>
              <a:gdLst/>
              <a:ahLst/>
              <a:cxnLst/>
              <a:rect r="r" b="b" t="t" l="l"/>
              <a:pathLst>
                <a:path h="665480" w="903224">
                  <a:moveTo>
                    <a:pt x="0" y="0"/>
                  </a:moveTo>
                  <a:lnTo>
                    <a:pt x="570484" y="0"/>
                  </a:lnTo>
                  <a:lnTo>
                    <a:pt x="903224" y="332740"/>
                  </a:lnTo>
                  <a:lnTo>
                    <a:pt x="570484" y="665480"/>
                  </a:lnTo>
                  <a:lnTo>
                    <a:pt x="0" y="665480"/>
                  </a:lnTo>
                  <a:lnTo>
                    <a:pt x="332740" y="332740"/>
                  </a:lnTo>
                  <a:close/>
                </a:path>
              </a:pathLst>
            </a:custGeom>
            <a:solidFill>
              <a:srgbClr val="FF7A45"/>
            </a:solidFill>
            <a:ln w="19050" cap="sq">
              <a:solidFill>
                <a:srgbClr val="FF7A45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8151495" y="3762375"/>
            <a:ext cx="499110" cy="499110"/>
            <a:chOff x="0" y="0"/>
            <a:chExt cx="665480" cy="6654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65480" cy="665480"/>
            </a:xfrm>
            <a:custGeom>
              <a:avLst/>
              <a:gdLst/>
              <a:ahLst/>
              <a:cxnLst/>
              <a:rect r="r" b="b" t="t" l="l"/>
              <a:pathLst>
                <a:path h="665480" w="665480">
                  <a:moveTo>
                    <a:pt x="0" y="0"/>
                  </a:moveTo>
                  <a:lnTo>
                    <a:pt x="332740" y="0"/>
                  </a:lnTo>
                  <a:lnTo>
                    <a:pt x="665480" y="332740"/>
                  </a:lnTo>
                  <a:lnTo>
                    <a:pt x="332740" y="665480"/>
                  </a:lnTo>
                  <a:lnTo>
                    <a:pt x="0" y="665480"/>
                  </a:lnTo>
                  <a:lnTo>
                    <a:pt x="332740" y="332740"/>
                  </a:lnTo>
                  <a:close/>
                </a:path>
              </a:pathLst>
            </a:custGeom>
            <a:solidFill>
              <a:srgbClr val="FF7A45"/>
            </a:solidFill>
            <a:ln w="19050" cap="sq">
              <a:solidFill>
                <a:srgbClr val="FF7A45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2266295" y="2596515"/>
            <a:ext cx="499110" cy="499110"/>
            <a:chOff x="0" y="0"/>
            <a:chExt cx="665480" cy="6654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65480" cy="665480"/>
            </a:xfrm>
            <a:custGeom>
              <a:avLst/>
              <a:gdLst/>
              <a:ahLst/>
              <a:cxnLst/>
              <a:rect r="r" b="b" t="t" l="l"/>
              <a:pathLst>
                <a:path h="665480" w="665480">
                  <a:moveTo>
                    <a:pt x="0" y="0"/>
                  </a:moveTo>
                  <a:lnTo>
                    <a:pt x="332740" y="0"/>
                  </a:lnTo>
                  <a:lnTo>
                    <a:pt x="665480" y="332740"/>
                  </a:lnTo>
                  <a:lnTo>
                    <a:pt x="332740" y="665480"/>
                  </a:lnTo>
                  <a:lnTo>
                    <a:pt x="0" y="665480"/>
                  </a:lnTo>
                  <a:lnTo>
                    <a:pt x="332740" y="332740"/>
                  </a:lnTo>
                  <a:close/>
                </a:path>
              </a:pathLst>
            </a:custGeom>
            <a:solidFill>
              <a:srgbClr val="FF7A45"/>
            </a:solidFill>
            <a:ln w="19050" cap="sq">
              <a:solidFill>
                <a:srgbClr val="FF7A45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2266295" y="5065395"/>
            <a:ext cx="499110" cy="499110"/>
            <a:chOff x="0" y="0"/>
            <a:chExt cx="665480" cy="6654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65480" cy="665480"/>
            </a:xfrm>
            <a:custGeom>
              <a:avLst/>
              <a:gdLst/>
              <a:ahLst/>
              <a:cxnLst/>
              <a:rect r="r" b="b" t="t" l="l"/>
              <a:pathLst>
                <a:path h="665480" w="665480">
                  <a:moveTo>
                    <a:pt x="0" y="0"/>
                  </a:moveTo>
                  <a:lnTo>
                    <a:pt x="332740" y="0"/>
                  </a:lnTo>
                  <a:lnTo>
                    <a:pt x="665480" y="332740"/>
                  </a:lnTo>
                  <a:lnTo>
                    <a:pt x="332740" y="665480"/>
                  </a:lnTo>
                  <a:lnTo>
                    <a:pt x="0" y="665480"/>
                  </a:lnTo>
                  <a:lnTo>
                    <a:pt x="332740" y="332740"/>
                  </a:lnTo>
                  <a:close/>
                </a:path>
              </a:pathLst>
            </a:custGeom>
            <a:solidFill>
              <a:srgbClr val="FF7A45"/>
            </a:solidFill>
            <a:ln w="19050" cap="sq">
              <a:solidFill>
                <a:srgbClr val="FF7A45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1156335" y="7191375"/>
            <a:ext cx="15655290" cy="1527810"/>
            <a:chOff x="0" y="0"/>
            <a:chExt cx="20873720" cy="20370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0873721" cy="2037080"/>
            </a:xfrm>
            <a:custGeom>
              <a:avLst/>
              <a:gdLst/>
              <a:ahLst/>
              <a:cxnLst/>
              <a:rect r="r" b="b" t="t" l="l"/>
              <a:pathLst>
                <a:path h="2037080" w="20873721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20725512" y="0"/>
                  </a:lnTo>
                  <a:cubicBezTo>
                    <a:pt x="20807300" y="0"/>
                    <a:pt x="20873721" y="66294"/>
                    <a:pt x="20873721" y="148209"/>
                  </a:cubicBezTo>
                  <a:lnTo>
                    <a:pt x="20873721" y="1888871"/>
                  </a:lnTo>
                  <a:cubicBezTo>
                    <a:pt x="20873721" y="1970659"/>
                    <a:pt x="20807426" y="2037080"/>
                    <a:pt x="20725512" y="2037080"/>
                  </a:cubicBezTo>
                  <a:lnTo>
                    <a:pt x="148209" y="2037080"/>
                  </a:lnTo>
                  <a:cubicBezTo>
                    <a:pt x="66294" y="2037080"/>
                    <a:pt x="0" y="1970786"/>
                    <a:pt x="0" y="1888871"/>
                  </a:cubicBezTo>
                  <a:close/>
                </a:path>
              </a:pathLst>
            </a:custGeom>
            <a:solidFill>
              <a:srgbClr val="F1F3F9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577340" y="7543800"/>
            <a:ext cx="3566160" cy="329184"/>
            <a:chOff x="0" y="0"/>
            <a:chExt cx="4754880" cy="43891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754880" cy="438912"/>
            </a:xfrm>
            <a:custGeom>
              <a:avLst/>
              <a:gdLst/>
              <a:ahLst/>
              <a:cxnLst/>
              <a:rect r="r" b="b" t="t" l="l"/>
              <a:pathLst>
                <a:path h="43891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475488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F766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Centralized Access Layer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5074920" y="7447788"/>
            <a:ext cx="11041380" cy="685800"/>
            <a:chOff x="0" y="0"/>
            <a:chExt cx="14721840" cy="9144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4721839" cy="914400"/>
            </a:xfrm>
            <a:custGeom>
              <a:avLst/>
              <a:gdLst/>
              <a:ahLst/>
              <a:cxnLst/>
              <a:rect r="r" b="b" t="t" l="l"/>
              <a:pathLst>
                <a:path h="914400" w="14721839">
                  <a:moveTo>
                    <a:pt x="0" y="0"/>
                  </a:moveTo>
                  <a:lnTo>
                    <a:pt x="14721839" y="0"/>
                  </a:lnTo>
                  <a:lnTo>
                    <a:pt x="147218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709" r="0" b="-263709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1472184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E1428"/>
                  </a:solidFill>
                  <a:latin typeface="Aptos"/>
                  <a:ea typeface="Aptos"/>
                  <a:cs typeface="Aptos"/>
                  <a:sym typeface="Aptos"/>
                </a:rPr>
                <a:t>Checks plan → quota → coins → cache freshness, then returns a consistent access state.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577340" y="8298180"/>
            <a:ext cx="14538960" cy="342900"/>
            <a:chOff x="0" y="0"/>
            <a:chExt cx="19385280" cy="4572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9385280" cy="457200"/>
            </a:xfrm>
            <a:custGeom>
              <a:avLst/>
              <a:gdLst/>
              <a:ahLst/>
              <a:cxnLst/>
              <a:rect r="r" b="b" t="t" l="l"/>
              <a:pathLst>
                <a:path h="45720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6165" r="0" b="-77616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193852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Challenge extension: Android uses Firestore + Firebase AI and reuses the interview experience.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69926"/>
            <a:chOff x="0" y="0"/>
            <a:chExt cx="24408790" cy="2265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26568"/>
            </a:xfrm>
            <a:custGeom>
              <a:avLst/>
              <a:gdLst/>
              <a:ahLst/>
              <a:cxnLst/>
              <a:rect r="r" b="b" t="t" l="l"/>
              <a:pathLst>
                <a:path h="22656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26568"/>
                  </a:lnTo>
                  <a:lnTo>
                    <a:pt x="0" y="226568"/>
                  </a:lnTo>
                  <a:close/>
                </a:path>
              </a:pathLst>
            </a:custGeom>
            <a:solidFill>
              <a:srgbClr val="FF7A45"/>
            </a:solidFill>
            <a:ln w="19050" cap="sq">
              <a:solidFill>
                <a:srgbClr val="FF7A4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141351"/>
            <a:ext cx="18306593" cy="73914"/>
            <a:chOff x="0" y="0"/>
            <a:chExt cx="24408790" cy="985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98552"/>
            </a:xfrm>
            <a:custGeom>
              <a:avLst/>
              <a:gdLst/>
              <a:ahLst/>
              <a:cxnLst/>
              <a:rect r="r" b="b" t="t" l="l"/>
              <a:pathLst>
                <a:path h="98552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98552"/>
                  </a:lnTo>
                  <a:lnTo>
                    <a:pt x="0" y="98552"/>
                  </a:lnTo>
                  <a:close/>
                </a:path>
              </a:pathLst>
            </a:custGeom>
            <a:solidFill>
              <a:srgbClr val="2DD4BF"/>
            </a:solidFill>
            <a:ln w="19050" cap="sq">
              <a:solidFill>
                <a:srgbClr val="2DD4B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32688" y="576072"/>
            <a:ext cx="12070080" cy="576072"/>
            <a:chOff x="0" y="0"/>
            <a:chExt cx="16093440" cy="7680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93439" cy="768096"/>
            </a:xfrm>
            <a:custGeom>
              <a:avLst/>
              <a:gdLst/>
              <a:ahLst/>
              <a:cxnLst/>
              <a:rect r="r" b="b" t="t" l="l"/>
              <a:pathLst>
                <a:path h="768096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257" r="0" b="-35825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609344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Models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0120" y="1234440"/>
            <a:ext cx="14813280" cy="411480"/>
            <a:chOff x="0" y="0"/>
            <a:chExt cx="1975104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751039" cy="548640"/>
            </a:xfrm>
            <a:custGeom>
              <a:avLst/>
              <a:gdLst/>
              <a:ahLst/>
              <a:cxnLst/>
              <a:rect r="r" b="b" t="t" l="l"/>
              <a:pathLst>
                <a:path h="54864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97510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A hybrid model: cloud reasoning where context matters; on-device intelligence where latency and privacy matter.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664940" y="644652"/>
            <a:ext cx="685800" cy="384048"/>
            <a:chOff x="0" y="0"/>
            <a:chExt cx="9144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914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11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2400">
            <a:off x="926973" y="9761030"/>
            <a:ext cx="16402050" cy="0"/>
          </a:xfrm>
          <a:prstGeom prst="line">
            <a:avLst/>
          </a:prstGeom>
          <a:ln cap="rnd" w="9525">
            <a:solidFill>
              <a:srgbClr val="D9DE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60120" y="9848088"/>
            <a:ext cx="5623560" cy="192024"/>
            <a:chOff x="0" y="0"/>
            <a:chExt cx="7498080" cy="2560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98080" cy="256032"/>
            </a:xfrm>
            <a:custGeom>
              <a:avLst/>
              <a:gdLst/>
              <a:ahLst/>
              <a:cxnLst/>
              <a:rect r="r" b="b" t="t" l="l"/>
              <a:pathLst>
                <a:path h="256032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49808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9AA3B8"/>
                  </a:solidFill>
                  <a:latin typeface="Aptos"/>
                  <a:ea typeface="Aptos"/>
                  <a:cs typeface="Aptos"/>
                  <a:sym typeface="Aptos"/>
                </a:rPr>
                <a:t>CAREER PILOT  •  ITI Intake 46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253460" y="9848088"/>
            <a:ext cx="1028700" cy="192024"/>
            <a:chOff x="0" y="0"/>
            <a:chExt cx="1371600" cy="2560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71600" cy="256032"/>
            </a:xfrm>
            <a:custGeom>
              <a:avLst/>
              <a:gdLst/>
              <a:ahLst/>
              <a:cxnLst/>
              <a:rect r="r" b="b" t="t" l="l"/>
              <a:pathLst>
                <a:path h="25603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37160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>
                  <a:solidFill>
                    <a:srgbClr val="9AA3B8"/>
                  </a:solidFill>
                  <a:latin typeface="Aptos"/>
                  <a:ea typeface="Aptos"/>
                  <a:cs typeface="Aptos"/>
                  <a:sym typeface="Aptos"/>
                </a:rPr>
                <a:t>11 / 17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78027" y="1979295"/>
            <a:ext cx="5121402" cy="2830830"/>
            <a:chOff x="0" y="0"/>
            <a:chExt cx="6828536" cy="3774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28536" cy="3774440"/>
            </a:xfrm>
            <a:custGeom>
              <a:avLst/>
              <a:gdLst/>
              <a:ahLst/>
              <a:cxnLst/>
              <a:rect r="r" b="b" t="t" l="l"/>
              <a:pathLst>
                <a:path h="3774440" w="6828536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681216" y="0"/>
                  </a:lnTo>
                  <a:cubicBezTo>
                    <a:pt x="6762497" y="0"/>
                    <a:pt x="6828536" y="65913"/>
                    <a:pt x="6828536" y="147320"/>
                  </a:cubicBezTo>
                  <a:lnTo>
                    <a:pt x="6828536" y="3627120"/>
                  </a:lnTo>
                  <a:cubicBezTo>
                    <a:pt x="6828536" y="3708400"/>
                    <a:pt x="6762623" y="3774440"/>
                    <a:pt x="6681216" y="3774440"/>
                  </a:cubicBezTo>
                  <a:lnTo>
                    <a:pt x="147320" y="3774440"/>
                  </a:lnTo>
                  <a:cubicBezTo>
                    <a:pt x="66040" y="3774440"/>
                    <a:pt x="0" y="3708527"/>
                    <a:pt x="0" y="36271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93495" y="2294763"/>
            <a:ext cx="814578" cy="814578"/>
            <a:chOff x="0" y="0"/>
            <a:chExt cx="1086104" cy="10861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187198"/>
                  </a:moveTo>
                  <a:cubicBezTo>
                    <a:pt x="0" y="83820"/>
                    <a:pt x="83820" y="0"/>
                    <a:pt x="187198" y="0"/>
                  </a:cubicBezTo>
                  <a:lnTo>
                    <a:pt x="898906" y="0"/>
                  </a:lnTo>
                  <a:cubicBezTo>
                    <a:pt x="1002284" y="0"/>
                    <a:pt x="1086104" y="83820"/>
                    <a:pt x="1086104" y="187198"/>
                  </a:cubicBezTo>
                  <a:lnTo>
                    <a:pt x="1086104" y="898906"/>
                  </a:lnTo>
                  <a:cubicBezTo>
                    <a:pt x="1086104" y="1002284"/>
                    <a:pt x="1002284" y="1086104"/>
                    <a:pt x="898906" y="1086104"/>
                  </a:cubicBezTo>
                  <a:lnTo>
                    <a:pt x="187198" y="1086104"/>
                  </a:lnTo>
                  <a:cubicBezTo>
                    <a:pt x="83820" y="1086104"/>
                    <a:pt x="0" y="1002284"/>
                    <a:pt x="0" y="898906"/>
                  </a:cubicBezTo>
                  <a:close/>
                </a:path>
              </a:pathLst>
            </a:custGeom>
            <a:solidFill>
              <a:srgbClr val="E9FBF7"/>
            </a:solidFill>
            <a:ln w="19050" cap="sq">
              <a:solidFill>
                <a:srgbClr val="E9FBF7"/>
              </a:solidFill>
              <a:prstDash val="solid"/>
              <a:miter/>
            </a:ln>
          </p:spPr>
        </p:sp>
      </p:grpSp>
      <p:sp>
        <p:nvSpPr>
          <p:cNvPr name="Freeform 26" id="26" descr="/opt/nvm/versions/node/v22.16.0/lib/node_modules/@fortawesome/fontawesome-free/svgs/solid/database.svg"/>
          <p:cNvSpPr/>
          <p:nvPr/>
        </p:nvSpPr>
        <p:spPr>
          <a:xfrm flipH="false" flipV="false" rot="0">
            <a:off x="1520762" y="2482596"/>
            <a:ext cx="360045" cy="411480"/>
          </a:xfrm>
          <a:custGeom>
            <a:avLst/>
            <a:gdLst/>
            <a:ahLst/>
            <a:cxnLst/>
            <a:rect r="r" b="b" t="t" l="l"/>
            <a:pathLst>
              <a:path h="411480" w="360045">
                <a:moveTo>
                  <a:pt x="0" y="0"/>
                </a:moveTo>
                <a:lnTo>
                  <a:pt x="360044" y="0"/>
                </a:lnTo>
                <a:lnTo>
                  <a:pt x="360044" y="411480"/>
                </a:lnTo>
                <a:lnTo>
                  <a:pt x="0" y="4114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657" r="0" b="-657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2331720" y="2516886"/>
            <a:ext cx="3456432" cy="342900"/>
            <a:chOff x="0" y="0"/>
            <a:chExt cx="4608576" cy="457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08576" cy="457200"/>
            </a:xfrm>
            <a:custGeom>
              <a:avLst/>
              <a:gdLst/>
              <a:ahLst/>
              <a:cxnLst/>
              <a:rect r="r" b="b" t="t" l="l"/>
              <a:pathLst>
                <a:path h="457200" w="4608576">
                  <a:moveTo>
                    <a:pt x="0" y="0"/>
                  </a:moveTo>
                  <a:lnTo>
                    <a:pt x="4608576" y="0"/>
                  </a:lnTo>
                  <a:lnTo>
                    <a:pt x="460857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409" r="0" b="-14640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4608576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Backend RAG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331720" y="2852928"/>
            <a:ext cx="3387852" cy="1741932"/>
            <a:chOff x="0" y="0"/>
            <a:chExt cx="4517136" cy="232257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17136" cy="2322576"/>
            </a:xfrm>
            <a:custGeom>
              <a:avLst/>
              <a:gdLst/>
              <a:ahLst/>
              <a:cxnLst/>
              <a:rect r="r" b="b" t="t" l="l"/>
              <a:pathLst>
                <a:path h="2322576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2322576"/>
                  </a:lnTo>
                  <a:lnTo>
                    <a:pt x="0" y="23225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69" t="0" r="-15969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4517136" cy="23225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Spring AI • embeddings • pgvector</a:t>
              </a:r>
            </a:p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Grounds track matching and interview-question context.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670167" y="1979295"/>
            <a:ext cx="5121402" cy="2830830"/>
            <a:chOff x="0" y="0"/>
            <a:chExt cx="6828536" cy="3774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828536" cy="3774440"/>
            </a:xfrm>
            <a:custGeom>
              <a:avLst/>
              <a:gdLst/>
              <a:ahLst/>
              <a:cxnLst/>
              <a:rect r="r" b="b" t="t" l="l"/>
              <a:pathLst>
                <a:path h="3774440" w="6828536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681216" y="0"/>
                  </a:lnTo>
                  <a:cubicBezTo>
                    <a:pt x="6762497" y="0"/>
                    <a:pt x="6828536" y="65913"/>
                    <a:pt x="6828536" y="147320"/>
                  </a:cubicBezTo>
                  <a:lnTo>
                    <a:pt x="6828536" y="3627120"/>
                  </a:lnTo>
                  <a:cubicBezTo>
                    <a:pt x="6828536" y="3708400"/>
                    <a:pt x="6762623" y="3774440"/>
                    <a:pt x="6681216" y="3774440"/>
                  </a:cubicBezTo>
                  <a:lnTo>
                    <a:pt x="147320" y="3774440"/>
                  </a:lnTo>
                  <a:cubicBezTo>
                    <a:pt x="66040" y="3774440"/>
                    <a:pt x="0" y="3708527"/>
                    <a:pt x="0" y="36271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6985635" y="2294763"/>
            <a:ext cx="814578" cy="814578"/>
            <a:chOff x="0" y="0"/>
            <a:chExt cx="1086104" cy="108610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187198"/>
                  </a:moveTo>
                  <a:cubicBezTo>
                    <a:pt x="0" y="83820"/>
                    <a:pt x="83820" y="0"/>
                    <a:pt x="187198" y="0"/>
                  </a:cubicBezTo>
                  <a:lnTo>
                    <a:pt x="898906" y="0"/>
                  </a:lnTo>
                  <a:cubicBezTo>
                    <a:pt x="1002284" y="0"/>
                    <a:pt x="1086104" y="83820"/>
                    <a:pt x="1086104" y="187198"/>
                  </a:cubicBezTo>
                  <a:lnTo>
                    <a:pt x="1086104" y="898906"/>
                  </a:lnTo>
                  <a:cubicBezTo>
                    <a:pt x="1086104" y="1002284"/>
                    <a:pt x="1002284" y="1086104"/>
                    <a:pt x="898906" y="1086104"/>
                  </a:cubicBezTo>
                  <a:lnTo>
                    <a:pt x="187198" y="1086104"/>
                  </a:lnTo>
                  <a:cubicBezTo>
                    <a:pt x="83820" y="1086104"/>
                    <a:pt x="0" y="1002284"/>
                    <a:pt x="0" y="898906"/>
                  </a:cubicBezTo>
                  <a:close/>
                </a:path>
              </a:pathLst>
            </a:custGeom>
            <a:solidFill>
              <a:srgbClr val="FFF0E9"/>
            </a:solidFill>
            <a:ln w="19050" cap="sq">
              <a:solidFill>
                <a:srgbClr val="FFF0E9"/>
              </a:solidFill>
              <a:prstDash val="solid"/>
              <a:miter/>
            </a:ln>
          </p:spPr>
        </p:sp>
      </p:grpSp>
      <p:sp>
        <p:nvSpPr>
          <p:cNvPr name="Freeform 37" id="37" descr="/opt/nvm/versions/node/v22.16.0/lib/node_modules/@fortawesome/fontawesome-free/svgs/solid/brain.svg"/>
          <p:cNvSpPr/>
          <p:nvPr/>
        </p:nvSpPr>
        <p:spPr>
          <a:xfrm flipH="false" flipV="false" rot="0">
            <a:off x="7187184" y="2482596"/>
            <a:ext cx="411480" cy="411480"/>
          </a:xfrm>
          <a:custGeom>
            <a:avLst/>
            <a:gdLst/>
            <a:ahLst/>
            <a:cxnLst/>
            <a:rect r="r" b="b" t="t" l="l"/>
            <a:pathLst>
              <a:path h="411480" w="411480">
                <a:moveTo>
                  <a:pt x="0" y="0"/>
                </a:moveTo>
                <a:lnTo>
                  <a:pt x="411480" y="0"/>
                </a:lnTo>
                <a:lnTo>
                  <a:pt x="411480" y="411480"/>
                </a:lnTo>
                <a:lnTo>
                  <a:pt x="0" y="4114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8023860" y="2516886"/>
            <a:ext cx="3456432" cy="342900"/>
            <a:chOff x="0" y="0"/>
            <a:chExt cx="4608576" cy="457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608576" cy="457200"/>
            </a:xfrm>
            <a:custGeom>
              <a:avLst/>
              <a:gdLst/>
              <a:ahLst/>
              <a:cxnLst/>
              <a:rect r="r" b="b" t="t" l="l"/>
              <a:pathLst>
                <a:path h="457200" w="4608576">
                  <a:moveTo>
                    <a:pt x="0" y="0"/>
                  </a:moveTo>
                  <a:lnTo>
                    <a:pt x="4608576" y="0"/>
                  </a:lnTo>
                  <a:lnTo>
                    <a:pt x="460857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409" r="0" b="-14640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4608576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Agentic Interview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023860" y="2852928"/>
            <a:ext cx="3387852" cy="1741932"/>
            <a:chOff x="0" y="0"/>
            <a:chExt cx="4517136" cy="232257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517136" cy="2322576"/>
            </a:xfrm>
            <a:custGeom>
              <a:avLst/>
              <a:gdLst/>
              <a:ahLst/>
              <a:cxnLst/>
              <a:rect r="r" b="b" t="t" l="l"/>
              <a:pathLst>
                <a:path h="2322576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2322576"/>
                  </a:lnTo>
                  <a:lnTo>
                    <a:pt x="0" y="23225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69" t="0" r="-15969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4517136" cy="23225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LLM • bounded tools</a:t>
              </a:r>
            </a:p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Uses CV, history, transcript, retrieval, and server rules.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362307" y="1979295"/>
            <a:ext cx="5121402" cy="2830830"/>
            <a:chOff x="0" y="0"/>
            <a:chExt cx="6828536" cy="3774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28536" cy="3774440"/>
            </a:xfrm>
            <a:custGeom>
              <a:avLst/>
              <a:gdLst/>
              <a:ahLst/>
              <a:cxnLst/>
              <a:rect r="r" b="b" t="t" l="l"/>
              <a:pathLst>
                <a:path h="3774440" w="6828536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681216" y="0"/>
                  </a:lnTo>
                  <a:cubicBezTo>
                    <a:pt x="6762497" y="0"/>
                    <a:pt x="6828536" y="65913"/>
                    <a:pt x="6828536" y="147320"/>
                  </a:cubicBezTo>
                  <a:lnTo>
                    <a:pt x="6828536" y="3627120"/>
                  </a:lnTo>
                  <a:cubicBezTo>
                    <a:pt x="6828536" y="3708400"/>
                    <a:pt x="6762623" y="3774440"/>
                    <a:pt x="6681216" y="3774440"/>
                  </a:cubicBezTo>
                  <a:lnTo>
                    <a:pt x="147320" y="3774440"/>
                  </a:lnTo>
                  <a:cubicBezTo>
                    <a:pt x="66040" y="3774440"/>
                    <a:pt x="0" y="3708527"/>
                    <a:pt x="0" y="36271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2677775" y="2294763"/>
            <a:ext cx="814578" cy="814578"/>
            <a:chOff x="0" y="0"/>
            <a:chExt cx="1086104" cy="108610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187198"/>
                  </a:moveTo>
                  <a:cubicBezTo>
                    <a:pt x="0" y="83820"/>
                    <a:pt x="83820" y="0"/>
                    <a:pt x="187198" y="0"/>
                  </a:cubicBezTo>
                  <a:lnTo>
                    <a:pt x="898906" y="0"/>
                  </a:lnTo>
                  <a:cubicBezTo>
                    <a:pt x="1002284" y="0"/>
                    <a:pt x="1086104" y="83820"/>
                    <a:pt x="1086104" y="187198"/>
                  </a:cubicBezTo>
                  <a:lnTo>
                    <a:pt x="1086104" y="898906"/>
                  </a:lnTo>
                  <a:cubicBezTo>
                    <a:pt x="1086104" y="1002284"/>
                    <a:pt x="1002284" y="1086104"/>
                    <a:pt x="898906" y="1086104"/>
                  </a:cubicBezTo>
                  <a:lnTo>
                    <a:pt x="187198" y="1086104"/>
                  </a:lnTo>
                  <a:cubicBezTo>
                    <a:pt x="83820" y="1086104"/>
                    <a:pt x="0" y="1002284"/>
                    <a:pt x="0" y="898906"/>
                  </a:cubicBezTo>
                  <a:close/>
                </a:path>
              </a:pathLst>
            </a:custGeom>
            <a:solidFill>
              <a:srgbClr val="E9FBF7"/>
            </a:solidFill>
            <a:ln w="19050" cap="sq">
              <a:solidFill>
                <a:srgbClr val="E9FBF7"/>
              </a:solidFill>
              <a:prstDash val="solid"/>
              <a:miter/>
            </a:ln>
          </p:spPr>
        </p:sp>
      </p:grpSp>
      <p:sp>
        <p:nvSpPr>
          <p:cNvPr name="Freeform 48" id="48" descr="/opt/nvm/versions/node/v22.16.0/lib/node_modules/@fortawesome/fontawesome-free/svgs/brands/android.svg"/>
          <p:cNvSpPr/>
          <p:nvPr/>
        </p:nvSpPr>
        <p:spPr>
          <a:xfrm flipH="false" flipV="false" rot="0">
            <a:off x="12879324" y="2505456"/>
            <a:ext cx="411480" cy="365760"/>
          </a:xfrm>
          <a:custGeom>
            <a:avLst/>
            <a:gdLst/>
            <a:ahLst/>
            <a:cxnLst/>
            <a:rect r="r" b="b" t="t" l="l"/>
            <a:pathLst>
              <a:path h="365760" w="411480">
                <a:moveTo>
                  <a:pt x="0" y="0"/>
                </a:moveTo>
                <a:lnTo>
                  <a:pt x="411480" y="0"/>
                </a:lnTo>
                <a:lnTo>
                  <a:pt x="411480" y="365760"/>
                </a:lnTo>
                <a:lnTo>
                  <a:pt x="0" y="3657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43" t="0" r="-141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13716000" y="2516886"/>
            <a:ext cx="3456432" cy="342900"/>
            <a:chOff x="0" y="0"/>
            <a:chExt cx="4608576" cy="457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608576" cy="457200"/>
            </a:xfrm>
            <a:custGeom>
              <a:avLst/>
              <a:gdLst/>
              <a:ahLst/>
              <a:cxnLst/>
              <a:rect r="r" b="b" t="t" l="l"/>
              <a:pathLst>
                <a:path h="457200" w="4608576">
                  <a:moveTo>
                    <a:pt x="0" y="0"/>
                  </a:moveTo>
                  <a:lnTo>
                    <a:pt x="4608576" y="0"/>
                  </a:lnTo>
                  <a:lnTo>
                    <a:pt x="460857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409" r="0" b="-14640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4608576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Android Intelligence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716000" y="2852928"/>
            <a:ext cx="3387852" cy="1741932"/>
            <a:chOff x="0" y="0"/>
            <a:chExt cx="4517136" cy="232257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517136" cy="2322576"/>
            </a:xfrm>
            <a:custGeom>
              <a:avLst/>
              <a:gdLst/>
              <a:ahLst/>
              <a:cxnLst/>
              <a:rect r="r" b="b" t="t" l="l"/>
              <a:pathLst>
                <a:path h="2322576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2322576"/>
                  </a:lnTo>
                  <a:lnTo>
                    <a:pt x="0" y="23225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69" t="0" r="-15969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4517136" cy="23225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MediaPipe • Whisper • Firebase AI</a:t>
              </a:r>
            </a:p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Local body-language and speech signals with fallback scoring.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3899535" y="5998083"/>
            <a:ext cx="5121402" cy="2830830"/>
            <a:chOff x="0" y="0"/>
            <a:chExt cx="6828536" cy="37744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828536" cy="3774440"/>
            </a:xfrm>
            <a:custGeom>
              <a:avLst/>
              <a:gdLst/>
              <a:ahLst/>
              <a:cxnLst/>
              <a:rect r="r" b="b" t="t" l="l"/>
              <a:pathLst>
                <a:path h="3774440" w="6828536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681216" y="0"/>
                  </a:lnTo>
                  <a:cubicBezTo>
                    <a:pt x="6762497" y="0"/>
                    <a:pt x="6828536" y="65913"/>
                    <a:pt x="6828536" y="147320"/>
                  </a:cubicBezTo>
                  <a:lnTo>
                    <a:pt x="6828536" y="3627120"/>
                  </a:lnTo>
                  <a:cubicBezTo>
                    <a:pt x="6828536" y="3708400"/>
                    <a:pt x="6762623" y="3774440"/>
                    <a:pt x="6681216" y="3774440"/>
                  </a:cubicBezTo>
                  <a:lnTo>
                    <a:pt x="147320" y="3774440"/>
                  </a:lnTo>
                  <a:cubicBezTo>
                    <a:pt x="66040" y="3774440"/>
                    <a:pt x="0" y="3708527"/>
                    <a:pt x="0" y="36271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4215003" y="6313551"/>
            <a:ext cx="814578" cy="814578"/>
            <a:chOff x="0" y="0"/>
            <a:chExt cx="1086104" cy="108610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187198"/>
                  </a:moveTo>
                  <a:cubicBezTo>
                    <a:pt x="0" y="83820"/>
                    <a:pt x="83820" y="0"/>
                    <a:pt x="187198" y="0"/>
                  </a:cubicBezTo>
                  <a:lnTo>
                    <a:pt x="898906" y="0"/>
                  </a:lnTo>
                  <a:cubicBezTo>
                    <a:pt x="1002284" y="0"/>
                    <a:pt x="1086104" y="83820"/>
                    <a:pt x="1086104" y="187198"/>
                  </a:cubicBezTo>
                  <a:lnTo>
                    <a:pt x="1086104" y="898906"/>
                  </a:lnTo>
                  <a:cubicBezTo>
                    <a:pt x="1086104" y="1002284"/>
                    <a:pt x="1002284" y="1086104"/>
                    <a:pt x="898906" y="1086104"/>
                  </a:cubicBezTo>
                  <a:lnTo>
                    <a:pt x="187198" y="1086104"/>
                  </a:lnTo>
                  <a:cubicBezTo>
                    <a:pt x="83820" y="1086104"/>
                    <a:pt x="0" y="1002284"/>
                    <a:pt x="0" y="898906"/>
                  </a:cubicBezTo>
                  <a:close/>
                </a:path>
              </a:pathLst>
            </a:custGeom>
            <a:solidFill>
              <a:srgbClr val="FFF0E9"/>
            </a:solidFill>
            <a:ln w="19050" cap="sq">
              <a:solidFill>
                <a:srgbClr val="FFF0E9"/>
              </a:solidFill>
              <a:prstDash val="solid"/>
              <a:miter/>
            </a:ln>
          </p:spPr>
        </p:sp>
      </p:grpSp>
      <p:sp>
        <p:nvSpPr>
          <p:cNvPr name="Freeform 59" id="59" descr="/opt/nvm/versions/node/v22.16.0/lib/node_modules/@fortawesome/fontawesome-free/svgs/brands/apple.svg"/>
          <p:cNvSpPr/>
          <p:nvPr/>
        </p:nvSpPr>
        <p:spPr>
          <a:xfrm flipH="false" flipV="false" rot="0">
            <a:off x="4467987" y="6501384"/>
            <a:ext cx="308610" cy="411480"/>
          </a:xfrm>
          <a:custGeom>
            <a:avLst/>
            <a:gdLst/>
            <a:ahLst/>
            <a:cxnLst/>
            <a:rect r="r" b="b" t="t" l="l"/>
            <a:pathLst>
              <a:path h="411480" w="308610">
                <a:moveTo>
                  <a:pt x="0" y="0"/>
                </a:moveTo>
                <a:lnTo>
                  <a:pt x="308610" y="0"/>
                </a:lnTo>
                <a:lnTo>
                  <a:pt x="308610" y="411480"/>
                </a:lnTo>
                <a:lnTo>
                  <a:pt x="0" y="4114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5253228" y="6535674"/>
            <a:ext cx="3456432" cy="342900"/>
            <a:chOff x="0" y="0"/>
            <a:chExt cx="4608576" cy="4572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608576" cy="457200"/>
            </a:xfrm>
            <a:custGeom>
              <a:avLst/>
              <a:gdLst/>
              <a:ahLst/>
              <a:cxnLst/>
              <a:rect r="r" b="b" t="t" l="l"/>
              <a:pathLst>
                <a:path h="457200" w="4608576">
                  <a:moveTo>
                    <a:pt x="0" y="0"/>
                  </a:moveTo>
                  <a:lnTo>
                    <a:pt x="4608576" y="0"/>
                  </a:lnTo>
                  <a:lnTo>
                    <a:pt x="460857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409" r="0" b="-14640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4608576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iOS Intelligence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253228" y="6871716"/>
            <a:ext cx="3387852" cy="1741932"/>
            <a:chOff x="0" y="0"/>
            <a:chExt cx="4517136" cy="232257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517136" cy="2322576"/>
            </a:xfrm>
            <a:custGeom>
              <a:avLst/>
              <a:gdLst/>
              <a:ahLst/>
              <a:cxnLst/>
              <a:rect r="r" b="b" t="t" l="l"/>
              <a:pathLst>
                <a:path h="2322576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2322576"/>
                  </a:lnTo>
                  <a:lnTo>
                    <a:pt x="0" y="23225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69" t="0" r="-15969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4517136" cy="23225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Apple Vision • Apple Speech</a:t>
              </a:r>
            </a:p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Native local visual and speech intelligence.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591675" y="5998083"/>
            <a:ext cx="5121402" cy="2830830"/>
            <a:chOff x="0" y="0"/>
            <a:chExt cx="6828536" cy="37744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828536" cy="3774440"/>
            </a:xfrm>
            <a:custGeom>
              <a:avLst/>
              <a:gdLst/>
              <a:ahLst/>
              <a:cxnLst/>
              <a:rect r="r" b="b" t="t" l="l"/>
              <a:pathLst>
                <a:path h="3774440" w="6828536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681216" y="0"/>
                  </a:lnTo>
                  <a:cubicBezTo>
                    <a:pt x="6762497" y="0"/>
                    <a:pt x="6828536" y="65913"/>
                    <a:pt x="6828536" y="147320"/>
                  </a:cubicBezTo>
                  <a:lnTo>
                    <a:pt x="6828536" y="3627120"/>
                  </a:lnTo>
                  <a:cubicBezTo>
                    <a:pt x="6828536" y="3708400"/>
                    <a:pt x="6762623" y="3774440"/>
                    <a:pt x="6681216" y="3774440"/>
                  </a:cubicBezTo>
                  <a:lnTo>
                    <a:pt x="147320" y="3774440"/>
                  </a:lnTo>
                  <a:cubicBezTo>
                    <a:pt x="66040" y="3774440"/>
                    <a:pt x="0" y="3708527"/>
                    <a:pt x="0" y="36271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9907143" y="6313551"/>
            <a:ext cx="814578" cy="814578"/>
            <a:chOff x="0" y="0"/>
            <a:chExt cx="1086104" cy="108610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187198"/>
                  </a:moveTo>
                  <a:cubicBezTo>
                    <a:pt x="0" y="83820"/>
                    <a:pt x="83820" y="0"/>
                    <a:pt x="187198" y="0"/>
                  </a:cubicBezTo>
                  <a:lnTo>
                    <a:pt x="898906" y="0"/>
                  </a:lnTo>
                  <a:cubicBezTo>
                    <a:pt x="1002284" y="0"/>
                    <a:pt x="1086104" y="83820"/>
                    <a:pt x="1086104" y="187198"/>
                  </a:cubicBezTo>
                  <a:lnTo>
                    <a:pt x="1086104" y="898906"/>
                  </a:lnTo>
                  <a:cubicBezTo>
                    <a:pt x="1086104" y="1002284"/>
                    <a:pt x="1002284" y="1086104"/>
                    <a:pt x="898906" y="1086104"/>
                  </a:cubicBezTo>
                  <a:lnTo>
                    <a:pt x="187198" y="1086104"/>
                  </a:lnTo>
                  <a:cubicBezTo>
                    <a:pt x="83820" y="1086104"/>
                    <a:pt x="0" y="1002284"/>
                    <a:pt x="0" y="898906"/>
                  </a:cubicBezTo>
                  <a:close/>
                </a:path>
              </a:pathLst>
            </a:custGeom>
            <a:solidFill>
              <a:srgbClr val="E9FBF7"/>
            </a:solidFill>
            <a:ln w="19050" cap="sq">
              <a:solidFill>
                <a:srgbClr val="E9FBF7"/>
              </a:solidFill>
              <a:prstDash val="solid"/>
              <a:miter/>
            </a:ln>
          </p:spPr>
        </p:sp>
      </p:grpSp>
      <p:sp>
        <p:nvSpPr>
          <p:cNvPr name="Freeform 70" id="70" descr="/opt/nvm/versions/node/v22.16.0/lib/node_modules/@fortawesome/fontawesome-free/svgs/solid/trophy.svg"/>
          <p:cNvSpPr/>
          <p:nvPr/>
        </p:nvSpPr>
        <p:spPr>
          <a:xfrm flipH="false" flipV="false" rot="0">
            <a:off x="10108692" y="6524244"/>
            <a:ext cx="411480" cy="365760"/>
          </a:xfrm>
          <a:custGeom>
            <a:avLst/>
            <a:gdLst/>
            <a:ahLst/>
            <a:cxnLst/>
            <a:rect r="r" b="b" t="t" l="l"/>
            <a:pathLst>
              <a:path h="365760" w="411480">
                <a:moveTo>
                  <a:pt x="0" y="0"/>
                </a:moveTo>
                <a:lnTo>
                  <a:pt x="411480" y="0"/>
                </a:lnTo>
                <a:lnTo>
                  <a:pt x="411480" y="365760"/>
                </a:lnTo>
                <a:lnTo>
                  <a:pt x="0" y="3657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43" t="0" r="-141" b="0"/>
            </a:stretch>
          </a:blipFill>
        </p:spPr>
      </p:sp>
      <p:grpSp>
        <p:nvGrpSpPr>
          <p:cNvPr name="Group 71" id="71"/>
          <p:cNvGrpSpPr/>
          <p:nvPr/>
        </p:nvGrpSpPr>
        <p:grpSpPr>
          <a:xfrm rot="0">
            <a:off x="10945368" y="6535674"/>
            <a:ext cx="3456432" cy="342900"/>
            <a:chOff x="0" y="0"/>
            <a:chExt cx="4608576" cy="4572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608576" cy="457200"/>
            </a:xfrm>
            <a:custGeom>
              <a:avLst/>
              <a:gdLst/>
              <a:ahLst/>
              <a:cxnLst/>
              <a:rect r="r" b="b" t="t" l="l"/>
              <a:pathLst>
                <a:path h="457200" w="4608576">
                  <a:moveTo>
                    <a:pt x="0" y="0"/>
                  </a:moveTo>
                  <a:lnTo>
                    <a:pt x="4608576" y="0"/>
                  </a:lnTo>
                  <a:lnTo>
                    <a:pt x="460857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409" r="0" b="-146409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4608576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Challenge AI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945368" y="6871716"/>
            <a:ext cx="3387852" cy="1741932"/>
            <a:chOff x="0" y="0"/>
            <a:chExt cx="4517136" cy="232257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517136" cy="2322576"/>
            </a:xfrm>
            <a:custGeom>
              <a:avLst/>
              <a:gdLst/>
              <a:ahLst/>
              <a:cxnLst/>
              <a:rect r="r" b="b" t="t" l="l"/>
              <a:pathLst>
                <a:path h="2322576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2322576"/>
                  </a:lnTo>
                  <a:lnTo>
                    <a:pt x="0" y="23225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69" t="0" r="-15969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4517136" cy="23225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Firebase AI • Firestore</a:t>
              </a:r>
            </a:p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Validates questions and returns structured challenge scores.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69926"/>
            <a:chOff x="0" y="0"/>
            <a:chExt cx="24408790" cy="2265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26568"/>
            </a:xfrm>
            <a:custGeom>
              <a:avLst/>
              <a:gdLst/>
              <a:ahLst/>
              <a:cxnLst/>
              <a:rect r="r" b="b" t="t" l="l"/>
              <a:pathLst>
                <a:path h="22656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26568"/>
                  </a:lnTo>
                  <a:lnTo>
                    <a:pt x="0" y="226568"/>
                  </a:lnTo>
                  <a:close/>
                </a:path>
              </a:pathLst>
            </a:custGeom>
            <a:solidFill>
              <a:srgbClr val="FF7A45"/>
            </a:solidFill>
            <a:ln w="19050" cap="sq">
              <a:solidFill>
                <a:srgbClr val="FF7A4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141351"/>
            <a:ext cx="18306593" cy="73914"/>
            <a:chOff x="0" y="0"/>
            <a:chExt cx="24408790" cy="985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98552"/>
            </a:xfrm>
            <a:custGeom>
              <a:avLst/>
              <a:gdLst/>
              <a:ahLst/>
              <a:cxnLst/>
              <a:rect r="r" b="b" t="t" l="l"/>
              <a:pathLst>
                <a:path h="98552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98552"/>
                  </a:lnTo>
                  <a:lnTo>
                    <a:pt x="0" y="98552"/>
                  </a:lnTo>
                  <a:close/>
                </a:path>
              </a:pathLst>
            </a:custGeom>
            <a:solidFill>
              <a:srgbClr val="2DD4BF"/>
            </a:solidFill>
            <a:ln w="19050" cap="sq">
              <a:solidFill>
                <a:srgbClr val="2DD4B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32688" y="576072"/>
            <a:ext cx="12070080" cy="576072"/>
            <a:chOff x="0" y="0"/>
            <a:chExt cx="16093440" cy="7680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93439" cy="768096"/>
            </a:xfrm>
            <a:custGeom>
              <a:avLst/>
              <a:gdLst/>
              <a:ahLst/>
              <a:cxnLst/>
              <a:rect r="r" b="b" t="t" l="l"/>
              <a:pathLst>
                <a:path h="768096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257" r="0" b="-35825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609344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Mobile Stack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0120" y="1234440"/>
            <a:ext cx="14813280" cy="411480"/>
            <a:chOff x="0" y="0"/>
            <a:chExt cx="1975104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751039" cy="548640"/>
            </a:xfrm>
            <a:custGeom>
              <a:avLst/>
              <a:gdLst/>
              <a:ahLst/>
              <a:cxnLst/>
              <a:rect r="r" b="b" t="t" l="l"/>
              <a:pathLst>
                <a:path h="54864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97510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Two native clients with different platform patterns but one shared product contract.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664940" y="644652"/>
            <a:ext cx="685800" cy="384048"/>
            <a:chOff x="0" y="0"/>
            <a:chExt cx="9144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914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12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2400">
            <a:off x="926973" y="9761030"/>
            <a:ext cx="16402050" cy="0"/>
          </a:xfrm>
          <a:prstGeom prst="line">
            <a:avLst/>
          </a:prstGeom>
          <a:ln cap="rnd" w="9525">
            <a:solidFill>
              <a:srgbClr val="D9DE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60120" y="9848088"/>
            <a:ext cx="5623560" cy="192024"/>
            <a:chOff x="0" y="0"/>
            <a:chExt cx="7498080" cy="2560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98080" cy="256032"/>
            </a:xfrm>
            <a:custGeom>
              <a:avLst/>
              <a:gdLst/>
              <a:ahLst/>
              <a:cxnLst/>
              <a:rect r="r" b="b" t="t" l="l"/>
              <a:pathLst>
                <a:path h="256032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49808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9AA3B8"/>
                  </a:solidFill>
                  <a:latin typeface="Aptos"/>
                  <a:ea typeface="Aptos"/>
                  <a:cs typeface="Aptos"/>
                  <a:sym typeface="Aptos"/>
                </a:rPr>
                <a:t>CAREER PILOT  •  ITI Intake 46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253460" y="9848088"/>
            <a:ext cx="1028700" cy="192024"/>
            <a:chOff x="0" y="0"/>
            <a:chExt cx="1371600" cy="2560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71600" cy="256032"/>
            </a:xfrm>
            <a:custGeom>
              <a:avLst/>
              <a:gdLst/>
              <a:ahLst/>
              <a:cxnLst/>
              <a:rect r="r" b="b" t="t" l="l"/>
              <a:pathLst>
                <a:path h="25603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37160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>
                  <a:solidFill>
                    <a:srgbClr val="9AA3B8"/>
                  </a:solidFill>
                  <a:latin typeface="Aptos"/>
                  <a:ea typeface="Aptos"/>
                  <a:cs typeface="Aptos"/>
                  <a:sym typeface="Aptos"/>
                </a:rPr>
                <a:t>12 / 17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19175" y="1979295"/>
            <a:ext cx="7864602" cy="6808470"/>
            <a:chOff x="0" y="0"/>
            <a:chExt cx="10486136" cy="9077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86136" cy="9077960"/>
            </a:xfrm>
            <a:custGeom>
              <a:avLst/>
              <a:gdLst/>
              <a:ahLst/>
              <a:cxnLst/>
              <a:rect r="r" b="b" t="t" l="l"/>
              <a:pathLst>
                <a:path h="9077960" w="10486136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339451" y="0"/>
                  </a:lnTo>
                  <a:cubicBezTo>
                    <a:pt x="10420477" y="0"/>
                    <a:pt x="10486136" y="65659"/>
                    <a:pt x="10486136" y="146685"/>
                  </a:cubicBezTo>
                  <a:lnTo>
                    <a:pt x="10486136" y="8931275"/>
                  </a:lnTo>
                  <a:cubicBezTo>
                    <a:pt x="10486136" y="9012301"/>
                    <a:pt x="10420477" y="9077960"/>
                    <a:pt x="10339451" y="9077960"/>
                  </a:cubicBezTo>
                  <a:lnTo>
                    <a:pt x="146685" y="9077960"/>
                  </a:lnTo>
                  <a:cubicBezTo>
                    <a:pt x="65659" y="9077960"/>
                    <a:pt x="0" y="9012301"/>
                    <a:pt x="0" y="893127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19175" y="1979295"/>
            <a:ext cx="7864602" cy="773430"/>
            <a:chOff x="0" y="0"/>
            <a:chExt cx="10486136" cy="10312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86136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486136">
                  <a:moveTo>
                    <a:pt x="0" y="0"/>
                  </a:moveTo>
                  <a:lnTo>
                    <a:pt x="10486136" y="0"/>
                  </a:lnTo>
                  <a:lnTo>
                    <a:pt x="10486136" y="1031240"/>
                  </a:lnTo>
                  <a:lnTo>
                    <a:pt x="0" y="1031240"/>
                  </a:lnTo>
                  <a:close/>
                </a:path>
              </a:pathLst>
            </a:custGeom>
            <a:solidFill>
              <a:srgbClr val="FF7A45"/>
            </a:solidFill>
            <a:ln w="19050" cap="sq">
              <a:solidFill>
                <a:srgbClr val="FF7A45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371600" y="2221992"/>
            <a:ext cx="2743200" cy="274320"/>
            <a:chOff x="0" y="0"/>
            <a:chExt cx="3657600" cy="3657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5760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65760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ANDROID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08760" y="3086100"/>
            <a:ext cx="2057400" cy="301752"/>
            <a:chOff x="0" y="0"/>
            <a:chExt cx="2743200" cy="40233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743200" cy="402336"/>
            </a:xfrm>
            <a:custGeom>
              <a:avLst/>
              <a:gdLst/>
              <a:ahLst/>
              <a:cxnLst/>
              <a:rect r="r" b="b" t="t" l="l"/>
              <a:pathLst>
                <a:path h="402336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27432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5B657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Language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771900" y="3086100"/>
            <a:ext cx="4389120" cy="301752"/>
            <a:chOff x="0" y="0"/>
            <a:chExt cx="5852160" cy="40233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852160" cy="402336"/>
            </a:xfrm>
            <a:custGeom>
              <a:avLst/>
              <a:gdLst/>
              <a:ahLst/>
              <a:cxnLst/>
              <a:rect r="r" b="b" t="t" l="l"/>
              <a:pathLst>
                <a:path h="40233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418" r="0" b="-23341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585216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Kotlin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 rot="5700">
            <a:off x="1503045" y="3533966"/>
            <a:ext cx="6869440" cy="0"/>
          </a:xfrm>
          <a:prstGeom prst="line">
            <a:avLst/>
          </a:prstGeom>
          <a:ln cap="rnd" w="9525">
            <a:solidFill>
              <a:srgbClr val="D9DE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1508760" y="3936492"/>
            <a:ext cx="2057400" cy="301752"/>
            <a:chOff x="0" y="0"/>
            <a:chExt cx="2743200" cy="40233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743200" cy="402336"/>
            </a:xfrm>
            <a:custGeom>
              <a:avLst/>
              <a:gdLst/>
              <a:ahLst/>
              <a:cxnLst/>
              <a:rect r="r" b="b" t="t" l="l"/>
              <a:pathLst>
                <a:path h="402336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7432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5B657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UI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771900" y="3936492"/>
            <a:ext cx="4389120" cy="301752"/>
            <a:chOff x="0" y="0"/>
            <a:chExt cx="5852160" cy="40233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852160" cy="402336"/>
            </a:xfrm>
            <a:custGeom>
              <a:avLst/>
              <a:gdLst/>
              <a:ahLst/>
              <a:cxnLst/>
              <a:rect r="r" b="b" t="t" l="l"/>
              <a:pathLst>
                <a:path h="40233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418" r="0" b="-23341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585216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Jetpack Compose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 rot="5700">
            <a:off x="1503045" y="4384358"/>
            <a:ext cx="6869440" cy="0"/>
          </a:xfrm>
          <a:prstGeom prst="line">
            <a:avLst/>
          </a:prstGeom>
          <a:ln cap="rnd" w="9525">
            <a:solidFill>
              <a:srgbClr val="D9DE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1508760" y="4786884"/>
            <a:ext cx="2057400" cy="301752"/>
            <a:chOff x="0" y="0"/>
            <a:chExt cx="2743200" cy="4023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743200" cy="402336"/>
            </a:xfrm>
            <a:custGeom>
              <a:avLst/>
              <a:gdLst/>
              <a:ahLst/>
              <a:cxnLst/>
              <a:rect r="r" b="b" t="t" l="l"/>
              <a:pathLst>
                <a:path h="402336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27432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5B657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Architecture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3771900" y="4786884"/>
            <a:ext cx="4389120" cy="301752"/>
            <a:chOff x="0" y="0"/>
            <a:chExt cx="5852160" cy="40233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852160" cy="402336"/>
            </a:xfrm>
            <a:custGeom>
              <a:avLst/>
              <a:gdLst/>
              <a:ahLst/>
              <a:cxnLst/>
              <a:rect r="r" b="b" t="t" l="l"/>
              <a:pathLst>
                <a:path h="40233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418" r="0" b="-23341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585216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Clean + MVI</a:t>
              </a:r>
            </a:p>
          </p:txBody>
        </p:sp>
      </p:grpSp>
      <p:sp>
        <p:nvSpPr>
          <p:cNvPr name="AutoShape 49" id="49"/>
          <p:cNvSpPr/>
          <p:nvPr/>
        </p:nvSpPr>
        <p:spPr>
          <a:xfrm rot="5700">
            <a:off x="1503045" y="5234750"/>
            <a:ext cx="6869440" cy="0"/>
          </a:xfrm>
          <a:prstGeom prst="line">
            <a:avLst/>
          </a:prstGeom>
          <a:ln cap="rnd" w="9525">
            <a:solidFill>
              <a:srgbClr val="D9DE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0" id="50"/>
          <p:cNvGrpSpPr/>
          <p:nvPr/>
        </p:nvGrpSpPr>
        <p:grpSpPr>
          <a:xfrm rot="0">
            <a:off x="1508760" y="5637276"/>
            <a:ext cx="2057400" cy="301752"/>
            <a:chOff x="0" y="0"/>
            <a:chExt cx="2743200" cy="40233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743200" cy="402336"/>
            </a:xfrm>
            <a:custGeom>
              <a:avLst/>
              <a:gdLst/>
              <a:ahLst/>
              <a:cxnLst/>
              <a:rect r="r" b="b" t="t" l="l"/>
              <a:pathLst>
                <a:path h="402336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27432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5B657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Networking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3771900" y="5637276"/>
            <a:ext cx="4389120" cy="301752"/>
            <a:chOff x="0" y="0"/>
            <a:chExt cx="5852160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852160" cy="402336"/>
            </a:xfrm>
            <a:custGeom>
              <a:avLst/>
              <a:gdLst/>
              <a:ahLst/>
              <a:cxnLst/>
              <a:rect r="r" b="b" t="t" l="l"/>
              <a:pathLst>
                <a:path h="40233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418" r="0" b="-23341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585216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Ktor</a:t>
              </a:r>
            </a:p>
          </p:txBody>
        </p:sp>
      </p:grpSp>
      <p:sp>
        <p:nvSpPr>
          <p:cNvPr name="AutoShape 56" id="56"/>
          <p:cNvSpPr/>
          <p:nvPr/>
        </p:nvSpPr>
        <p:spPr>
          <a:xfrm rot="5700">
            <a:off x="1503045" y="6085142"/>
            <a:ext cx="6869440" cy="0"/>
          </a:xfrm>
          <a:prstGeom prst="line">
            <a:avLst/>
          </a:prstGeom>
          <a:ln cap="rnd" w="9525">
            <a:solidFill>
              <a:srgbClr val="D9DE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7" id="57"/>
          <p:cNvGrpSpPr/>
          <p:nvPr/>
        </p:nvGrpSpPr>
        <p:grpSpPr>
          <a:xfrm rot="0">
            <a:off x="1508760" y="6487668"/>
            <a:ext cx="2057400" cy="301752"/>
            <a:chOff x="0" y="0"/>
            <a:chExt cx="2743200" cy="4023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743200" cy="402336"/>
            </a:xfrm>
            <a:custGeom>
              <a:avLst/>
              <a:gdLst/>
              <a:ahLst/>
              <a:cxnLst/>
              <a:rect r="r" b="b" t="t" l="l"/>
              <a:pathLst>
                <a:path h="402336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27432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5B657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On-device AI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3771900" y="6487668"/>
            <a:ext cx="4389120" cy="301752"/>
            <a:chOff x="0" y="0"/>
            <a:chExt cx="5852160" cy="40233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852160" cy="402336"/>
            </a:xfrm>
            <a:custGeom>
              <a:avLst/>
              <a:gdLst/>
              <a:ahLst/>
              <a:cxnLst/>
              <a:rect r="r" b="b" t="t" l="l"/>
              <a:pathLst>
                <a:path h="40233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418" r="0" b="-23341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585216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MediaPipe + Whisper</a:t>
              </a:r>
            </a:p>
          </p:txBody>
        </p:sp>
      </p:grpSp>
      <p:sp>
        <p:nvSpPr>
          <p:cNvPr name="AutoShape 63" id="63"/>
          <p:cNvSpPr/>
          <p:nvPr/>
        </p:nvSpPr>
        <p:spPr>
          <a:xfrm rot="5700">
            <a:off x="1503045" y="6935534"/>
            <a:ext cx="6869440" cy="0"/>
          </a:xfrm>
          <a:prstGeom prst="line">
            <a:avLst/>
          </a:prstGeom>
          <a:ln cap="rnd" w="9525">
            <a:solidFill>
              <a:srgbClr val="D9DE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4" id="64"/>
          <p:cNvGrpSpPr/>
          <p:nvPr/>
        </p:nvGrpSpPr>
        <p:grpSpPr>
          <a:xfrm rot="0">
            <a:off x="1508760" y="7338060"/>
            <a:ext cx="2057400" cy="301752"/>
            <a:chOff x="0" y="0"/>
            <a:chExt cx="2743200" cy="40233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743200" cy="402336"/>
            </a:xfrm>
            <a:custGeom>
              <a:avLst/>
              <a:gdLst/>
              <a:ahLst/>
              <a:cxnLst/>
              <a:rect r="r" b="b" t="t" l="l"/>
              <a:pathLst>
                <a:path h="402336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27432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5B657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Access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3771900" y="7338060"/>
            <a:ext cx="4389120" cy="301752"/>
            <a:chOff x="0" y="0"/>
            <a:chExt cx="5852160" cy="40233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852160" cy="402336"/>
            </a:xfrm>
            <a:custGeom>
              <a:avLst/>
              <a:gdLst/>
              <a:ahLst/>
              <a:cxnLst/>
              <a:rect r="r" b="b" t="t" l="l"/>
              <a:pathLst>
                <a:path h="40233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418" r="0" b="-23341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585216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core:access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385935" y="1979295"/>
            <a:ext cx="7864602" cy="6808470"/>
            <a:chOff x="0" y="0"/>
            <a:chExt cx="10486136" cy="90779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486136" cy="9077960"/>
            </a:xfrm>
            <a:custGeom>
              <a:avLst/>
              <a:gdLst/>
              <a:ahLst/>
              <a:cxnLst/>
              <a:rect r="r" b="b" t="t" l="l"/>
              <a:pathLst>
                <a:path h="9077960" w="10486136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339451" y="0"/>
                  </a:lnTo>
                  <a:cubicBezTo>
                    <a:pt x="10420477" y="0"/>
                    <a:pt x="10486136" y="65659"/>
                    <a:pt x="10486136" y="146685"/>
                  </a:cubicBezTo>
                  <a:lnTo>
                    <a:pt x="10486136" y="8931275"/>
                  </a:lnTo>
                  <a:cubicBezTo>
                    <a:pt x="10486136" y="9012301"/>
                    <a:pt x="10420477" y="9077960"/>
                    <a:pt x="10339451" y="9077960"/>
                  </a:cubicBezTo>
                  <a:lnTo>
                    <a:pt x="146685" y="9077960"/>
                  </a:lnTo>
                  <a:cubicBezTo>
                    <a:pt x="65659" y="9077960"/>
                    <a:pt x="0" y="9012301"/>
                    <a:pt x="0" y="893127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9385935" y="1979295"/>
            <a:ext cx="7864602" cy="773430"/>
            <a:chOff x="0" y="0"/>
            <a:chExt cx="10486136" cy="10312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486136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486136">
                  <a:moveTo>
                    <a:pt x="0" y="0"/>
                  </a:moveTo>
                  <a:lnTo>
                    <a:pt x="10486136" y="0"/>
                  </a:lnTo>
                  <a:lnTo>
                    <a:pt x="10486136" y="1031240"/>
                  </a:lnTo>
                  <a:lnTo>
                    <a:pt x="0" y="1031240"/>
                  </a:lnTo>
                  <a:close/>
                </a:path>
              </a:pathLst>
            </a:custGeom>
            <a:solidFill>
              <a:srgbClr val="2DD4BF"/>
            </a:solidFill>
            <a:ln w="19050" cap="sq">
              <a:solidFill>
                <a:srgbClr val="2DD4BF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9738360" y="2221992"/>
            <a:ext cx="2743200" cy="274320"/>
            <a:chOff x="0" y="0"/>
            <a:chExt cx="3657600" cy="3657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65760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365760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iOS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875520" y="3086100"/>
            <a:ext cx="2057400" cy="301752"/>
            <a:chOff x="0" y="0"/>
            <a:chExt cx="2743200" cy="40233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743200" cy="402336"/>
            </a:xfrm>
            <a:custGeom>
              <a:avLst/>
              <a:gdLst/>
              <a:ahLst/>
              <a:cxnLst/>
              <a:rect r="r" b="b" t="t" l="l"/>
              <a:pathLst>
                <a:path h="402336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27432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5B657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Language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138660" y="3086100"/>
            <a:ext cx="4389120" cy="301752"/>
            <a:chOff x="0" y="0"/>
            <a:chExt cx="5852160" cy="40233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852160" cy="402336"/>
            </a:xfrm>
            <a:custGeom>
              <a:avLst/>
              <a:gdLst/>
              <a:ahLst/>
              <a:cxnLst/>
              <a:rect r="r" b="b" t="t" l="l"/>
              <a:pathLst>
                <a:path h="40233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418" r="0" b="-23341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585216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Swift</a:t>
              </a:r>
            </a:p>
          </p:txBody>
        </p:sp>
      </p:grpSp>
      <p:sp>
        <p:nvSpPr>
          <p:cNvPr name="AutoShape 83" id="83"/>
          <p:cNvSpPr/>
          <p:nvPr/>
        </p:nvSpPr>
        <p:spPr>
          <a:xfrm rot="5700">
            <a:off x="9869805" y="3533966"/>
            <a:ext cx="6869440" cy="0"/>
          </a:xfrm>
          <a:prstGeom prst="line">
            <a:avLst/>
          </a:prstGeom>
          <a:ln cap="rnd" w="9525">
            <a:solidFill>
              <a:srgbClr val="D9DE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4" id="84"/>
          <p:cNvGrpSpPr/>
          <p:nvPr/>
        </p:nvGrpSpPr>
        <p:grpSpPr>
          <a:xfrm rot="0">
            <a:off x="9875520" y="3936492"/>
            <a:ext cx="2057400" cy="301752"/>
            <a:chOff x="0" y="0"/>
            <a:chExt cx="2743200" cy="40233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743200" cy="402336"/>
            </a:xfrm>
            <a:custGeom>
              <a:avLst/>
              <a:gdLst/>
              <a:ahLst/>
              <a:cxnLst/>
              <a:rect r="r" b="b" t="t" l="l"/>
              <a:pathLst>
                <a:path h="402336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27432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5B657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UI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2138660" y="3936492"/>
            <a:ext cx="4389120" cy="301752"/>
            <a:chOff x="0" y="0"/>
            <a:chExt cx="5852160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852160" cy="402336"/>
            </a:xfrm>
            <a:custGeom>
              <a:avLst/>
              <a:gdLst/>
              <a:ahLst/>
              <a:cxnLst/>
              <a:rect r="r" b="b" t="t" l="l"/>
              <a:pathLst>
                <a:path h="40233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418" r="0" b="-233418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585216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SwiftUI</a:t>
              </a:r>
            </a:p>
          </p:txBody>
        </p:sp>
      </p:grpSp>
      <p:sp>
        <p:nvSpPr>
          <p:cNvPr name="AutoShape 90" id="90"/>
          <p:cNvSpPr/>
          <p:nvPr/>
        </p:nvSpPr>
        <p:spPr>
          <a:xfrm rot="5700">
            <a:off x="9869805" y="4384358"/>
            <a:ext cx="6869440" cy="0"/>
          </a:xfrm>
          <a:prstGeom prst="line">
            <a:avLst/>
          </a:prstGeom>
          <a:ln cap="rnd" w="9525">
            <a:solidFill>
              <a:srgbClr val="D9DE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1" id="91"/>
          <p:cNvGrpSpPr/>
          <p:nvPr/>
        </p:nvGrpSpPr>
        <p:grpSpPr>
          <a:xfrm rot="0">
            <a:off x="9875520" y="4786884"/>
            <a:ext cx="2057400" cy="301752"/>
            <a:chOff x="0" y="0"/>
            <a:chExt cx="2743200" cy="40233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743200" cy="402336"/>
            </a:xfrm>
            <a:custGeom>
              <a:avLst/>
              <a:gdLst/>
              <a:ahLst/>
              <a:cxnLst/>
              <a:rect r="r" b="b" t="t" l="l"/>
              <a:pathLst>
                <a:path h="402336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0"/>
              <a:ext cx="27432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5B657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Architecture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2138660" y="4786884"/>
            <a:ext cx="4389120" cy="301752"/>
            <a:chOff x="0" y="0"/>
            <a:chExt cx="5852160" cy="40233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852160" cy="402336"/>
            </a:xfrm>
            <a:custGeom>
              <a:avLst/>
              <a:gdLst/>
              <a:ahLst/>
              <a:cxnLst/>
              <a:rect r="r" b="b" t="t" l="l"/>
              <a:pathLst>
                <a:path h="40233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418" r="0" b="-233418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585216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Clean + MVVM</a:t>
              </a:r>
            </a:p>
          </p:txBody>
        </p:sp>
      </p:grpSp>
      <p:sp>
        <p:nvSpPr>
          <p:cNvPr name="AutoShape 97" id="97"/>
          <p:cNvSpPr/>
          <p:nvPr/>
        </p:nvSpPr>
        <p:spPr>
          <a:xfrm rot="5700">
            <a:off x="9869805" y="5234750"/>
            <a:ext cx="6869440" cy="0"/>
          </a:xfrm>
          <a:prstGeom prst="line">
            <a:avLst/>
          </a:prstGeom>
          <a:ln cap="rnd" w="9525">
            <a:solidFill>
              <a:srgbClr val="D9DE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8" id="98"/>
          <p:cNvGrpSpPr/>
          <p:nvPr/>
        </p:nvGrpSpPr>
        <p:grpSpPr>
          <a:xfrm rot="0">
            <a:off x="9875520" y="5637276"/>
            <a:ext cx="2057400" cy="301752"/>
            <a:chOff x="0" y="0"/>
            <a:chExt cx="2743200" cy="40233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743200" cy="402336"/>
            </a:xfrm>
            <a:custGeom>
              <a:avLst/>
              <a:gdLst/>
              <a:ahLst/>
              <a:cxnLst/>
              <a:rect r="r" b="b" t="t" l="l"/>
              <a:pathLst>
                <a:path h="402336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0"/>
              <a:ext cx="27432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5B657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Networking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2138660" y="5637276"/>
            <a:ext cx="4389120" cy="301752"/>
            <a:chOff x="0" y="0"/>
            <a:chExt cx="5852160" cy="40233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852160" cy="402336"/>
            </a:xfrm>
            <a:custGeom>
              <a:avLst/>
              <a:gdLst/>
              <a:ahLst/>
              <a:cxnLst/>
              <a:rect r="r" b="b" t="t" l="l"/>
              <a:pathLst>
                <a:path h="40233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418" r="0" b="-233418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585216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URLSession</a:t>
              </a:r>
            </a:p>
          </p:txBody>
        </p:sp>
      </p:grpSp>
      <p:sp>
        <p:nvSpPr>
          <p:cNvPr name="AutoShape 104" id="104"/>
          <p:cNvSpPr/>
          <p:nvPr/>
        </p:nvSpPr>
        <p:spPr>
          <a:xfrm rot="5700">
            <a:off x="9869805" y="6085142"/>
            <a:ext cx="6869440" cy="0"/>
          </a:xfrm>
          <a:prstGeom prst="line">
            <a:avLst/>
          </a:prstGeom>
          <a:ln cap="rnd" w="9525">
            <a:solidFill>
              <a:srgbClr val="D9DE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5" id="105"/>
          <p:cNvGrpSpPr/>
          <p:nvPr/>
        </p:nvGrpSpPr>
        <p:grpSpPr>
          <a:xfrm rot="0">
            <a:off x="9875520" y="6487668"/>
            <a:ext cx="2057400" cy="301752"/>
            <a:chOff x="0" y="0"/>
            <a:chExt cx="2743200" cy="40233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743200" cy="402336"/>
            </a:xfrm>
            <a:custGeom>
              <a:avLst/>
              <a:gdLst/>
              <a:ahLst/>
              <a:cxnLst/>
              <a:rect r="r" b="b" t="t" l="l"/>
              <a:pathLst>
                <a:path h="402336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27432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5B657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On-device AI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2138660" y="6487668"/>
            <a:ext cx="4389120" cy="301752"/>
            <a:chOff x="0" y="0"/>
            <a:chExt cx="5852160" cy="40233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5852160" cy="402336"/>
            </a:xfrm>
            <a:custGeom>
              <a:avLst/>
              <a:gdLst/>
              <a:ahLst/>
              <a:cxnLst/>
              <a:rect r="r" b="b" t="t" l="l"/>
              <a:pathLst>
                <a:path h="40233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418" r="0" b="-233418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0"/>
              <a:ext cx="585216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Vision + Speech</a:t>
              </a:r>
            </a:p>
          </p:txBody>
        </p:sp>
      </p:grpSp>
      <p:sp>
        <p:nvSpPr>
          <p:cNvPr name="AutoShape 111" id="111"/>
          <p:cNvSpPr/>
          <p:nvPr/>
        </p:nvSpPr>
        <p:spPr>
          <a:xfrm rot="5700">
            <a:off x="9869805" y="6935534"/>
            <a:ext cx="6869440" cy="0"/>
          </a:xfrm>
          <a:prstGeom prst="line">
            <a:avLst/>
          </a:prstGeom>
          <a:ln cap="rnd" w="9525">
            <a:solidFill>
              <a:srgbClr val="D9DE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2" id="112"/>
          <p:cNvGrpSpPr/>
          <p:nvPr/>
        </p:nvGrpSpPr>
        <p:grpSpPr>
          <a:xfrm rot="0">
            <a:off x="9875520" y="7338060"/>
            <a:ext cx="2057400" cy="301752"/>
            <a:chOff x="0" y="0"/>
            <a:chExt cx="2743200" cy="40233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743200" cy="402336"/>
            </a:xfrm>
            <a:custGeom>
              <a:avLst/>
              <a:gdLst/>
              <a:ahLst/>
              <a:cxnLst/>
              <a:rect r="r" b="b" t="t" l="l"/>
              <a:pathLst>
                <a:path h="402336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0"/>
              <a:ext cx="27432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5B657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Persistence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2138660" y="7338060"/>
            <a:ext cx="4389120" cy="301752"/>
            <a:chOff x="0" y="0"/>
            <a:chExt cx="5852160" cy="40233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5852160" cy="402336"/>
            </a:xfrm>
            <a:custGeom>
              <a:avLst/>
              <a:gdLst/>
              <a:ahLst/>
              <a:cxnLst/>
              <a:rect r="r" b="b" t="t" l="l"/>
              <a:pathLst>
                <a:path h="40233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418" r="0" b="-233418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0"/>
              <a:ext cx="585216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Core Data + Keychain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69926"/>
            <a:chOff x="0" y="0"/>
            <a:chExt cx="24408790" cy="2265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26568"/>
            </a:xfrm>
            <a:custGeom>
              <a:avLst/>
              <a:gdLst/>
              <a:ahLst/>
              <a:cxnLst/>
              <a:rect r="r" b="b" t="t" l="l"/>
              <a:pathLst>
                <a:path h="22656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26568"/>
                  </a:lnTo>
                  <a:lnTo>
                    <a:pt x="0" y="226568"/>
                  </a:lnTo>
                  <a:close/>
                </a:path>
              </a:pathLst>
            </a:custGeom>
            <a:solidFill>
              <a:srgbClr val="FF7A45"/>
            </a:solidFill>
            <a:ln w="19050" cap="sq">
              <a:solidFill>
                <a:srgbClr val="FF7A4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141351"/>
            <a:ext cx="18306593" cy="73914"/>
            <a:chOff x="0" y="0"/>
            <a:chExt cx="24408790" cy="985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98552"/>
            </a:xfrm>
            <a:custGeom>
              <a:avLst/>
              <a:gdLst/>
              <a:ahLst/>
              <a:cxnLst/>
              <a:rect r="r" b="b" t="t" l="l"/>
              <a:pathLst>
                <a:path h="98552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98552"/>
                  </a:lnTo>
                  <a:lnTo>
                    <a:pt x="0" y="98552"/>
                  </a:lnTo>
                  <a:close/>
                </a:path>
              </a:pathLst>
            </a:custGeom>
            <a:solidFill>
              <a:srgbClr val="2DD4BF"/>
            </a:solidFill>
            <a:ln w="19050" cap="sq">
              <a:solidFill>
                <a:srgbClr val="2DD4B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32688" y="576072"/>
            <a:ext cx="12070080" cy="576072"/>
            <a:chOff x="0" y="0"/>
            <a:chExt cx="16093440" cy="7680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93439" cy="768096"/>
            </a:xfrm>
            <a:custGeom>
              <a:avLst/>
              <a:gdLst/>
              <a:ahLst/>
              <a:cxnLst/>
              <a:rect r="r" b="b" t="t" l="l"/>
              <a:pathLst>
                <a:path h="768096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257" r="0" b="-35825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609344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Mobile Design Journey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0120" y="1234440"/>
            <a:ext cx="14813280" cy="411480"/>
            <a:chOff x="0" y="0"/>
            <a:chExt cx="1975104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751039" cy="548640"/>
            </a:xfrm>
            <a:custGeom>
              <a:avLst/>
              <a:gdLst/>
              <a:ahLst/>
              <a:cxnLst/>
              <a:rect r="r" b="b" t="t" l="l"/>
              <a:pathLst>
                <a:path h="54864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97510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Replace each phone placeholder with the final Android/iOS capture while preserving the composition.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664940" y="644652"/>
            <a:ext cx="685800" cy="384048"/>
            <a:chOff x="0" y="0"/>
            <a:chExt cx="9144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914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13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2400">
            <a:off x="926973" y="9761030"/>
            <a:ext cx="16402050" cy="0"/>
          </a:xfrm>
          <a:prstGeom prst="line">
            <a:avLst/>
          </a:prstGeom>
          <a:ln cap="rnd" w="9525">
            <a:solidFill>
              <a:srgbClr val="D9DE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60120" y="9848088"/>
            <a:ext cx="5623560" cy="192024"/>
            <a:chOff x="0" y="0"/>
            <a:chExt cx="7498080" cy="2560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98080" cy="256032"/>
            </a:xfrm>
            <a:custGeom>
              <a:avLst/>
              <a:gdLst/>
              <a:ahLst/>
              <a:cxnLst/>
              <a:rect r="r" b="b" t="t" l="l"/>
              <a:pathLst>
                <a:path h="256032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49808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9AA3B8"/>
                  </a:solidFill>
                  <a:latin typeface="Aptos"/>
                  <a:ea typeface="Aptos"/>
                  <a:cs typeface="Aptos"/>
                  <a:sym typeface="Aptos"/>
                </a:rPr>
                <a:t>CAREER PILOT  •  ITI Intake 46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253460" y="9848088"/>
            <a:ext cx="1028700" cy="192024"/>
            <a:chOff x="0" y="0"/>
            <a:chExt cx="1371600" cy="2560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71600" cy="256032"/>
            </a:xfrm>
            <a:custGeom>
              <a:avLst/>
              <a:gdLst/>
              <a:ahLst/>
              <a:cxnLst/>
              <a:rect r="r" b="b" t="t" l="l"/>
              <a:pathLst>
                <a:path h="25603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37160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>
                  <a:solidFill>
                    <a:srgbClr val="9AA3B8"/>
                  </a:solidFill>
                  <a:latin typeface="Aptos"/>
                  <a:ea typeface="Aptos"/>
                  <a:cs typeface="Aptos"/>
                  <a:sym typeface="Aptos"/>
                </a:rPr>
                <a:t>13 / 17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55560" y="2070544"/>
            <a:ext cx="3388995" cy="6749415"/>
            <a:chOff x="0" y="0"/>
            <a:chExt cx="4518660" cy="89992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18660" cy="8999220"/>
            </a:xfrm>
            <a:custGeom>
              <a:avLst/>
              <a:gdLst/>
              <a:ahLst/>
              <a:cxnLst/>
              <a:rect r="r" b="b" t="t" l="l"/>
              <a:pathLst>
                <a:path h="8999220" w="4518660">
                  <a:moveTo>
                    <a:pt x="0" y="368808"/>
                  </a:moveTo>
                  <a:cubicBezTo>
                    <a:pt x="0" y="165100"/>
                    <a:pt x="165100" y="0"/>
                    <a:pt x="368808" y="0"/>
                  </a:cubicBezTo>
                  <a:lnTo>
                    <a:pt x="4149852" y="0"/>
                  </a:lnTo>
                  <a:cubicBezTo>
                    <a:pt x="4353560" y="0"/>
                    <a:pt x="4518660" y="165100"/>
                    <a:pt x="4518660" y="368808"/>
                  </a:cubicBezTo>
                  <a:lnTo>
                    <a:pt x="4518660" y="8630412"/>
                  </a:lnTo>
                  <a:cubicBezTo>
                    <a:pt x="4518660" y="8834120"/>
                    <a:pt x="4353560" y="8999220"/>
                    <a:pt x="4149852" y="8999220"/>
                  </a:cubicBezTo>
                  <a:lnTo>
                    <a:pt x="368808" y="8999220"/>
                  </a:lnTo>
                  <a:cubicBezTo>
                    <a:pt x="165100" y="8999220"/>
                    <a:pt x="0" y="8834120"/>
                    <a:pt x="0" y="8630412"/>
                  </a:cubicBezTo>
                  <a:close/>
                </a:path>
              </a:pathLst>
            </a:custGeom>
            <a:solidFill>
              <a:srgbClr val="0E1428"/>
            </a:solidFill>
            <a:ln w="28575" cap="sq">
              <a:solidFill>
                <a:srgbClr val="0E1428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73861" y="2243709"/>
            <a:ext cx="3152394" cy="6403086"/>
            <a:chOff x="0" y="0"/>
            <a:chExt cx="4203192" cy="853744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03192" cy="8537448"/>
            </a:xfrm>
            <a:custGeom>
              <a:avLst/>
              <a:gdLst/>
              <a:ahLst/>
              <a:cxnLst/>
              <a:rect r="r" b="b" t="t" l="l"/>
              <a:pathLst>
                <a:path h="8537448" w="4203192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lnTo>
                    <a:pt x="3909568" y="0"/>
                  </a:lnTo>
                  <a:cubicBezTo>
                    <a:pt x="4071747" y="0"/>
                    <a:pt x="4203192" y="131445"/>
                    <a:pt x="4203192" y="293624"/>
                  </a:cubicBezTo>
                  <a:lnTo>
                    <a:pt x="4203192" y="8243824"/>
                  </a:lnTo>
                  <a:cubicBezTo>
                    <a:pt x="4203192" y="8406003"/>
                    <a:pt x="4071747" y="8537448"/>
                    <a:pt x="3909568" y="8537448"/>
                  </a:cubicBezTo>
                  <a:lnTo>
                    <a:pt x="293624" y="8537448"/>
                  </a:lnTo>
                  <a:cubicBezTo>
                    <a:pt x="131445" y="8537448"/>
                    <a:pt x="0" y="8406003"/>
                    <a:pt x="0" y="8243824"/>
                  </a:cubicBezTo>
                  <a:close/>
                </a:path>
              </a:pathLst>
            </a:custGeom>
            <a:solidFill>
              <a:srgbClr val="FFFFFF"/>
            </a:solidFill>
            <a:ln w="1143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2303678" y="2185035"/>
            <a:ext cx="892759" cy="128778"/>
            <a:chOff x="0" y="0"/>
            <a:chExt cx="1190346" cy="1717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90371" cy="171704"/>
            </a:xfrm>
            <a:custGeom>
              <a:avLst/>
              <a:gdLst/>
              <a:ahLst/>
              <a:cxnLst/>
              <a:rect r="r" b="b" t="t" l="l"/>
              <a:pathLst>
                <a:path h="171704" w="1190371">
                  <a:moveTo>
                    <a:pt x="0" y="64389"/>
                  </a:moveTo>
                  <a:cubicBezTo>
                    <a:pt x="0" y="28829"/>
                    <a:pt x="28829" y="0"/>
                    <a:pt x="64389" y="0"/>
                  </a:cubicBezTo>
                  <a:lnTo>
                    <a:pt x="1125982" y="0"/>
                  </a:lnTo>
                  <a:cubicBezTo>
                    <a:pt x="1161542" y="0"/>
                    <a:pt x="1190371" y="28829"/>
                    <a:pt x="1190371" y="64389"/>
                  </a:cubicBezTo>
                  <a:lnTo>
                    <a:pt x="1190371" y="107315"/>
                  </a:lnTo>
                  <a:cubicBezTo>
                    <a:pt x="1190371" y="142875"/>
                    <a:pt x="1161542" y="171704"/>
                    <a:pt x="1125982" y="171704"/>
                  </a:cubicBezTo>
                  <a:lnTo>
                    <a:pt x="64389" y="171704"/>
                  </a:lnTo>
                  <a:cubicBezTo>
                    <a:pt x="28829" y="171704"/>
                    <a:pt x="0" y="142875"/>
                    <a:pt x="0" y="107315"/>
                  </a:cubicBezTo>
                  <a:close/>
                </a:path>
              </a:pathLst>
            </a:custGeom>
            <a:solidFill>
              <a:srgbClr val="0E1428"/>
            </a:solidFill>
            <a:ln w="19050" cap="sq">
              <a:solidFill>
                <a:srgbClr val="0E1428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362075" y="2692527"/>
            <a:ext cx="2775966" cy="595122"/>
            <a:chOff x="0" y="0"/>
            <a:chExt cx="3701288" cy="7934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701288" cy="793496"/>
            </a:xfrm>
            <a:custGeom>
              <a:avLst/>
              <a:gdLst/>
              <a:ahLst/>
              <a:cxnLst/>
              <a:rect r="r" b="b" t="t" l="l"/>
              <a:pathLst>
                <a:path h="793496" w="3701288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3587877" y="0"/>
                  </a:lnTo>
                  <a:cubicBezTo>
                    <a:pt x="3650488" y="0"/>
                    <a:pt x="3701288" y="50800"/>
                    <a:pt x="3701288" y="113411"/>
                  </a:cubicBezTo>
                  <a:lnTo>
                    <a:pt x="3701288" y="680085"/>
                  </a:lnTo>
                  <a:cubicBezTo>
                    <a:pt x="3701288" y="742696"/>
                    <a:pt x="3650488" y="793496"/>
                    <a:pt x="3587877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FFF0E9"/>
            </a:solidFill>
            <a:ln w="19050" cap="sq">
              <a:solidFill>
                <a:srgbClr val="FFF0E9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453896" y="4638751"/>
            <a:ext cx="2592324" cy="932688"/>
            <a:chOff x="0" y="0"/>
            <a:chExt cx="3456432" cy="12435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56432" cy="1243584"/>
            </a:xfrm>
            <a:custGeom>
              <a:avLst/>
              <a:gdLst/>
              <a:ahLst/>
              <a:cxnLst/>
              <a:rect r="r" b="b" t="t" l="l"/>
              <a:pathLst>
                <a:path h="1243584" w="3456432">
                  <a:moveTo>
                    <a:pt x="0" y="0"/>
                  </a:moveTo>
                  <a:lnTo>
                    <a:pt x="3456432" y="0"/>
                  </a:lnTo>
                  <a:lnTo>
                    <a:pt x="3456432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6" r="0" b="-415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3456432" cy="12435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MOBILE SCREEN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PLACEHOLDER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61872" y="8037576"/>
            <a:ext cx="2976372" cy="342900"/>
            <a:chOff x="0" y="0"/>
            <a:chExt cx="3968496" cy="457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968496" cy="457200"/>
            </a:xfrm>
            <a:custGeom>
              <a:avLst/>
              <a:gdLst/>
              <a:ahLst/>
              <a:cxnLst/>
              <a:rect r="r" b="b" t="t" l="l"/>
              <a:pathLst>
                <a:path h="457200" w="3968496">
                  <a:moveTo>
                    <a:pt x="0" y="0"/>
                  </a:moveTo>
                  <a:lnTo>
                    <a:pt x="3968496" y="0"/>
                  </a:lnTo>
                  <a:lnTo>
                    <a:pt x="39684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130" r="0" b="-11913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3968496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Onboarding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34953" y="2070544"/>
            <a:ext cx="3388995" cy="6749415"/>
            <a:chOff x="0" y="0"/>
            <a:chExt cx="4518660" cy="89992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518660" cy="8999220"/>
            </a:xfrm>
            <a:custGeom>
              <a:avLst/>
              <a:gdLst/>
              <a:ahLst/>
              <a:cxnLst/>
              <a:rect r="r" b="b" t="t" l="l"/>
              <a:pathLst>
                <a:path h="8999220" w="4518660">
                  <a:moveTo>
                    <a:pt x="0" y="368808"/>
                  </a:moveTo>
                  <a:cubicBezTo>
                    <a:pt x="0" y="165100"/>
                    <a:pt x="165100" y="0"/>
                    <a:pt x="368808" y="0"/>
                  </a:cubicBezTo>
                  <a:lnTo>
                    <a:pt x="4149852" y="0"/>
                  </a:lnTo>
                  <a:cubicBezTo>
                    <a:pt x="4353560" y="0"/>
                    <a:pt x="4518660" y="165100"/>
                    <a:pt x="4518660" y="368808"/>
                  </a:cubicBezTo>
                  <a:lnTo>
                    <a:pt x="4518660" y="8630412"/>
                  </a:lnTo>
                  <a:cubicBezTo>
                    <a:pt x="4518660" y="8834120"/>
                    <a:pt x="4353560" y="8999220"/>
                    <a:pt x="4149852" y="8999220"/>
                  </a:cubicBezTo>
                  <a:lnTo>
                    <a:pt x="368808" y="8999220"/>
                  </a:lnTo>
                  <a:cubicBezTo>
                    <a:pt x="165100" y="8999220"/>
                    <a:pt x="0" y="8834120"/>
                    <a:pt x="0" y="8630412"/>
                  </a:cubicBezTo>
                  <a:close/>
                </a:path>
              </a:pathLst>
            </a:custGeom>
            <a:solidFill>
              <a:srgbClr val="0E1428"/>
            </a:solidFill>
            <a:ln w="28575" cap="sq">
              <a:solidFill>
                <a:srgbClr val="0E1428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5453253" y="2243709"/>
            <a:ext cx="3152394" cy="6403086"/>
            <a:chOff x="0" y="0"/>
            <a:chExt cx="4203192" cy="85374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203192" cy="8537448"/>
            </a:xfrm>
            <a:custGeom>
              <a:avLst/>
              <a:gdLst/>
              <a:ahLst/>
              <a:cxnLst/>
              <a:rect r="r" b="b" t="t" l="l"/>
              <a:pathLst>
                <a:path h="8537448" w="4203192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lnTo>
                    <a:pt x="3909568" y="0"/>
                  </a:lnTo>
                  <a:cubicBezTo>
                    <a:pt x="4071747" y="0"/>
                    <a:pt x="4203192" y="131445"/>
                    <a:pt x="4203192" y="293624"/>
                  </a:cubicBezTo>
                  <a:lnTo>
                    <a:pt x="4203192" y="8243824"/>
                  </a:lnTo>
                  <a:cubicBezTo>
                    <a:pt x="4203192" y="8406003"/>
                    <a:pt x="4071747" y="8537448"/>
                    <a:pt x="3909568" y="8537448"/>
                  </a:cubicBezTo>
                  <a:lnTo>
                    <a:pt x="293624" y="8537448"/>
                  </a:lnTo>
                  <a:cubicBezTo>
                    <a:pt x="131445" y="8537448"/>
                    <a:pt x="0" y="8406003"/>
                    <a:pt x="0" y="8243824"/>
                  </a:cubicBezTo>
                  <a:close/>
                </a:path>
              </a:pathLst>
            </a:custGeom>
            <a:solidFill>
              <a:srgbClr val="FFFFFF"/>
            </a:solidFill>
            <a:ln w="1143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6583070" y="2185035"/>
            <a:ext cx="892759" cy="128778"/>
            <a:chOff x="0" y="0"/>
            <a:chExt cx="1190346" cy="17170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90371" cy="171704"/>
            </a:xfrm>
            <a:custGeom>
              <a:avLst/>
              <a:gdLst/>
              <a:ahLst/>
              <a:cxnLst/>
              <a:rect r="r" b="b" t="t" l="l"/>
              <a:pathLst>
                <a:path h="171704" w="1190371">
                  <a:moveTo>
                    <a:pt x="0" y="64389"/>
                  </a:moveTo>
                  <a:cubicBezTo>
                    <a:pt x="0" y="28829"/>
                    <a:pt x="28829" y="0"/>
                    <a:pt x="64389" y="0"/>
                  </a:cubicBezTo>
                  <a:lnTo>
                    <a:pt x="1125982" y="0"/>
                  </a:lnTo>
                  <a:cubicBezTo>
                    <a:pt x="1161542" y="0"/>
                    <a:pt x="1190371" y="28829"/>
                    <a:pt x="1190371" y="64389"/>
                  </a:cubicBezTo>
                  <a:lnTo>
                    <a:pt x="1190371" y="107315"/>
                  </a:lnTo>
                  <a:cubicBezTo>
                    <a:pt x="1190371" y="142875"/>
                    <a:pt x="1161542" y="171704"/>
                    <a:pt x="1125982" y="171704"/>
                  </a:cubicBezTo>
                  <a:lnTo>
                    <a:pt x="64389" y="171704"/>
                  </a:lnTo>
                  <a:cubicBezTo>
                    <a:pt x="28829" y="171704"/>
                    <a:pt x="0" y="142875"/>
                    <a:pt x="0" y="107315"/>
                  </a:cubicBezTo>
                  <a:close/>
                </a:path>
              </a:pathLst>
            </a:custGeom>
            <a:solidFill>
              <a:srgbClr val="0E1428"/>
            </a:solidFill>
            <a:ln w="19050" cap="sq">
              <a:solidFill>
                <a:srgbClr val="0E1428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5641467" y="2692527"/>
            <a:ext cx="2775966" cy="595122"/>
            <a:chOff x="0" y="0"/>
            <a:chExt cx="3701288" cy="79349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701288" cy="793496"/>
            </a:xfrm>
            <a:custGeom>
              <a:avLst/>
              <a:gdLst/>
              <a:ahLst/>
              <a:cxnLst/>
              <a:rect r="r" b="b" t="t" l="l"/>
              <a:pathLst>
                <a:path h="793496" w="3701288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3587877" y="0"/>
                  </a:lnTo>
                  <a:cubicBezTo>
                    <a:pt x="3650488" y="0"/>
                    <a:pt x="3701288" y="50800"/>
                    <a:pt x="3701288" y="113411"/>
                  </a:cubicBezTo>
                  <a:lnTo>
                    <a:pt x="3701288" y="680085"/>
                  </a:lnTo>
                  <a:cubicBezTo>
                    <a:pt x="3701288" y="742696"/>
                    <a:pt x="3650488" y="793496"/>
                    <a:pt x="3587877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E9FBF7"/>
            </a:solidFill>
            <a:ln w="19050" cap="sq">
              <a:solidFill>
                <a:srgbClr val="E9FBF7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5733288" y="4638751"/>
            <a:ext cx="2592324" cy="932688"/>
            <a:chOff x="0" y="0"/>
            <a:chExt cx="3456432" cy="12435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456432" cy="1243584"/>
            </a:xfrm>
            <a:custGeom>
              <a:avLst/>
              <a:gdLst/>
              <a:ahLst/>
              <a:cxnLst/>
              <a:rect r="r" b="b" t="t" l="l"/>
              <a:pathLst>
                <a:path h="1243584" w="3456432">
                  <a:moveTo>
                    <a:pt x="0" y="0"/>
                  </a:moveTo>
                  <a:lnTo>
                    <a:pt x="3456432" y="0"/>
                  </a:lnTo>
                  <a:lnTo>
                    <a:pt x="3456432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6" r="0" b="-415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3456432" cy="12435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MOBILE SCREEN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PLACEHOLDER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541264" y="8037576"/>
            <a:ext cx="2976372" cy="342900"/>
            <a:chOff x="0" y="0"/>
            <a:chExt cx="3968496" cy="457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968496" cy="457200"/>
            </a:xfrm>
            <a:custGeom>
              <a:avLst/>
              <a:gdLst/>
              <a:ahLst/>
              <a:cxnLst/>
              <a:rect r="r" b="b" t="t" l="l"/>
              <a:pathLst>
                <a:path h="457200" w="3968496">
                  <a:moveTo>
                    <a:pt x="0" y="0"/>
                  </a:moveTo>
                  <a:lnTo>
                    <a:pt x="3968496" y="0"/>
                  </a:lnTo>
                  <a:lnTo>
                    <a:pt x="39684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130" r="0" b="-11913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3968496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DD4B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Practice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14344" y="2070544"/>
            <a:ext cx="3388995" cy="6749415"/>
            <a:chOff x="0" y="0"/>
            <a:chExt cx="4518660" cy="89992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518660" cy="8999220"/>
            </a:xfrm>
            <a:custGeom>
              <a:avLst/>
              <a:gdLst/>
              <a:ahLst/>
              <a:cxnLst/>
              <a:rect r="r" b="b" t="t" l="l"/>
              <a:pathLst>
                <a:path h="8999220" w="4518660">
                  <a:moveTo>
                    <a:pt x="0" y="368808"/>
                  </a:moveTo>
                  <a:cubicBezTo>
                    <a:pt x="0" y="165100"/>
                    <a:pt x="165100" y="0"/>
                    <a:pt x="368808" y="0"/>
                  </a:cubicBezTo>
                  <a:lnTo>
                    <a:pt x="4149852" y="0"/>
                  </a:lnTo>
                  <a:cubicBezTo>
                    <a:pt x="4353560" y="0"/>
                    <a:pt x="4518660" y="165100"/>
                    <a:pt x="4518660" y="368808"/>
                  </a:cubicBezTo>
                  <a:lnTo>
                    <a:pt x="4518660" y="8630412"/>
                  </a:lnTo>
                  <a:cubicBezTo>
                    <a:pt x="4518660" y="8834120"/>
                    <a:pt x="4353560" y="8999220"/>
                    <a:pt x="4149852" y="8999220"/>
                  </a:cubicBezTo>
                  <a:lnTo>
                    <a:pt x="368808" y="8999220"/>
                  </a:lnTo>
                  <a:cubicBezTo>
                    <a:pt x="165100" y="8999220"/>
                    <a:pt x="0" y="8834120"/>
                    <a:pt x="0" y="8630412"/>
                  </a:cubicBezTo>
                  <a:close/>
                </a:path>
              </a:pathLst>
            </a:custGeom>
            <a:solidFill>
              <a:srgbClr val="0E1428"/>
            </a:solidFill>
            <a:ln w="28575" cap="sq">
              <a:solidFill>
                <a:srgbClr val="0E1428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732645" y="2243709"/>
            <a:ext cx="3152394" cy="6403086"/>
            <a:chOff x="0" y="0"/>
            <a:chExt cx="4203192" cy="85374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203192" cy="8537448"/>
            </a:xfrm>
            <a:custGeom>
              <a:avLst/>
              <a:gdLst/>
              <a:ahLst/>
              <a:cxnLst/>
              <a:rect r="r" b="b" t="t" l="l"/>
              <a:pathLst>
                <a:path h="8537448" w="4203192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lnTo>
                    <a:pt x="3909568" y="0"/>
                  </a:lnTo>
                  <a:cubicBezTo>
                    <a:pt x="4071747" y="0"/>
                    <a:pt x="4203192" y="131445"/>
                    <a:pt x="4203192" y="293624"/>
                  </a:cubicBezTo>
                  <a:lnTo>
                    <a:pt x="4203192" y="8243824"/>
                  </a:lnTo>
                  <a:cubicBezTo>
                    <a:pt x="4203192" y="8406003"/>
                    <a:pt x="4071747" y="8537448"/>
                    <a:pt x="3909568" y="8537448"/>
                  </a:cubicBezTo>
                  <a:lnTo>
                    <a:pt x="293624" y="8537448"/>
                  </a:lnTo>
                  <a:cubicBezTo>
                    <a:pt x="131445" y="8537448"/>
                    <a:pt x="0" y="8406003"/>
                    <a:pt x="0" y="8243824"/>
                  </a:cubicBezTo>
                  <a:close/>
                </a:path>
              </a:pathLst>
            </a:custGeom>
            <a:solidFill>
              <a:srgbClr val="FFFFFF"/>
            </a:solidFill>
            <a:ln w="1143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0862462" y="2185035"/>
            <a:ext cx="892759" cy="128778"/>
            <a:chOff x="0" y="0"/>
            <a:chExt cx="1190346" cy="17170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90371" cy="171704"/>
            </a:xfrm>
            <a:custGeom>
              <a:avLst/>
              <a:gdLst/>
              <a:ahLst/>
              <a:cxnLst/>
              <a:rect r="r" b="b" t="t" l="l"/>
              <a:pathLst>
                <a:path h="171704" w="1190371">
                  <a:moveTo>
                    <a:pt x="0" y="64389"/>
                  </a:moveTo>
                  <a:cubicBezTo>
                    <a:pt x="0" y="28829"/>
                    <a:pt x="28829" y="0"/>
                    <a:pt x="64389" y="0"/>
                  </a:cubicBezTo>
                  <a:lnTo>
                    <a:pt x="1125982" y="0"/>
                  </a:lnTo>
                  <a:cubicBezTo>
                    <a:pt x="1161542" y="0"/>
                    <a:pt x="1190371" y="28829"/>
                    <a:pt x="1190371" y="64389"/>
                  </a:cubicBezTo>
                  <a:lnTo>
                    <a:pt x="1190371" y="107315"/>
                  </a:lnTo>
                  <a:cubicBezTo>
                    <a:pt x="1190371" y="142875"/>
                    <a:pt x="1161542" y="171704"/>
                    <a:pt x="1125982" y="171704"/>
                  </a:cubicBezTo>
                  <a:lnTo>
                    <a:pt x="64389" y="171704"/>
                  </a:lnTo>
                  <a:cubicBezTo>
                    <a:pt x="28829" y="171704"/>
                    <a:pt x="0" y="142875"/>
                    <a:pt x="0" y="107315"/>
                  </a:cubicBezTo>
                  <a:close/>
                </a:path>
              </a:pathLst>
            </a:custGeom>
            <a:solidFill>
              <a:srgbClr val="0E1428"/>
            </a:solidFill>
            <a:ln w="19050" cap="sq">
              <a:solidFill>
                <a:srgbClr val="0E1428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9920859" y="2692527"/>
            <a:ext cx="2775966" cy="595122"/>
            <a:chOff x="0" y="0"/>
            <a:chExt cx="3701288" cy="79349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701288" cy="793496"/>
            </a:xfrm>
            <a:custGeom>
              <a:avLst/>
              <a:gdLst/>
              <a:ahLst/>
              <a:cxnLst/>
              <a:rect r="r" b="b" t="t" l="l"/>
              <a:pathLst>
                <a:path h="793496" w="3701288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3587877" y="0"/>
                  </a:lnTo>
                  <a:cubicBezTo>
                    <a:pt x="3650488" y="0"/>
                    <a:pt x="3701288" y="50800"/>
                    <a:pt x="3701288" y="113411"/>
                  </a:cubicBezTo>
                  <a:lnTo>
                    <a:pt x="3701288" y="680085"/>
                  </a:lnTo>
                  <a:cubicBezTo>
                    <a:pt x="3701288" y="742696"/>
                    <a:pt x="3650488" y="793496"/>
                    <a:pt x="3587877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FFF0E9"/>
            </a:solidFill>
            <a:ln w="19050" cap="sq">
              <a:solidFill>
                <a:srgbClr val="FFF0E9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0012680" y="4638751"/>
            <a:ext cx="2592324" cy="932688"/>
            <a:chOff x="0" y="0"/>
            <a:chExt cx="3456432" cy="124358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456432" cy="1243584"/>
            </a:xfrm>
            <a:custGeom>
              <a:avLst/>
              <a:gdLst/>
              <a:ahLst/>
              <a:cxnLst/>
              <a:rect r="r" b="b" t="t" l="l"/>
              <a:pathLst>
                <a:path h="1243584" w="3456432">
                  <a:moveTo>
                    <a:pt x="0" y="0"/>
                  </a:moveTo>
                  <a:lnTo>
                    <a:pt x="3456432" y="0"/>
                  </a:lnTo>
                  <a:lnTo>
                    <a:pt x="3456432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6" r="0" b="-415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3456432" cy="12435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MOBILE SCREEN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PLACEHOLDER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820656" y="8037576"/>
            <a:ext cx="2976372" cy="342900"/>
            <a:chOff x="0" y="0"/>
            <a:chExt cx="3968496" cy="4572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968496" cy="457200"/>
            </a:xfrm>
            <a:custGeom>
              <a:avLst/>
              <a:gdLst/>
              <a:ahLst/>
              <a:cxnLst/>
              <a:rect r="r" b="b" t="t" l="l"/>
              <a:pathLst>
                <a:path h="457200" w="3968496">
                  <a:moveTo>
                    <a:pt x="0" y="0"/>
                  </a:moveTo>
                  <a:lnTo>
                    <a:pt x="3968496" y="0"/>
                  </a:lnTo>
                  <a:lnTo>
                    <a:pt x="39684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130" r="0" b="-11913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3968496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ATS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893737" y="2070544"/>
            <a:ext cx="3388995" cy="6749415"/>
            <a:chOff x="0" y="0"/>
            <a:chExt cx="4518660" cy="89992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518660" cy="8999220"/>
            </a:xfrm>
            <a:custGeom>
              <a:avLst/>
              <a:gdLst/>
              <a:ahLst/>
              <a:cxnLst/>
              <a:rect r="r" b="b" t="t" l="l"/>
              <a:pathLst>
                <a:path h="8999220" w="4518660">
                  <a:moveTo>
                    <a:pt x="0" y="368808"/>
                  </a:moveTo>
                  <a:cubicBezTo>
                    <a:pt x="0" y="165100"/>
                    <a:pt x="165100" y="0"/>
                    <a:pt x="368808" y="0"/>
                  </a:cubicBezTo>
                  <a:lnTo>
                    <a:pt x="4149852" y="0"/>
                  </a:lnTo>
                  <a:cubicBezTo>
                    <a:pt x="4353560" y="0"/>
                    <a:pt x="4518660" y="165100"/>
                    <a:pt x="4518660" y="368808"/>
                  </a:cubicBezTo>
                  <a:lnTo>
                    <a:pt x="4518660" y="8630412"/>
                  </a:lnTo>
                  <a:cubicBezTo>
                    <a:pt x="4518660" y="8834120"/>
                    <a:pt x="4353560" y="8999220"/>
                    <a:pt x="4149852" y="8999220"/>
                  </a:cubicBezTo>
                  <a:lnTo>
                    <a:pt x="368808" y="8999220"/>
                  </a:lnTo>
                  <a:cubicBezTo>
                    <a:pt x="165100" y="8999220"/>
                    <a:pt x="0" y="8834120"/>
                    <a:pt x="0" y="8630412"/>
                  </a:cubicBezTo>
                  <a:close/>
                </a:path>
              </a:pathLst>
            </a:custGeom>
            <a:solidFill>
              <a:srgbClr val="0E1428"/>
            </a:solidFill>
            <a:ln w="28575" cap="sq">
              <a:solidFill>
                <a:srgbClr val="0E1428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4012037" y="2243709"/>
            <a:ext cx="3152394" cy="6403086"/>
            <a:chOff x="0" y="0"/>
            <a:chExt cx="4203192" cy="853744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203192" cy="8537448"/>
            </a:xfrm>
            <a:custGeom>
              <a:avLst/>
              <a:gdLst/>
              <a:ahLst/>
              <a:cxnLst/>
              <a:rect r="r" b="b" t="t" l="l"/>
              <a:pathLst>
                <a:path h="8537448" w="4203192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lnTo>
                    <a:pt x="3909568" y="0"/>
                  </a:lnTo>
                  <a:cubicBezTo>
                    <a:pt x="4071747" y="0"/>
                    <a:pt x="4203192" y="131445"/>
                    <a:pt x="4203192" y="293624"/>
                  </a:cubicBezTo>
                  <a:lnTo>
                    <a:pt x="4203192" y="8243824"/>
                  </a:lnTo>
                  <a:cubicBezTo>
                    <a:pt x="4203192" y="8406003"/>
                    <a:pt x="4071747" y="8537448"/>
                    <a:pt x="3909568" y="8537448"/>
                  </a:cubicBezTo>
                  <a:lnTo>
                    <a:pt x="293624" y="8537448"/>
                  </a:lnTo>
                  <a:cubicBezTo>
                    <a:pt x="131445" y="8537448"/>
                    <a:pt x="0" y="8406003"/>
                    <a:pt x="0" y="8243824"/>
                  </a:cubicBezTo>
                  <a:close/>
                </a:path>
              </a:pathLst>
            </a:custGeom>
            <a:solidFill>
              <a:srgbClr val="FFFFFF"/>
            </a:solidFill>
            <a:ln w="1143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5141854" y="2185035"/>
            <a:ext cx="892759" cy="128778"/>
            <a:chOff x="0" y="0"/>
            <a:chExt cx="1190346" cy="17170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90371" cy="171704"/>
            </a:xfrm>
            <a:custGeom>
              <a:avLst/>
              <a:gdLst/>
              <a:ahLst/>
              <a:cxnLst/>
              <a:rect r="r" b="b" t="t" l="l"/>
              <a:pathLst>
                <a:path h="171704" w="1190371">
                  <a:moveTo>
                    <a:pt x="0" y="64389"/>
                  </a:moveTo>
                  <a:cubicBezTo>
                    <a:pt x="0" y="28829"/>
                    <a:pt x="28829" y="0"/>
                    <a:pt x="64389" y="0"/>
                  </a:cubicBezTo>
                  <a:lnTo>
                    <a:pt x="1125982" y="0"/>
                  </a:lnTo>
                  <a:cubicBezTo>
                    <a:pt x="1161542" y="0"/>
                    <a:pt x="1190371" y="28829"/>
                    <a:pt x="1190371" y="64389"/>
                  </a:cubicBezTo>
                  <a:lnTo>
                    <a:pt x="1190371" y="107315"/>
                  </a:lnTo>
                  <a:cubicBezTo>
                    <a:pt x="1190371" y="142875"/>
                    <a:pt x="1161542" y="171704"/>
                    <a:pt x="1125982" y="171704"/>
                  </a:cubicBezTo>
                  <a:lnTo>
                    <a:pt x="64389" y="171704"/>
                  </a:lnTo>
                  <a:cubicBezTo>
                    <a:pt x="28829" y="171704"/>
                    <a:pt x="0" y="142875"/>
                    <a:pt x="0" y="107315"/>
                  </a:cubicBezTo>
                  <a:close/>
                </a:path>
              </a:pathLst>
            </a:custGeom>
            <a:solidFill>
              <a:srgbClr val="0E1428"/>
            </a:solidFill>
            <a:ln w="19050" cap="sq">
              <a:solidFill>
                <a:srgbClr val="0E1428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4200251" y="2692527"/>
            <a:ext cx="2775966" cy="595122"/>
            <a:chOff x="0" y="0"/>
            <a:chExt cx="3701288" cy="79349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701288" cy="793496"/>
            </a:xfrm>
            <a:custGeom>
              <a:avLst/>
              <a:gdLst/>
              <a:ahLst/>
              <a:cxnLst/>
              <a:rect r="r" b="b" t="t" l="l"/>
              <a:pathLst>
                <a:path h="793496" w="3701288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3587877" y="0"/>
                  </a:lnTo>
                  <a:cubicBezTo>
                    <a:pt x="3650488" y="0"/>
                    <a:pt x="3701288" y="50800"/>
                    <a:pt x="3701288" y="113411"/>
                  </a:cubicBezTo>
                  <a:lnTo>
                    <a:pt x="3701288" y="680085"/>
                  </a:lnTo>
                  <a:cubicBezTo>
                    <a:pt x="3701288" y="742696"/>
                    <a:pt x="3650488" y="793496"/>
                    <a:pt x="3587877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E9FBF7"/>
            </a:solidFill>
            <a:ln w="19050" cap="sq">
              <a:solidFill>
                <a:srgbClr val="E9FBF7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4292072" y="4638751"/>
            <a:ext cx="2592324" cy="932688"/>
            <a:chOff x="0" y="0"/>
            <a:chExt cx="3456432" cy="124358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456432" cy="1243584"/>
            </a:xfrm>
            <a:custGeom>
              <a:avLst/>
              <a:gdLst/>
              <a:ahLst/>
              <a:cxnLst/>
              <a:rect r="r" b="b" t="t" l="l"/>
              <a:pathLst>
                <a:path h="1243584" w="3456432">
                  <a:moveTo>
                    <a:pt x="0" y="0"/>
                  </a:moveTo>
                  <a:lnTo>
                    <a:pt x="3456432" y="0"/>
                  </a:lnTo>
                  <a:lnTo>
                    <a:pt x="3456432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6" r="0" b="-415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3456432" cy="12435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MOBILE SCREEN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PLACEHOLDER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4100048" y="8037576"/>
            <a:ext cx="2976372" cy="342900"/>
            <a:chOff x="0" y="0"/>
            <a:chExt cx="3968496" cy="4572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968496" cy="457200"/>
            </a:xfrm>
            <a:custGeom>
              <a:avLst/>
              <a:gdLst/>
              <a:ahLst/>
              <a:cxnLst/>
              <a:rect r="r" b="b" t="t" l="l"/>
              <a:pathLst>
                <a:path h="457200" w="3968496">
                  <a:moveTo>
                    <a:pt x="0" y="0"/>
                  </a:moveTo>
                  <a:lnTo>
                    <a:pt x="3968496" y="0"/>
                  </a:lnTo>
                  <a:lnTo>
                    <a:pt x="39684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130" r="0" b="-11913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3968496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DD4B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Challenges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851660" y="9025128"/>
            <a:ext cx="14607540" cy="384048"/>
            <a:chOff x="0" y="0"/>
            <a:chExt cx="19476720" cy="51206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9476720" cy="512064"/>
            </a:xfrm>
            <a:custGeom>
              <a:avLst/>
              <a:gdLst/>
              <a:ahLst/>
              <a:cxnLst/>
              <a:rect r="r" b="b" t="t" l="l"/>
              <a:pathLst>
                <a:path h="512064" w="19476720">
                  <a:moveTo>
                    <a:pt x="0" y="0"/>
                  </a:moveTo>
                  <a:lnTo>
                    <a:pt x="19476720" y="0"/>
                  </a:lnTo>
                  <a:lnTo>
                    <a:pt x="194767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1127" r="0" b="-69112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1947672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Use these frames for the live design walkthrough — no unrelated architecture screenshots inside the mobile section.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69926"/>
            <a:chOff x="0" y="0"/>
            <a:chExt cx="24408790" cy="2265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26568"/>
            </a:xfrm>
            <a:custGeom>
              <a:avLst/>
              <a:gdLst/>
              <a:ahLst/>
              <a:cxnLst/>
              <a:rect r="r" b="b" t="t" l="l"/>
              <a:pathLst>
                <a:path h="22656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26568"/>
                  </a:lnTo>
                  <a:lnTo>
                    <a:pt x="0" y="226568"/>
                  </a:lnTo>
                  <a:close/>
                </a:path>
              </a:pathLst>
            </a:custGeom>
            <a:solidFill>
              <a:srgbClr val="FF7A45"/>
            </a:solidFill>
            <a:ln w="19050" cap="sq">
              <a:solidFill>
                <a:srgbClr val="FF7A4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141351"/>
            <a:ext cx="18306593" cy="73914"/>
            <a:chOff x="0" y="0"/>
            <a:chExt cx="24408790" cy="985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98552"/>
            </a:xfrm>
            <a:custGeom>
              <a:avLst/>
              <a:gdLst/>
              <a:ahLst/>
              <a:cxnLst/>
              <a:rect r="r" b="b" t="t" l="l"/>
              <a:pathLst>
                <a:path h="98552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98552"/>
                  </a:lnTo>
                  <a:lnTo>
                    <a:pt x="0" y="98552"/>
                  </a:lnTo>
                  <a:close/>
                </a:path>
              </a:pathLst>
            </a:custGeom>
            <a:solidFill>
              <a:srgbClr val="2DD4BF"/>
            </a:solidFill>
            <a:ln w="19050" cap="sq">
              <a:solidFill>
                <a:srgbClr val="2DD4B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32688" y="576072"/>
            <a:ext cx="12070080" cy="576072"/>
            <a:chOff x="0" y="0"/>
            <a:chExt cx="16093440" cy="7680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93439" cy="768096"/>
            </a:xfrm>
            <a:custGeom>
              <a:avLst/>
              <a:gdLst/>
              <a:ahLst/>
              <a:cxnLst/>
              <a:rect r="r" b="b" t="t" l="l"/>
              <a:pathLst>
                <a:path h="768096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257" r="0" b="-35825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609344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Sample Design — Android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0120" y="1234440"/>
            <a:ext cx="14813280" cy="411480"/>
            <a:chOff x="0" y="0"/>
            <a:chExt cx="1975104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751039" cy="548640"/>
            </a:xfrm>
            <a:custGeom>
              <a:avLst/>
              <a:gdLst/>
              <a:ahLst/>
              <a:cxnLst/>
              <a:rect r="r" b="b" t="t" l="l"/>
              <a:pathLst>
                <a:path h="54864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97510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Phone-shaped placeholders sized for direct screenshot replacement.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664940" y="644652"/>
            <a:ext cx="685800" cy="384048"/>
            <a:chOff x="0" y="0"/>
            <a:chExt cx="9144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914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14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2400">
            <a:off x="926973" y="9761030"/>
            <a:ext cx="16402050" cy="0"/>
          </a:xfrm>
          <a:prstGeom prst="line">
            <a:avLst/>
          </a:prstGeom>
          <a:ln cap="rnd" w="9525">
            <a:solidFill>
              <a:srgbClr val="D9DE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60120" y="9848088"/>
            <a:ext cx="5623560" cy="192024"/>
            <a:chOff x="0" y="0"/>
            <a:chExt cx="7498080" cy="2560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98080" cy="256032"/>
            </a:xfrm>
            <a:custGeom>
              <a:avLst/>
              <a:gdLst/>
              <a:ahLst/>
              <a:cxnLst/>
              <a:rect r="r" b="b" t="t" l="l"/>
              <a:pathLst>
                <a:path h="256032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49808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9AA3B8"/>
                  </a:solidFill>
                  <a:latin typeface="Aptos"/>
                  <a:ea typeface="Aptos"/>
                  <a:cs typeface="Aptos"/>
                  <a:sym typeface="Aptos"/>
                </a:rPr>
                <a:t>CAREER PILOT  •  ITI Intake 46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253460" y="9848088"/>
            <a:ext cx="1028700" cy="192024"/>
            <a:chOff x="0" y="0"/>
            <a:chExt cx="1371600" cy="2560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71600" cy="256032"/>
            </a:xfrm>
            <a:custGeom>
              <a:avLst/>
              <a:gdLst/>
              <a:ahLst/>
              <a:cxnLst/>
              <a:rect r="r" b="b" t="t" l="l"/>
              <a:pathLst>
                <a:path h="25603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37160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>
                  <a:solidFill>
                    <a:srgbClr val="9AA3B8"/>
                  </a:solidFill>
                  <a:latin typeface="Aptos"/>
                  <a:ea typeface="Aptos"/>
                  <a:cs typeface="Aptos"/>
                  <a:sym typeface="Aptos"/>
                </a:rPr>
                <a:t>14 / 17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55560" y="1974533"/>
            <a:ext cx="3388995" cy="7092315"/>
            <a:chOff x="0" y="0"/>
            <a:chExt cx="4518660" cy="94564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18660" cy="9456420"/>
            </a:xfrm>
            <a:custGeom>
              <a:avLst/>
              <a:gdLst/>
              <a:ahLst/>
              <a:cxnLst/>
              <a:rect r="r" b="b" t="t" l="l"/>
              <a:pathLst>
                <a:path h="9456420" w="4518660">
                  <a:moveTo>
                    <a:pt x="0" y="368808"/>
                  </a:moveTo>
                  <a:cubicBezTo>
                    <a:pt x="0" y="165100"/>
                    <a:pt x="165100" y="0"/>
                    <a:pt x="368808" y="0"/>
                  </a:cubicBezTo>
                  <a:lnTo>
                    <a:pt x="4149852" y="0"/>
                  </a:lnTo>
                  <a:cubicBezTo>
                    <a:pt x="4353560" y="0"/>
                    <a:pt x="4518660" y="165100"/>
                    <a:pt x="4518660" y="368808"/>
                  </a:cubicBezTo>
                  <a:lnTo>
                    <a:pt x="4518660" y="9087612"/>
                  </a:lnTo>
                  <a:cubicBezTo>
                    <a:pt x="4518660" y="9291320"/>
                    <a:pt x="4353560" y="9456420"/>
                    <a:pt x="4149852" y="9456420"/>
                  </a:cubicBezTo>
                  <a:lnTo>
                    <a:pt x="368808" y="9456420"/>
                  </a:lnTo>
                  <a:cubicBezTo>
                    <a:pt x="165100" y="9456420"/>
                    <a:pt x="0" y="9291320"/>
                    <a:pt x="0" y="9087612"/>
                  </a:cubicBezTo>
                  <a:close/>
                </a:path>
              </a:pathLst>
            </a:custGeom>
            <a:solidFill>
              <a:srgbClr val="0E1428"/>
            </a:solidFill>
            <a:ln w="28575" cap="sq">
              <a:solidFill>
                <a:srgbClr val="0E1428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73861" y="2147697"/>
            <a:ext cx="3152394" cy="6745986"/>
            <a:chOff x="0" y="0"/>
            <a:chExt cx="4203192" cy="899464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03192" cy="8994648"/>
            </a:xfrm>
            <a:custGeom>
              <a:avLst/>
              <a:gdLst/>
              <a:ahLst/>
              <a:cxnLst/>
              <a:rect r="r" b="b" t="t" l="l"/>
              <a:pathLst>
                <a:path h="8994648" w="4203192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lnTo>
                    <a:pt x="3909568" y="0"/>
                  </a:lnTo>
                  <a:cubicBezTo>
                    <a:pt x="4071747" y="0"/>
                    <a:pt x="4203192" y="131445"/>
                    <a:pt x="4203192" y="293624"/>
                  </a:cubicBezTo>
                  <a:lnTo>
                    <a:pt x="4203192" y="8701024"/>
                  </a:lnTo>
                  <a:cubicBezTo>
                    <a:pt x="4203192" y="8863203"/>
                    <a:pt x="4071747" y="8994648"/>
                    <a:pt x="3909568" y="8994648"/>
                  </a:cubicBezTo>
                  <a:lnTo>
                    <a:pt x="293624" y="8994648"/>
                  </a:lnTo>
                  <a:cubicBezTo>
                    <a:pt x="131445" y="8994648"/>
                    <a:pt x="0" y="8863203"/>
                    <a:pt x="0" y="8701024"/>
                  </a:cubicBezTo>
                  <a:close/>
                </a:path>
              </a:pathLst>
            </a:custGeom>
            <a:solidFill>
              <a:srgbClr val="FFFFFF"/>
            </a:solidFill>
            <a:ln w="1143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2303678" y="2089023"/>
            <a:ext cx="892759" cy="128778"/>
            <a:chOff x="0" y="0"/>
            <a:chExt cx="1190346" cy="1717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90371" cy="171704"/>
            </a:xfrm>
            <a:custGeom>
              <a:avLst/>
              <a:gdLst/>
              <a:ahLst/>
              <a:cxnLst/>
              <a:rect r="r" b="b" t="t" l="l"/>
              <a:pathLst>
                <a:path h="171704" w="1190371">
                  <a:moveTo>
                    <a:pt x="0" y="64389"/>
                  </a:moveTo>
                  <a:cubicBezTo>
                    <a:pt x="0" y="28829"/>
                    <a:pt x="28829" y="0"/>
                    <a:pt x="64389" y="0"/>
                  </a:cubicBezTo>
                  <a:lnTo>
                    <a:pt x="1125982" y="0"/>
                  </a:lnTo>
                  <a:cubicBezTo>
                    <a:pt x="1161542" y="0"/>
                    <a:pt x="1190371" y="28829"/>
                    <a:pt x="1190371" y="64389"/>
                  </a:cubicBezTo>
                  <a:lnTo>
                    <a:pt x="1190371" y="107315"/>
                  </a:lnTo>
                  <a:cubicBezTo>
                    <a:pt x="1190371" y="142875"/>
                    <a:pt x="1161542" y="171704"/>
                    <a:pt x="1125982" y="171704"/>
                  </a:cubicBezTo>
                  <a:lnTo>
                    <a:pt x="64389" y="171704"/>
                  </a:lnTo>
                  <a:cubicBezTo>
                    <a:pt x="28829" y="171704"/>
                    <a:pt x="0" y="142875"/>
                    <a:pt x="0" y="107315"/>
                  </a:cubicBezTo>
                  <a:close/>
                </a:path>
              </a:pathLst>
            </a:custGeom>
            <a:solidFill>
              <a:srgbClr val="0E1428"/>
            </a:solidFill>
            <a:ln w="19050" cap="sq">
              <a:solidFill>
                <a:srgbClr val="0E1428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362075" y="2596515"/>
            <a:ext cx="2775966" cy="595122"/>
            <a:chOff x="0" y="0"/>
            <a:chExt cx="3701288" cy="7934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701288" cy="793496"/>
            </a:xfrm>
            <a:custGeom>
              <a:avLst/>
              <a:gdLst/>
              <a:ahLst/>
              <a:cxnLst/>
              <a:rect r="r" b="b" t="t" l="l"/>
              <a:pathLst>
                <a:path h="793496" w="3701288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3587877" y="0"/>
                  </a:lnTo>
                  <a:cubicBezTo>
                    <a:pt x="3650488" y="0"/>
                    <a:pt x="3701288" y="50800"/>
                    <a:pt x="3701288" y="113411"/>
                  </a:cubicBezTo>
                  <a:lnTo>
                    <a:pt x="3701288" y="680085"/>
                  </a:lnTo>
                  <a:cubicBezTo>
                    <a:pt x="3701288" y="742696"/>
                    <a:pt x="3650488" y="793496"/>
                    <a:pt x="3587877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FFF0E9"/>
            </a:solidFill>
            <a:ln w="19050" cap="sq">
              <a:solidFill>
                <a:srgbClr val="FFF0E9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453896" y="4673041"/>
            <a:ext cx="2592324" cy="932688"/>
            <a:chOff x="0" y="0"/>
            <a:chExt cx="3456432" cy="12435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56432" cy="1243584"/>
            </a:xfrm>
            <a:custGeom>
              <a:avLst/>
              <a:gdLst/>
              <a:ahLst/>
              <a:cxnLst/>
              <a:rect r="r" b="b" t="t" l="l"/>
              <a:pathLst>
                <a:path h="1243584" w="3456432">
                  <a:moveTo>
                    <a:pt x="0" y="0"/>
                  </a:moveTo>
                  <a:lnTo>
                    <a:pt x="3456432" y="0"/>
                  </a:lnTo>
                  <a:lnTo>
                    <a:pt x="3456432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6" r="0" b="-415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3456432" cy="12435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MOBILE SCREEN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PLACEHOLDER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61872" y="8284464"/>
            <a:ext cx="2976372" cy="342900"/>
            <a:chOff x="0" y="0"/>
            <a:chExt cx="3968496" cy="457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968496" cy="457200"/>
            </a:xfrm>
            <a:custGeom>
              <a:avLst/>
              <a:gdLst/>
              <a:ahLst/>
              <a:cxnLst/>
              <a:rect r="r" b="b" t="t" l="l"/>
              <a:pathLst>
                <a:path h="457200" w="3968496">
                  <a:moveTo>
                    <a:pt x="0" y="0"/>
                  </a:moveTo>
                  <a:lnTo>
                    <a:pt x="3968496" y="0"/>
                  </a:lnTo>
                  <a:lnTo>
                    <a:pt x="39684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130" r="0" b="-11913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3968496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Android • Home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34953" y="1974533"/>
            <a:ext cx="3388995" cy="7092315"/>
            <a:chOff x="0" y="0"/>
            <a:chExt cx="4518660" cy="94564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518660" cy="9456420"/>
            </a:xfrm>
            <a:custGeom>
              <a:avLst/>
              <a:gdLst/>
              <a:ahLst/>
              <a:cxnLst/>
              <a:rect r="r" b="b" t="t" l="l"/>
              <a:pathLst>
                <a:path h="9456420" w="4518660">
                  <a:moveTo>
                    <a:pt x="0" y="368808"/>
                  </a:moveTo>
                  <a:cubicBezTo>
                    <a:pt x="0" y="165100"/>
                    <a:pt x="165100" y="0"/>
                    <a:pt x="368808" y="0"/>
                  </a:cubicBezTo>
                  <a:lnTo>
                    <a:pt x="4149852" y="0"/>
                  </a:lnTo>
                  <a:cubicBezTo>
                    <a:pt x="4353560" y="0"/>
                    <a:pt x="4518660" y="165100"/>
                    <a:pt x="4518660" y="368808"/>
                  </a:cubicBezTo>
                  <a:lnTo>
                    <a:pt x="4518660" y="9087612"/>
                  </a:lnTo>
                  <a:cubicBezTo>
                    <a:pt x="4518660" y="9291320"/>
                    <a:pt x="4353560" y="9456420"/>
                    <a:pt x="4149852" y="9456420"/>
                  </a:cubicBezTo>
                  <a:lnTo>
                    <a:pt x="368808" y="9456420"/>
                  </a:lnTo>
                  <a:cubicBezTo>
                    <a:pt x="165100" y="9456420"/>
                    <a:pt x="0" y="9291320"/>
                    <a:pt x="0" y="9087612"/>
                  </a:cubicBezTo>
                  <a:close/>
                </a:path>
              </a:pathLst>
            </a:custGeom>
            <a:solidFill>
              <a:srgbClr val="0E1428"/>
            </a:solidFill>
            <a:ln w="28575" cap="sq">
              <a:solidFill>
                <a:srgbClr val="0E1428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5453253" y="2147697"/>
            <a:ext cx="3152394" cy="6745986"/>
            <a:chOff x="0" y="0"/>
            <a:chExt cx="4203192" cy="89946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203192" cy="8994648"/>
            </a:xfrm>
            <a:custGeom>
              <a:avLst/>
              <a:gdLst/>
              <a:ahLst/>
              <a:cxnLst/>
              <a:rect r="r" b="b" t="t" l="l"/>
              <a:pathLst>
                <a:path h="8994648" w="4203192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lnTo>
                    <a:pt x="3909568" y="0"/>
                  </a:lnTo>
                  <a:cubicBezTo>
                    <a:pt x="4071747" y="0"/>
                    <a:pt x="4203192" y="131445"/>
                    <a:pt x="4203192" y="293624"/>
                  </a:cubicBezTo>
                  <a:lnTo>
                    <a:pt x="4203192" y="8701024"/>
                  </a:lnTo>
                  <a:cubicBezTo>
                    <a:pt x="4203192" y="8863203"/>
                    <a:pt x="4071747" y="8994648"/>
                    <a:pt x="3909568" y="8994648"/>
                  </a:cubicBezTo>
                  <a:lnTo>
                    <a:pt x="293624" y="8994648"/>
                  </a:lnTo>
                  <a:cubicBezTo>
                    <a:pt x="131445" y="8994648"/>
                    <a:pt x="0" y="8863203"/>
                    <a:pt x="0" y="8701024"/>
                  </a:cubicBezTo>
                  <a:close/>
                </a:path>
              </a:pathLst>
            </a:custGeom>
            <a:solidFill>
              <a:srgbClr val="FFFFFF"/>
            </a:solidFill>
            <a:ln w="1143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6583070" y="2089023"/>
            <a:ext cx="892759" cy="128778"/>
            <a:chOff x="0" y="0"/>
            <a:chExt cx="1190346" cy="17170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90371" cy="171704"/>
            </a:xfrm>
            <a:custGeom>
              <a:avLst/>
              <a:gdLst/>
              <a:ahLst/>
              <a:cxnLst/>
              <a:rect r="r" b="b" t="t" l="l"/>
              <a:pathLst>
                <a:path h="171704" w="1190371">
                  <a:moveTo>
                    <a:pt x="0" y="64389"/>
                  </a:moveTo>
                  <a:cubicBezTo>
                    <a:pt x="0" y="28829"/>
                    <a:pt x="28829" y="0"/>
                    <a:pt x="64389" y="0"/>
                  </a:cubicBezTo>
                  <a:lnTo>
                    <a:pt x="1125982" y="0"/>
                  </a:lnTo>
                  <a:cubicBezTo>
                    <a:pt x="1161542" y="0"/>
                    <a:pt x="1190371" y="28829"/>
                    <a:pt x="1190371" y="64389"/>
                  </a:cubicBezTo>
                  <a:lnTo>
                    <a:pt x="1190371" y="107315"/>
                  </a:lnTo>
                  <a:cubicBezTo>
                    <a:pt x="1190371" y="142875"/>
                    <a:pt x="1161542" y="171704"/>
                    <a:pt x="1125982" y="171704"/>
                  </a:cubicBezTo>
                  <a:lnTo>
                    <a:pt x="64389" y="171704"/>
                  </a:lnTo>
                  <a:cubicBezTo>
                    <a:pt x="28829" y="171704"/>
                    <a:pt x="0" y="142875"/>
                    <a:pt x="0" y="107315"/>
                  </a:cubicBezTo>
                  <a:close/>
                </a:path>
              </a:pathLst>
            </a:custGeom>
            <a:solidFill>
              <a:srgbClr val="0E1428"/>
            </a:solidFill>
            <a:ln w="19050" cap="sq">
              <a:solidFill>
                <a:srgbClr val="0E1428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5641467" y="2596515"/>
            <a:ext cx="2775966" cy="595122"/>
            <a:chOff x="0" y="0"/>
            <a:chExt cx="3701288" cy="79349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701288" cy="793496"/>
            </a:xfrm>
            <a:custGeom>
              <a:avLst/>
              <a:gdLst/>
              <a:ahLst/>
              <a:cxnLst/>
              <a:rect r="r" b="b" t="t" l="l"/>
              <a:pathLst>
                <a:path h="793496" w="3701288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3587877" y="0"/>
                  </a:lnTo>
                  <a:cubicBezTo>
                    <a:pt x="3650488" y="0"/>
                    <a:pt x="3701288" y="50800"/>
                    <a:pt x="3701288" y="113411"/>
                  </a:cubicBezTo>
                  <a:lnTo>
                    <a:pt x="3701288" y="680085"/>
                  </a:lnTo>
                  <a:cubicBezTo>
                    <a:pt x="3701288" y="742696"/>
                    <a:pt x="3650488" y="793496"/>
                    <a:pt x="3587877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E9FBF7"/>
            </a:solidFill>
            <a:ln w="19050" cap="sq">
              <a:solidFill>
                <a:srgbClr val="E9FBF7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5733288" y="4673041"/>
            <a:ext cx="2592324" cy="932688"/>
            <a:chOff x="0" y="0"/>
            <a:chExt cx="3456432" cy="12435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456432" cy="1243584"/>
            </a:xfrm>
            <a:custGeom>
              <a:avLst/>
              <a:gdLst/>
              <a:ahLst/>
              <a:cxnLst/>
              <a:rect r="r" b="b" t="t" l="l"/>
              <a:pathLst>
                <a:path h="1243584" w="3456432">
                  <a:moveTo>
                    <a:pt x="0" y="0"/>
                  </a:moveTo>
                  <a:lnTo>
                    <a:pt x="3456432" y="0"/>
                  </a:lnTo>
                  <a:lnTo>
                    <a:pt x="3456432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6" r="0" b="-415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3456432" cy="12435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MOBILE SCREEN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PLACEHOLDER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541264" y="8284464"/>
            <a:ext cx="2976372" cy="342900"/>
            <a:chOff x="0" y="0"/>
            <a:chExt cx="3968496" cy="457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968496" cy="457200"/>
            </a:xfrm>
            <a:custGeom>
              <a:avLst/>
              <a:gdLst/>
              <a:ahLst/>
              <a:cxnLst/>
              <a:rect r="r" b="b" t="t" l="l"/>
              <a:pathLst>
                <a:path h="457200" w="3968496">
                  <a:moveTo>
                    <a:pt x="0" y="0"/>
                  </a:moveTo>
                  <a:lnTo>
                    <a:pt x="3968496" y="0"/>
                  </a:lnTo>
                  <a:lnTo>
                    <a:pt x="39684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130" r="0" b="-11913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3968496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DD4B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Android • Practice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14344" y="1974533"/>
            <a:ext cx="3388995" cy="7092315"/>
            <a:chOff x="0" y="0"/>
            <a:chExt cx="4518660" cy="94564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518660" cy="9456420"/>
            </a:xfrm>
            <a:custGeom>
              <a:avLst/>
              <a:gdLst/>
              <a:ahLst/>
              <a:cxnLst/>
              <a:rect r="r" b="b" t="t" l="l"/>
              <a:pathLst>
                <a:path h="9456420" w="4518660">
                  <a:moveTo>
                    <a:pt x="0" y="368808"/>
                  </a:moveTo>
                  <a:cubicBezTo>
                    <a:pt x="0" y="165100"/>
                    <a:pt x="165100" y="0"/>
                    <a:pt x="368808" y="0"/>
                  </a:cubicBezTo>
                  <a:lnTo>
                    <a:pt x="4149852" y="0"/>
                  </a:lnTo>
                  <a:cubicBezTo>
                    <a:pt x="4353560" y="0"/>
                    <a:pt x="4518660" y="165100"/>
                    <a:pt x="4518660" y="368808"/>
                  </a:cubicBezTo>
                  <a:lnTo>
                    <a:pt x="4518660" y="9087612"/>
                  </a:lnTo>
                  <a:cubicBezTo>
                    <a:pt x="4518660" y="9291320"/>
                    <a:pt x="4353560" y="9456420"/>
                    <a:pt x="4149852" y="9456420"/>
                  </a:cubicBezTo>
                  <a:lnTo>
                    <a:pt x="368808" y="9456420"/>
                  </a:lnTo>
                  <a:cubicBezTo>
                    <a:pt x="165100" y="9456420"/>
                    <a:pt x="0" y="9291320"/>
                    <a:pt x="0" y="9087612"/>
                  </a:cubicBezTo>
                  <a:close/>
                </a:path>
              </a:pathLst>
            </a:custGeom>
            <a:solidFill>
              <a:srgbClr val="0E1428"/>
            </a:solidFill>
            <a:ln w="28575" cap="sq">
              <a:solidFill>
                <a:srgbClr val="0E1428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732645" y="2147697"/>
            <a:ext cx="3152394" cy="6745986"/>
            <a:chOff x="0" y="0"/>
            <a:chExt cx="4203192" cy="89946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203192" cy="8994648"/>
            </a:xfrm>
            <a:custGeom>
              <a:avLst/>
              <a:gdLst/>
              <a:ahLst/>
              <a:cxnLst/>
              <a:rect r="r" b="b" t="t" l="l"/>
              <a:pathLst>
                <a:path h="8994648" w="4203192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lnTo>
                    <a:pt x="3909568" y="0"/>
                  </a:lnTo>
                  <a:cubicBezTo>
                    <a:pt x="4071747" y="0"/>
                    <a:pt x="4203192" y="131445"/>
                    <a:pt x="4203192" y="293624"/>
                  </a:cubicBezTo>
                  <a:lnTo>
                    <a:pt x="4203192" y="8701024"/>
                  </a:lnTo>
                  <a:cubicBezTo>
                    <a:pt x="4203192" y="8863203"/>
                    <a:pt x="4071747" y="8994648"/>
                    <a:pt x="3909568" y="8994648"/>
                  </a:cubicBezTo>
                  <a:lnTo>
                    <a:pt x="293624" y="8994648"/>
                  </a:lnTo>
                  <a:cubicBezTo>
                    <a:pt x="131445" y="8994648"/>
                    <a:pt x="0" y="8863203"/>
                    <a:pt x="0" y="8701024"/>
                  </a:cubicBezTo>
                  <a:close/>
                </a:path>
              </a:pathLst>
            </a:custGeom>
            <a:solidFill>
              <a:srgbClr val="FFFFFF"/>
            </a:solidFill>
            <a:ln w="1143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0862462" y="2089023"/>
            <a:ext cx="892759" cy="128778"/>
            <a:chOff x="0" y="0"/>
            <a:chExt cx="1190346" cy="17170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90371" cy="171704"/>
            </a:xfrm>
            <a:custGeom>
              <a:avLst/>
              <a:gdLst/>
              <a:ahLst/>
              <a:cxnLst/>
              <a:rect r="r" b="b" t="t" l="l"/>
              <a:pathLst>
                <a:path h="171704" w="1190371">
                  <a:moveTo>
                    <a:pt x="0" y="64389"/>
                  </a:moveTo>
                  <a:cubicBezTo>
                    <a:pt x="0" y="28829"/>
                    <a:pt x="28829" y="0"/>
                    <a:pt x="64389" y="0"/>
                  </a:cubicBezTo>
                  <a:lnTo>
                    <a:pt x="1125982" y="0"/>
                  </a:lnTo>
                  <a:cubicBezTo>
                    <a:pt x="1161542" y="0"/>
                    <a:pt x="1190371" y="28829"/>
                    <a:pt x="1190371" y="64389"/>
                  </a:cubicBezTo>
                  <a:lnTo>
                    <a:pt x="1190371" y="107315"/>
                  </a:lnTo>
                  <a:cubicBezTo>
                    <a:pt x="1190371" y="142875"/>
                    <a:pt x="1161542" y="171704"/>
                    <a:pt x="1125982" y="171704"/>
                  </a:cubicBezTo>
                  <a:lnTo>
                    <a:pt x="64389" y="171704"/>
                  </a:lnTo>
                  <a:cubicBezTo>
                    <a:pt x="28829" y="171704"/>
                    <a:pt x="0" y="142875"/>
                    <a:pt x="0" y="107315"/>
                  </a:cubicBezTo>
                  <a:close/>
                </a:path>
              </a:pathLst>
            </a:custGeom>
            <a:solidFill>
              <a:srgbClr val="0E1428"/>
            </a:solidFill>
            <a:ln w="19050" cap="sq">
              <a:solidFill>
                <a:srgbClr val="0E1428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9920859" y="2596515"/>
            <a:ext cx="2775966" cy="595122"/>
            <a:chOff x="0" y="0"/>
            <a:chExt cx="3701288" cy="79349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701288" cy="793496"/>
            </a:xfrm>
            <a:custGeom>
              <a:avLst/>
              <a:gdLst/>
              <a:ahLst/>
              <a:cxnLst/>
              <a:rect r="r" b="b" t="t" l="l"/>
              <a:pathLst>
                <a:path h="793496" w="3701288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3587877" y="0"/>
                  </a:lnTo>
                  <a:cubicBezTo>
                    <a:pt x="3650488" y="0"/>
                    <a:pt x="3701288" y="50800"/>
                    <a:pt x="3701288" y="113411"/>
                  </a:cubicBezTo>
                  <a:lnTo>
                    <a:pt x="3701288" y="680085"/>
                  </a:lnTo>
                  <a:cubicBezTo>
                    <a:pt x="3701288" y="742696"/>
                    <a:pt x="3650488" y="793496"/>
                    <a:pt x="3587877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FFF0E9"/>
            </a:solidFill>
            <a:ln w="19050" cap="sq">
              <a:solidFill>
                <a:srgbClr val="FFF0E9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0012680" y="4673041"/>
            <a:ext cx="2592324" cy="932688"/>
            <a:chOff x="0" y="0"/>
            <a:chExt cx="3456432" cy="124358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456432" cy="1243584"/>
            </a:xfrm>
            <a:custGeom>
              <a:avLst/>
              <a:gdLst/>
              <a:ahLst/>
              <a:cxnLst/>
              <a:rect r="r" b="b" t="t" l="l"/>
              <a:pathLst>
                <a:path h="1243584" w="3456432">
                  <a:moveTo>
                    <a:pt x="0" y="0"/>
                  </a:moveTo>
                  <a:lnTo>
                    <a:pt x="3456432" y="0"/>
                  </a:lnTo>
                  <a:lnTo>
                    <a:pt x="3456432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6" r="0" b="-415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3456432" cy="12435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MOBILE SCREEN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PLACEHOLDER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820656" y="8284464"/>
            <a:ext cx="2976372" cy="342900"/>
            <a:chOff x="0" y="0"/>
            <a:chExt cx="3968496" cy="4572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968496" cy="457200"/>
            </a:xfrm>
            <a:custGeom>
              <a:avLst/>
              <a:gdLst/>
              <a:ahLst/>
              <a:cxnLst/>
              <a:rect r="r" b="b" t="t" l="l"/>
              <a:pathLst>
                <a:path h="457200" w="3968496">
                  <a:moveTo>
                    <a:pt x="0" y="0"/>
                  </a:moveTo>
                  <a:lnTo>
                    <a:pt x="3968496" y="0"/>
                  </a:lnTo>
                  <a:lnTo>
                    <a:pt x="39684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130" r="0" b="-11913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3968496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Android • ATS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893737" y="1974533"/>
            <a:ext cx="3388995" cy="7092315"/>
            <a:chOff x="0" y="0"/>
            <a:chExt cx="4518660" cy="94564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518660" cy="9456420"/>
            </a:xfrm>
            <a:custGeom>
              <a:avLst/>
              <a:gdLst/>
              <a:ahLst/>
              <a:cxnLst/>
              <a:rect r="r" b="b" t="t" l="l"/>
              <a:pathLst>
                <a:path h="9456420" w="4518660">
                  <a:moveTo>
                    <a:pt x="0" y="368808"/>
                  </a:moveTo>
                  <a:cubicBezTo>
                    <a:pt x="0" y="165100"/>
                    <a:pt x="165100" y="0"/>
                    <a:pt x="368808" y="0"/>
                  </a:cubicBezTo>
                  <a:lnTo>
                    <a:pt x="4149852" y="0"/>
                  </a:lnTo>
                  <a:cubicBezTo>
                    <a:pt x="4353560" y="0"/>
                    <a:pt x="4518660" y="165100"/>
                    <a:pt x="4518660" y="368808"/>
                  </a:cubicBezTo>
                  <a:lnTo>
                    <a:pt x="4518660" y="9087612"/>
                  </a:lnTo>
                  <a:cubicBezTo>
                    <a:pt x="4518660" y="9291320"/>
                    <a:pt x="4353560" y="9456420"/>
                    <a:pt x="4149852" y="9456420"/>
                  </a:cubicBezTo>
                  <a:lnTo>
                    <a:pt x="368808" y="9456420"/>
                  </a:lnTo>
                  <a:cubicBezTo>
                    <a:pt x="165100" y="9456420"/>
                    <a:pt x="0" y="9291320"/>
                    <a:pt x="0" y="9087612"/>
                  </a:cubicBezTo>
                  <a:close/>
                </a:path>
              </a:pathLst>
            </a:custGeom>
            <a:solidFill>
              <a:srgbClr val="0E1428"/>
            </a:solidFill>
            <a:ln w="28575" cap="sq">
              <a:solidFill>
                <a:srgbClr val="0E1428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4012037" y="2147697"/>
            <a:ext cx="3152394" cy="6745986"/>
            <a:chOff x="0" y="0"/>
            <a:chExt cx="4203192" cy="899464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203192" cy="8994648"/>
            </a:xfrm>
            <a:custGeom>
              <a:avLst/>
              <a:gdLst/>
              <a:ahLst/>
              <a:cxnLst/>
              <a:rect r="r" b="b" t="t" l="l"/>
              <a:pathLst>
                <a:path h="8994648" w="4203192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lnTo>
                    <a:pt x="3909568" y="0"/>
                  </a:lnTo>
                  <a:cubicBezTo>
                    <a:pt x="4071747" y="0"/>
                    <a:pt x="4203192" y="131445"/>
                    <a:pt x="4203192" y="293624"/>
                  </a:cubicBezTo>
                  <a:lnTo>
                    <a:pt x="4203192" y="8701024"/>
                  </a:lnTo>
                  <a:cubicBezTo>
                    <a:pt x="4203192" y="8863203"/>
                    <a:pt x="4071747" y="8994648"/>
                    <a:pt x="3909568" y="8994648"/>
                  </a:cubicBezTo>
                  <a:lnTo>
                    <a:pt x="293624" y="8994648"/>
                  </a:lnTo>
                  <a:cubicBezTo>
                    <a:pt x="131445" y="8994648"/>
                    <a:pt x="0" y="8863203"/>
                    <a:pt x="0" y="8701024"/>
                  </a:cubicBezTo>
                  <a:close/>
                </a:path>
              </a:pathLst>
            </a:custGeom>
            <a:solidFill>
              <a:srgbClr val="FFFFFF"/>
            </a:solidFill>
            <a:ln w="1143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5141854" y="2089023"/>
            <a:ext cx="892759" cy="128778"/>
            <a:chOff x="0" y="0"/>
            <a:chExt cx="1190346" cy="17170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90371" cy="171704"/>
            </a:xfrm>
            <a:custGeom>
              <a:avLst/>
              <a:gdLst/>
              <a:ahLst/>
              <a:cxnLst/>
              <a:rect r="r" b="b" t="t" l="l"/>
              <a:pathLst>
                <a:path h="171704" w="1190371">
                  <a:moveTo>
                    <a:pt x="0" y="64389"/>
                  </a:moveTo>
                  <a:cubicBezTo>
                    <a:pt x="0" y="28829"/>
                    <a:pt x="28829" y="0"/>
                    <a:pt x="64389" y="0"/>
                  </a:cubicBezTo>
                  <a:lnTo>
                    <a:pt x="1125982" y="0"/>
                  </a:lnTo>
                  <a:cubicBezTo>
                    <a:pt x="1161542" y="0"/>
                    <a:pt x="1190371" y="28829"/>
                    <a:pt x="1190371" y="64389"/>
                  </a:cubicBezTo>
                  <a:lnTo>
                    <a:pt x="1190371" y="107315"/>
                  </a:lnTo>
                  <a:cubicBezTo>
                    <a:pt x="1190371" y="142875"/>
                    <a:pt x="1161542" y="171704"/>
                    <a:pt x="1125982" y="171704"/>
                  </a:cubicBezTo>
                  <a:lnTo>
                    <a:pt x="64389" y="171704"/>
                  </a:lnTo>
                  <a:cubicBezTo>
                    <a:pt x="28829" y="171704"/>
                    <a:pt x="0" y="142875"/>
                    <a:pt x="0" y="107315"/>
                  </a:cubicBezTo>
                  <a:close/>
                </a:path>
              </a:pathLst>
            </a:custGeom>
            <a:solidFill>
              <a:srgbClr val="0E1428"/>
            </a:solidFill>
            <a:ln w="19050" cap="sq">
              <a:solidFill>
                <a:srgbClr val="0E1428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4200251" y="2596515"/>
            <a:ext cx="2775966" cy="595122"/>
            <a:chOff x="0" y="0"/>
            <a:chExt cx="3701288" cy="79349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701288" cy="793496"/>
            </a:xfrm>
            <a:custGeom>
              <a:avLst/>
              <a:gdLst/>
              <a:ahLst/>
              <a:cxnLst/>
              <a:rect r="r" b="b" t="t" l="l"/>
              <a:pathLst>
                <a:path h="793496" w="3701288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3587877" y="0"/>
                  </a:lnTo>
                  <a:cubicBezTo>
                    <a:pt x="3650488" y="0"/>
                    <a:pt x="3701288" y="50800"/>
                    <a:pt x="3701288" y="113411"/>
                  </a:cubicBezTo>
                  <a:lnTo>
                    <a:pt x="3701288" y="680085"/>
                  </a:lnTo>
                  <a:cubicBezTo>
                    <a:pt x="3701288" y="742696"/>
                    <a:pt x="3650488" y="793496"/>
                    <a:pt x="3587877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E9FBF7"/>
            </a:solidFill>
            <a:ln w="19050" cap="sq">
              <a:solidFill>
                <a:srgbClr val="E9FBF7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4292072" y="4673041"/>
            <a:ext cx="2592324" cy="932688"/>
            <a:chOff x="0" y="0"/>
            <a:chExt cx="3456432" cy="124358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456432" cy="1243584"/>
            </a:xfrm>
            <a:custGeom>
              <a:avLst/>
              <a:gdLst/>
              <a:ahLst/>
              <a:cxnLst/>
              <a:rect r="r" b="b" t="t" l="l"/>
              <a:pathLst>
                <a:path h="1243584" w="3456432">
                  <a:moveTo>
                    <a:pt x="0" y="0"/>
                  </a:moveTo>
                  <a:lnTo>
                    <a:pt x="3456432" y="0"/>
                  </a:lnTo>
                  <a:lnTo>
                    <a:pt x="3456432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6" r="0" b="-415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3456432" cy="12435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MOBILE SCREEN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PLACEHOLDER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4100048" y="8284464"/>
            <a:ext cx="2976372" cy="342900"/>
            <a:chOff x="0" y="0"/>
            <a:chExt cx="3968496" cy="4572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968496" cy="457200"/>
            </a:xfrm>
            <a:custGeom>
              <a:avLst/>
              <a:gdLst/>
              <a:ahLst/>
              <a:cxnLst/>
              <a:rect r="r" b="b" t="t" l="l"/>
              <a:pathLst>
                <a:path h="457200" w="3968496">
                  <a:moveTo>
                    <a:pt x="0" y="0"/>
                  </a:moveTo>
                  <a:lnTo>
                    <a:pt x="3968496" y="0"/>
                  </a:lnTo>
                  <a:lnTo>
                    <a:pt x="39684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130" r="0" b="-11913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3968496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DD4B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Android • Challenge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69926"/>
            <a:chOff x="0" y="0"/>
            <a:chExt cx="24408790" cy="2265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26568"/>
            </a:xfrm>
            <a:custGeom>
              <a:avLst/>
              <a:gdLst/>
              <a:ahLst/>
              <a:cxnLst/>
              <a:rect r="r" b="b" t="t" l="l"/>
              <a:pathLst>
                <a:path h="22656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26568"/>
                  </a:lnTo>
                  <a:lnTo>
                    <a:pt x="0" y="226568"/>
                  </a:lnTo>
                  <a:close/>
                </a:path>
              </a:pathLst>
            </a:custGeom>
            <a:solidFill>
              <a:srgbClr val="FF7A45"/>
            </a:solidFill>
            <a:ln w="19050" cap="sq">
              <a:solidFill>
                <a:srgbClr val="FF7A4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141351"/>
            <a:ext cx="18306593" cy="73914"/>
            <a:chOff x="0" y="0"/>
            <a:chExt cx="24408790" cy="985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98552"/>
            </a:xfrm>
            <a:custGeom>
              <a:avLst/>
              <a:gdLst/>
              <a:ahLst/>
              <a:cxnLst/>
              <a:rect r="r" b="b" t="t" l="l"/>
              <a:pathLst>
                <a:path h="98552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98552"/>
                  </a:lnTo>
                  <a:lnTo>
                    <a:pt x="0" y="98552"/>
                  </a:lnTo>
                  <a:close/>
                </a:path>
              </a:pathLst>
            </a:custGeom>
            <a:solidFill>
              <a:srgbClr val="2DD4BF"/>
            </a:solidFill>
            <a:ln w="19050" cap="sq">
              <a:solidFill>
                <a:srgbClr val="2DD4B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32688" y="576072"/>
            <a:ext cx="12070080" cy="576072"/>
            <a:chOff x="0" y="0"/>
            <a:chExt cx="16093440" cy="7680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93439" cy="768096"/>
            </a:xfrm>
            <a:custGeom>
              <a:avLst/>
              <a:gdLst/>
              <a:ahLst/>
              <a:cxnLst/>
              <a:rect r="r" b="b" t="t" l="l"/>
              <a:pathLst>
                <a:path h="768096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257" r="0" b="-35825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609344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Sample Design — iOS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0120" y="1234440"/>
            <a:ext cx="14813280" cy="411480"/>
            <a:chOff x="0" y="0"/>
            <a:chExt cx="1975104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751039" cy="548640"/>
            </a:xfrm>
            <a:custGeom>
              <a:avLst/>
              <a:gdLst/>
              <a:ahLst/>
              <a:cxnLst/>
              <a:rect r="r" b="b" t="t" l="l"/>
              <a:pathLst>
                <a:path h="54864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97510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Use the same scale and visual rhythm so Android and iOS are easy to compare.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664940" y="644652"/>
            <a:ext cx="685800" cy="384048"/>
            <a:chOff x="0" y="0"/>
            <a:chExt cx="9144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914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15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2400">
            <a:off x="926973" y="9761030"/>
            <a:ext cx="16402050" cy="0"/>
          </a:xfrm>
          <a:prstGeom prst="line">
            <a:avLst/>
          </a:prstGeom>
          <a:ln cap="rnd" w="9525">
            <a:solidFill>
              <a:srgbClr val="D9DE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60120" y="9848088"/>
            <a:ext cx="5623560" cy="192024"/>
            <a:chOff x="0" y="0"/>
            <a:chExt cx="7498080" cy="2560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98080" cy="256032"/>
            </a:xfrm>
            <a:custGeom>
              <a:avLst/>
              <a:gdLst/>
              <a:ahLst/>
              <a:cxnLst/>
              <a:rect r="r" b="b" t="t" l="l"/>
              <a:pathLst>
                <a:path h="256032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49808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9AA3B8"/>
                  </a:solidFill>
                  <a:latin typeface="Aptos"/>
                  <a:ea typeface="Aptos"/>
                  <a:cs typeface="Aptos"/>
                  <a:sym typeface="Aptos"/>
                </a:rPr>
                <a:t>CAREER PILOT  •  ITI Intake 46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253460" y="9848088"/>
            <a:ext cx="1028700" cy="192024"/>
            <a:chOff x="0" y="0"/>
            <a:chExt cx="1371600" cy="2560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71600" cy="256032"/>
            </a:xfrm>
            <a:custGeom>
              <a:avLst/>
              <a:gdLst/>
              <a:ahLst/>
              <a:cxnLst/>
              <a:rect r="r" b="b" t="t" l="l"/>
              <a:pathLst>
                <a:path h="25603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37160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>
                  <a:solidFill>
                    <a:srgbClr val="9AA3B8"/>
                  </a:solidFill>
                  <a:latin typeface="Aptos"/>
                  <a:ea typeface="Aptos"/>
                  <a:cs typeface="Aptos"/>
                  <a:sym typeface="Aptos"/>
                </a:rPr>
                <a:t>15 / 17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55560" y="1974533"/>
            <a:ext cx="3388995" cy="7092315"/>
            <a:chOff x="0" y="0"/>
            <a:chExt cx="4518660" cy="94564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18660" cy="9456420"/>
            </a:xfrm>
            <a:custGeom>
              <a:avLst/>
              <a:gdLst/>
              <a:ahLst/>
              <a:cxnLst/>
              <a:rect r="r" b="b" t="t" l="l"/>
              <a:pathLst>
                <a:path h="9456420" w="4518660">
                  <a:moveTo>
                    <a:pt x="0" y="368808"/>
                  </a:moveTo>
                  <a:cubicBezTo>
                    <a:pt x="0" y="165100"/>
                    <a:pt x="165100" y="0"/>
                    <a:pt x="368808" y="0"/>
                  </a:cubicBezTo>
                  <a:lnTo>
                    <a:pt x="4149852" y="0"/>
                  </a:lnTo>
                  <a:cubicBezTo>
                    <a:pt x="4353560" y="0"/>
                    <a:pt x="4518660" y="165100"/>
                    <a:pt x="4518660" y="368808"/>
                  </a:cubicBezTo>
                  <a:lnTo>
                    <a:pt x="4518660" y="9087612"/>
                  </a:lnTo>
                  <a:cubicBezTo>
                    <a:pt x="4518660" y="9291320"/>
                    <a:pt x="4353560" y="9456420"/>
                    <a:pt x="4149852" y="9456420"/>
                  </a:cubicBezTo>
                  <a:lnTo>
                    <a:pt x="368808" y="9456420"/>
                  </a:lnTo>
                  <a:cubicBezTo>
                    <a:pt x="165100" y="9456420"/>
                    <a:pt x="0" y="9291320"/>
                    <a:pt x="0" y="9087612"/>
                  </a:cubicBezTo>
                  <a:close/>
                </a:path>
              </a:pathLst>
            </a:custGeom>
            <a:solidFill>
              <a:srgbClr val="0E1428"/>
            </a:solidFill>
            <a:ln w="28575" cap="sq">
              <a:solidFill>
                <a:srgbClr val="0E1428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73861" y="2147697"/>
            <a:ext cx="3152394" cy="6745986"/>
            <a:chOff x="0" y="0"/>
            <a:chExt cx="4203192" cy="899464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03192" cy="8994648"/>
            </a:xfrm>
            <a:custGeom>
              <a:avLst/>
              <a:gdLst/>
              <a:ahLst/>
              <a:cxnLst/>
              <a:rect r="r" b="b" t="t" l="l"/>
              <a:pathLst>
                <a:path h="8994648" w="4203192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lnTo>
                    <a:pt x="3909568" y="0"/>
                  </a:lnTo>
                  <a:cubicBezTo>
                    <a:pt x="4071747" y="0"/>
                    <a:pt x="4203192" y="131445"/>
                    <a:pt x="4203192" y="293624"/>
                  </a:cubicBezTo>
                  <a:lnTo>
                    <a:pt x="4203192" y="8701024"/>
                  </a:lnTo>
                  <a:cubicBezTo>
                    <a:pt x="4203192" y="8863203"/>
                    <a:pt x="4071747" y="8994648"/>
                    <a:pt x="3909568" y="8994648"/>
                  </a:cubicBezTo>
                  <a:lnTo>
                    <a:pt x="293624" y="8994648"/>
                  </a:lnTo>
                  <a:cubicBezTo>
                    <a:pt x="131445" y="8994648"/>
                    <a:pt x="0" y="8863203"/>
                    <a:pt x="0" y="8701024"/>
                  </a:cubicBezTo>
                  <a:close/>
                </a:path>
              </a:pathLst>
            </a:custGeom>
            <a:solidFill>
              <a:srgbClr val="FFFFFF"/>
            </a:solidFill>
            <a:ln w="1143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2303678" y="2089023"/>
            <a:ext cx="892759" cy="128778"/>
            <a:chOff x="0" y="0"/>
            <a:chExt cx="1190346" cy="1717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90371" cy="171704"/>
            </a:xfrm>
            <a:custGeom>
              <a:avLst/>
              <a:gdLst/>
              <a:ahLst/>
              <a:cxnLst/>
              <a:rect r="r" b="b" t="t" l="l"/>
              <a:pathLst>
                <a:path h="171704" w="1190371">
                  <a:moveTo>
                    <a:pt x="0" y="64389"/>
                  </a:moveTo>
                  <a:cubicBezTo>
                    <a:pt x="0" y="28829"/>
                    <a:pt x="28829" y="0"/>
                    <a:pt x="64389" y="0"/>
                  </a:cubicBezTo>
                  <a:lnTo>
                    <a:pt x="1125982" y="0"/>
                  </a:lnTo>
                  <a:cubicBezTo>
                    <a:pt x="1161542" y="0"/>
                    <a:pt x="1190371" y="28829"/>
                    <a:pt x="1190371" y="64389"/>
                  </a:cubicBezTo>
                  <a:lnTo>
                    <a:pt x="1190371" y="107315"/>
                  </a:lnTo>
                  <a:cubicBezTo>
                    <a:pt x="1190371" y="142875"/>
                    <a:pt x="1161542" y="171704"/>
                    <a:pt x="1125982" y="171704"/>
                  </a:cubicBezTo>
                  <a:lnTo>
                    <a:pt x="64389" y="171704"/>
                  </a:lnTo>
                  <a:cubicBezTo>
                    <a:pt x="28829" y="171704"/>
                    <a:pt x="0" y="142875"/>
                    <a:pt x="0" y="107315"/>
                  </a:cubicBezTo>
                  <a:close/>
                </a:path>
              </a:pathLst>
            </a:custGeom>
            <a:solidFill>
              <a:srgbClr val="0E1428"/>
            </a:solidFill>
            <a:ln w="19050" cap="sq">
              <a:solidFill>
                <a:srgbClr val="0E1428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362075" y="2596515"/>
            <a:ext cx="2775966" cy="595122"/>
            <a:chOff x="0" y="0"/>
            <a:chExt cx="3701288" cy="7934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701288" cy="793496"/>
            </a:xfrm>
            <a:custGeom>
              <a:avLst/>
              <a:gdLst/>
              <a:ahLst/>
              <a:cxnLst/>
              <a:rect r="r" b="b" t="t" l="l"/>
              <a:pathLst>
                <a:path h="793496" w="3701288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3587877" y="0"/>
                  </a:lnTo>
                  <a:cubicBezTo>
                    <a:pt x="3650488" y="0"/>
                    <a:pt x="3701288" y="50800"/>
                    <a:pt x="3701288" y="113411"/>
                  </a:cubicBezTo>
                  <a:lnTo>
                    <a:pt x="3701288" y="680085"/>
                  </a:lnTo>
                  <a:cubicBezTo>
                    <a:pt x="3701288" y="742696"/>
                    <a:pt x="3650488" y="793496"/>
                    <a:pt x="3587877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E9FBF7"/>
            </a:solidFill>
            <a:ln w="19050" cap="sq">
              <a:solidFill>
                <a:srgbClr val="E9FBF7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453896" y="4673041"/>
            <a:ext cx="2592324" cy="932688"/>
            <a:chOff x="0" y="0"/>
            <a:chExt cx="3456432" cy="12435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56432" cy="1243584"/>
            </a:xfrm>
            <a:custGeom>
              <a:avLst/>
              <a:gdLst/>
              <a:ahLst/>
              <a:cxnLst/>
              <a:rect r="r" b="b" t="t" l="l"/>
              <a:pathLst>
                <a:path h="1243584" w="3456432">
                  <a:moveTo>
                    <a:pt x="0" y="0"/>
                  </a:moveTo>
                  <a:lnTo>
                    <a:pt x="3456432" y="0"/>
                  </a:lnTo>
                  <a:lnTo>
                    <a:pt x="3456432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6" r="0" b="-415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3456432" cy="12435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MOBILE SCREEN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PLACEHOLDER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61872" y="8284464"/>
            <a:ext cx="2976372" cy="342900"/>
            <a:chOff x="0" y="0"/>
            <a:chExt cx="3968496" cy="457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968496" cy="457200"/>
            </a:xfrm>
            <a:custGeom>
              <a:avLst/>
              <a:gdLst/>
              <a:ahLst/>
              <a:cxnLst/>
              <a:rect r="r" b="b" t="t" l="l"/>
              <a:pathLst>
                <a:path h="457200" w="3968496">
                  <a:moveTo>
                    <a:pt x="0" y="0"/>
                  </a:moveTo>
                  <a:lnTo>
                    <a:pt x="3968496" y="0"/>
                  </a:lnTo>
                  <a:lnTo>
                    <a:pt x="39684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130" r="0" b="-11913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3968496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DD4B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iOS • Home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34953" y="1974533"/>
            <a:ext cx="3388995" cy="7092315"/>
            <a:chOff x="0" y="0"/>
            <a:chExt cx="4518660" cy="94564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518660" cy="9456420"/>
            </a:xfrm>
            <a:custGeom>
              <a:avLst/>
              <a:gdLst/>
              <a:ahLst/>
              <a:cxnLst/>
              <a:rect r="r" b="b" t="t" l="l"/>
              <a:pathLst>
                <a:path h="9456420" w="4518660">
                  <a:moveTo>
                    <a:pt x="0" y="368808"/>
                  </a:moveTo>
                  <a:cubicBezTo>
                    <a:pt x="0" y="165100"/>
                    <a:pt x="165100" y="0"/>
                    <a:pt x="368808" y="0"/>
                  </a:cubicBezTo>
                  <a:lnTo>
                    <a:pt x="4149852" y="0"/>
                  </a:lnTo>
                  <a:cubicBezTo>
                    <a:pt x="4353560" y="0"/>
                    <a:pt x="4518660" y="165100"/>
                    <a:pt x="4518660" y="368808"/>
                  </a:cubicBezTo>
                  <a:lnTo>
                    <a:pt x="4518660" y="9087612"/>
                  </a:lnTo>
                  <a:cubicBezTo>
                    <a:pt x="4518660" y="9291320"/>
                    <a:pt x="4353560" y="9456420"/>
                    <a:pt x="4149852" y="9456420"/>
                  </a:cubicBezTo>
                  <a:lnTo>
                    <a:pt x="368808" y="9456420"/>
                  </a:lnTo>
                  <a:cubicBezTo>
                    <a:pt x="165100" y="9456420"/>
                    <a:pt x="0" y="9291320"/>
                    <a:pt x="0" y="9087612"/>
                  </a:cubicBezTo>
                  <a:close/>
                </a:path>
              </a:pathLst>
            </a:custGeom>
            <a:solidFill>
              <a:srgbClr val="0E1428"/>
            </a:solidFill>
            <a:ln w="28575" cap="sq">
              <a:solidFill>
                <a:srgbClr val="0E1428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5453253" y="2147697"/>
            <a:ext cx="3152394" cy="6745986"/>
            <a:chOff x="0" y="0"/>
            <a:chExt cx="4203192" cy="89946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203192" cy="8994648"/>
            </a:xfrm>
            <a:custGeom>
              <a:avLst/>
              <a:gdLst/>
              <a:ahLst/>
              <a:cxnLst/>
              <a:rect r="r" b="b" t="t" l="l"/>
              <a:pathLst>
                <a:path h="8994648" w="4203192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lnTo>
                    <a:pt x="3909568" y="0"/>
                  </a:lnTo>
                  <a:cubicBezTo>
                    <a:pt x="4071747" y="0"/>
                    <a:pt x="4203192" y="131445"/>
                    <a:pt x="4203192" y="293624"/>
                  </a:cubicBezTo>
                  <a:lnTo>
                    <a:pt x="4203192" y="8701024"/>
                  </a:lnTo>
                  <a:cubicBezTo>
                    <a:pt x="4203192" y="8863203"/>
                    <a:pt x="4071747" y="8994648"/>
                    <a:pt x="3909568" y="8994648"/>
                  </a:cubicBezTo>
                  <a:lnTo>
                    <a:pt x="293624" y="8994648"/>
                  </a:lnTo>
                  <a:cubicBezTo>
                    <a:pt x="131445" y="8994648"/>
                    <a:pt x="0" y="8863203"/>
                    <a:pt x="0" y="8701024"/>
                  </a:cubicBezTo>
                  <a:close/>
                </a:path>
              </a:pathLst>
            </a:custGeom>
            <a:solidFill>
              <a:srgbClr val="FFFFFF"/>
            </a:solidFill>
            <a:ln w="1143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6583070" y="2089023"/>
            <a:ext cx="892759" cy="128778"/>
            <a:chOff x="0" y="0"/>
            <a:chExt cx="1190346" cy="17170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90371" cy="171704"/>
            </a:xfrm>
            <a:custGeom>
              <a:avLst/>
              <a:gdLst/>
              <a:ahLst/>
              <a:cxnLst/>
              <a:rect r="r" b="b" t="t" l="l"/>
              <a:pathLst>
                <a:path h="171704" w="1190371">
                  <a:moveTo>
                    <a:pt x="0" y="64389"/>
                  </a:moveTo>
                  <a:cubicBezTo>
                    <a:pt x="0" y="28829"/>
                    <a:pt x="28829" y="0"/>
                    <a:pt x="64389" y="0"/>
                  </a:cubicBezTo>
                  <a:lnTo>
                    <a:pt x="1125982" y="0"/>
                  </a:lnTo>
                  <a:cubicBezTo>
                    <a:pt x="1161542" y="0"/>
                    <a:pt x="1190371" y="28829"/>
                    <a:pt x="1190371" y="64389"/>
                  </a:cubicBezTo>
                  <a:lnTo>
                    <a:pt x="1190371" y="107315"/>
                  </a:lnTo>
                  <a:cubicBezTo>
                    <a:pt x="1190371" y="142875"/>
                    <a:pt x="1161542" y="171704"/>
                    <a:pt x="1125982" y="171704"/>
                  </a:cubicBezTo>
                  <a:lnTo>
                    <a:pt x="64389" y="171704"/>
                  </a:lnTo>
                  <a:cubicBezTo>
                    <a:pt x="28829" y="171704"/>
                    <a:pt x="0" y="142875"/>
                    <a:pt x="0" y="107315"/>
                  </a:cubicBezTo>
                  <a:close/>
                </a:path>
              </a:pathLst>
            </a:custGeom>
            <a:solidFill>
              <a:srgbClr val="0E1428"/>
            </a:solidFill>
            <a:ln w="19050" cap="sq">
              <a:solidFill>
                <a:srgbClr val="0E1428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5641467" y="2596515"/>
            <a:ext cx="2775966" cy="595122"/>
            <a:chOff x="0" y="0"/>
            <a:chExt cx="3701288" cy="79349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701288" cy="793496"/>
            </a:xfrm>
            <a:custGeom>
              <a:avLst/>
              <a:gdLst/>
              <a:ahLst/>
              <a:cxnLst/>
              <a:rect r="r" b="b" t="t" l="l"/>
              <a:pathLst>
                <a:path h="793496" w="3701288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3587877" y="0"/>
                  </a:lnTo>
                  <a:cubicBezTo>
                    <a:pt x="3650488" y="0"/>
                    <a:pt x="3701288" y="50800"/>
                    <a:pt x="3701288" y="113411"/>
                  </a:cubicBezTo>
                  <a:lnTo>
                    <a:pt x="3701288" y="680085"/>
                  </a:lnTo>
                  <a:cubicBezTo>
                    <a:pt x="3701288" y="742696"/>
                    <a:pt x="3650488" y="793496"/>
                    <a:pt x="3587877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FFF0E9"/>
            </a:solidFill>
            <a:ln w="19050" cap="sq">
              <a:solidFill>
                <a:srgbClr val="FFF0E9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5733288" y="4673041"/>
            <a:ext cx="2592324" cy="932688"/>
            <a:chOff x="0" y="0"/>
            <a:chExt cx="3456432" cy="12435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456432" cy="1243584"/>
            </a:xfrm>
            <a:custGeom>
              <a:avLst/>
              <a:gdLst/>
              <a:ahLst/>
              <a:cxnLst/>
              <a:rect r="r" b="b" t="t" l="l"/>
              <a:pathLst>
                <a:path h="1243584" w="3456432">
                  <a:moveTo>
                    <a:pt x="0" y="0"/>
                  </a:moveTo>
                  <a:lnTo>
                    <a:pt x="3456432" y="0"/>
                  </a:lnTo>
                  <a:lnTo>
                    <a:pt x="3456432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6" r="0" b="-415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3456432" cy="12435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MOBILE SCREEN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PLACEHOLDER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541264" y="8284464"/>
            <a:ext cx="2976372" cy="342900"/>
            <a:chOff x="0" y="0"/>
            <a:chExt cx="3968496" cy="457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968496" cy="457200"/>
            </a:xfrm>
            <a:custGeom>
              <a:avLst/>
              <a:gdLst/>
              <a:ahLst/>
              <a:cxnLst/>
              <a:rect r="r" b="b" t="t" l="l"/>
              <a:pathLst>
                <a:path h="457200" w="3968496">
                  <a:moveTo>
                    <a:pt x="0" y="0"/>
                  </a:moveTo>
                  <a:lnTo>
                    <a:pt x="3968496" y="0"/>
                  </a:lnTo>
                  <a:lnTo>
                    <a:pt x="39684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130" r="0" b="-11913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3968496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iOS • Practice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14344" y="1974533"/>
            <a:ext cx="3388995" cy="7092315"/>
            <a:chOff x="0" y="0"/>
            <a:chExt cx="4518660" cy="94564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518660" cy="9456420"/>
            </a:xfrm>
            <a:custGeom>
              <a:avLst/>
              <a:gdLst/>
              <a:ahLst/>
              <a:cxnLst/>
              <a:rect r="r" b="b" t="t" l="l"/>
              <a:pathLst>
                <a:path h="9456420" w="4518660">
                  <a:moveTo>
                    <a:pt x="0" y="368808"/>
                  </a:moveTo>
                  <a:cubicBezTo>
                    <a:pt x="0" y="165100"/>
                    <a:pt x="165100" y="0"/>
                    <a:pt x="368808" y="0"/>
                  </a:cubicBezTo>
                  <a:lnTo>
                    <a:pt x="4149852" y="0"/>
                  </a:lnTo>
                  <a:cubicBezTo>
                    <a:pt x="4353560" y="0"/>
                    <a:pt x="4518660" y="165100"/>
                    <a:pt x="4518660" y="368808"/>
                  </a:cubicBezTo>
                  <a:lnTo>
                    <a:pt x="4518660" y="9087612"/>
                  </a:lnTo>
                  <a:cubicBezTo>
                    <a:pt x="4518660" y="9291320"/>
                    <a:pt x="4353560" y="9456420"/>
                    <a:pt x="4149852" y="9456420"/>
                  </a:cubicBezTo>
                  <a:lnTo>
                    <a:pt x="368808" y="9456420"/>
                  </a:lnTo>
                  <a:cubicBezTo>
                    <a:pt x="165100" y="9456420"/>
                    <a:pt x="0" y="9291320"/>
                    <a:pt x="0" y="9087612"/>
                  </a:cubicBezTo>
                  <a:close/>
                </a:path>
              </a:pathLst>
            </a:custGeom>
            <a:solidFill>
              <a:srgbClr val="0E1428"/>
            </a:solidFill>
            <a:ln w="28575" cap="sq">
              <a:solidFill>
                <a:srgbClr val="0E1428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732645" y="2147697"/>
            <a:ext cx="3152394" cy="6745986"/>
            <a:chOff x="0" y="0"/>
            <a:chExt cx="4203192" cy="89946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203192" cy="8994648"/>
            </a:xfrm>
            <a:custGeom>
              <a:avLst/>
              <a:gdLst/>
              <a:ahLst/>
              <a:cxnLst/>
              <a:rect r="r" b="b" t="t" l="l"/>
              <a:pathLst>
                <a:path h="8994648" w="4203192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lnTo>
                    <a:pt x="3909568" y="0"/>
                  </a:lnTo>
                  <a:cubicBezTo>
                    <a:pt x="4071747" y="0"/>
                    <a:pt x="4203192" y="131445"/>
                    <a:pt x="4203192" y="293624"/>
                  </a:cubicBezTo>
                  <a:lnTo>
                    <a:pt x="4203192" y="8701024"/>
                  </a:lnTo>
                  <a:cubicBezTo>
                    <a:pt x="4203192" y="8863203"/>
                    <a:pt x="4071747" y="8994648"/>
                    <a:pt x="3909568" y="8994648"/>
                  </a:cubicBezTo>
                  <a:lnTo>
                    <a:pt x="293624" y="8994648"/>
                  </a:lnTo>
                  <a:cubicBezTo>
                    <a:pt x="131445" y="8994648"/>
                    <a:pt x="0" y="8863203"/>
                    <a:pt x="0" y="8701024"/>
                  </a:cubicBezTo>
                  <a:close/>
                </a:path>
              </a:pathLst>
            </a:custGeom>
            <a:solidFill>
              <a:srgbClr val="FFFFFF"/>
            </a:solidFill>
            <a:ln w="1143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0862462" y="2089023"/>
            <a:ext cx="892759" cy="128778"/>
            <a:chOff x="0" y="0"/>
            <a:chExt cx="1190346" cy="17170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90371" cy="171704"/>
            </a:xfrm>
            <a:custGeom>
              <a:avLst/>
              <a:gdLst/>
              <a:ahLst/>
              <a:cxnLst/>
              <a:rect r="r" b="b" t="t" l="l"/>
              <a:pathLst>
                <a:path h="171704" w="1190371">
                  <a:moveTo>
                    <a:pt x="0" y="64389"/>
                  </a:moveTo>
                  <a:cubicBezTo>
                    <a:pt x="0" y="28829"/>
                    <a:pt x="28829" y="0"/>
                    <a:pt x="64389" y="0"/>
                  </a:cubicBezTo>
                  <a:lnTo>
                    <a:pt x="1125982" y="0"/>
                  </a:lnTo>
                  <a:cubicBezTo>
                    <a:pt x="1161542" y="0"/>
                    <a:pt x="1190371" y="28829"/>
                    <a:pt x="1190371" y="64389"/>
                  </a:cubicBezTo>
                  <a:lnTo>
                    <a:pt x="1190371" y="107315"/>
                  </a:lnTo>
                  <a:cubicBezTo>
                    <a:pt x="1190371" y="142875"/>
                    <a:pt x="1161542" y="171704"/>
                    <a:pt x="1125982" y="171704"/>
                  </a:cubicBezTo>
                  <a:lnTo>
                    <a:pt x="64389" y="171704"/>
                  </a:lnTo>
                  <a:cubicBezTo>
                    <a:pt x="28829" y="171704"/>
                    <a:pt x="0" y="142875"/>
                    <a:pt x="0" y="107315"/>
                  </a:cubicBezTo>
                  <a:close/>
                </a:path>
              </a:pathLst>
            </a:custGeom>
            <a:solidFill>
              <a:srgbClr val="0E1428"/>
            </a:solidFill>
            <a:ln w="19050" cap="sq">
              <a:solidFill>
                <a:srgbClr val="0E1428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9920859" y="2596515"/>
            <a:ext cx="2775966" cy="595122"/>
            <a:chOff x="0" y="0"/>
            <a:chExt cx="3701288" cy="79349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701288" cy="793496"/>
            </a:xfrm>
            <a:custGeom>
              <a:avLst/>
              <a:gdLst/>
              <a:ahLst/>
              <a:cxnLst/>
              <a:rect r="r" b="b" t="t" l="l"/>
              <a:pathLst>
                <a:path h="793496" w="3701288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3587877" y="0"/>
                  </a:lnTo>
                  <a:cubicBezTo>
                    <a:pt x="3650488" y="0"/>
                    <a:pt x="3701288" y="50800"/>
                    <a:pt x="3701288" y="113411"/>
                  </a:cubicBezTo>
                  <a:lnTo>
                    <a:pt x="3701288" y="680085"/>
                  </a:lnTo>
                  <a:cubicBezTo>
                    <a:pt x="3701288" y="742696"/>
                    <a:pt x="3650488" y="793496"/>
                    <a:pt x="3587877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E9FBF7"/>
            </a:solidFill>
            <a:ln w="19050" cap="sq">
              <a:solidFill>
                <a:srgbClr val="E9FBF7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0012680" y="4673041"/>
            <a:ext cx="2592324" cy="932688"/>
            <a:chOff x="0" y="0"/>
            <a:chExt cx="3456432" cy="124358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456432" cy="1243584"/>
            </a:xfrm>
            <a:custGeom>
              <a:avLst/>
              <a:gdLst/>
              <a:ahLst/>
              <a:cxnLst/>
              <a:rect r="r" b="b" t="t" l="l"/>
              <a:pathLst>
                <a:path h="1243584" w="3456432">
                  <a:moveTo>
                    <a:pt x="0" y="0"/>
                  </a:moveTo>
                  <a:lnTo>
                    <a:pt x="3456432" y="0"/>
                  </a:lnTo>
                  <a:lnTo>
                    <a:pt x="3456432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6" r="0" b="-415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3456432" cy="12435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MOBILE SCREEN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PLACEHOLDER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820656" y="8284464"/>
            <a:ext cx="2976372" cy="342900"/>
            <a:chOff x="0" y="0"/>
            <a:chExt cx="3968496" cy="4572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968496" cy="457200"/>
            </a:xfrm>
            <a:custGeom>
              <a:avLst/>
              <a:gdLst/>
              <a:ahLst/>
              <a:cxnLst/>
              <a:rect r="r" b="b" t="t" l="l"/>
              <a:pathLst>
                <a:path h="457200" w="3968496">
                  <a:moveTo>
                    <a:pt x="0" y="0"/>
                  </a:moveTo>
                  <a:lnTo>
                    <a:pt x="3968496" y="0"/>
                  </a:lnTo>
                  <a:lnTo>
                    <a:pt x="39684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130" r="0" b="-11913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3968496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DD4B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iOS • ATS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893737" y="1974533"/>
            <a:ext cx="3388995" cy="7092315"/>
            <a:chOff x="0" y="0"/>
            <a:chExt cx="4518660" cy="94564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518660" cy="9456420"/>
            </a:xfrm>
            <a:custGeom>
              <a:avLst/>
              <a:gdLst/>
              <a:ahLst/>
              <a:cxnLst/>
              <a:rect r="r" b="b" t="t" l="l"/>
              <a:pathLst>
                <a:path h="9456420" w="4518660">
                  <a:moveTo>
                    <a:pt x="0" y="368808"/>
                  </a:moveTo>
                  <a:cubicBezTo>
                    <a:pt x="0" y="165100"/>
                    <a:pt x="165100" y="0"/>
                    <a:pt x="368808" y="0"/>
                  </a:cubicBezTo>
                  <a:lnTo>
                    <a:pt x="4149852" y="0"/>
                  </a:lnTo>
                  <a:cubicBezTo>
                    <a:pt x="4353560" y="0"/>
                    <a:pt x="4518660" y="165100"/>
                    <a:pt x="4518660" y="368808"/>
                  </a:cubicBezTo>
                  <a:lnTo>
                    <a:pt x="4518660" y="9087612"/>
                  </a:lnTo>
                  <a:cubicBezTo>
                    <a:pt x="4518660" y="9291320"/>
                    <a:pt x="4353560" y="9456420"/>
                    <a:pt x="4149852" y="9456420"/>
                  </a:cubicBezTo>
                  <a:lnTo>
                    <a:pt x="368808" y="9456420"/>
                  </a:lnTo>
                  <a:cubicBezTo>
                    <a:pt x="165100" y="9456420"/>
                    <a:pt x="0" y="9291320"/>
                    <a:pt x="0" y="9087612"/>
                  </a:cubicBezTo>
                  <a:close/>
                </a:path>
              </a:pathLst>
            </a:custGeom>
            <a:solidFill>
              <a:srgbClr val="0E1428"/>
            </a:solidFill>
            <a:ln w="28575" cap="sq">
              <a:solidFill>
                <a:srgbClr val="0E1428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4012037" y="2147697"/>
            <a:ext cx="3152394" cy="6745986"/>
            <a:chOff x="0" y="0"/>
            <a:chExt cx="4203192" cy="899464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203192" cy="8994648"/>
            </a:xfrm>
            <a:custGeom>
              <a:avLst/>
              <a:gdLst/>
              <a:ahLst/>
              <a:cxnLst/>
              <a:rect r="r" b="b" t="t" l="l"/>
              <a:pathLst>
                <a:path h="8994648" w="4203192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lnTo>
                    <a:pt x="3909568" y="0"/>
                  </a:lnTo>
                  <a:cubicBezTo>
                    <a:pt x="4071747" y="0"/>
                    <a:pt x="4203192" y="131445"/>
                    <a:pt x="4203192" y="293624"/>
                  </a:cubicBezTo>
                  <a:lnTo>
                    <a:pt x="4203192" y="8701024"/>
                  </a:lnTo>
                  <a:cubicBezTo>
                    <a:pt x="4203192" y="8863203"/>
                    <a:pt x="4071747" y="8994648"/>
                    <a:pt x="3909568" y="8994648"/>
                  </a:cubicBezTo>
                  <a:lnTo>
                    <a:pt x="293624" y="8994648"/>
                  </a:lnTo>
                  <a:cubicBezTo>
                    <a:pt x="131445" y="8994648"/>
                    <a:pt x="0" y="8863203"/>
                    <a:pt x="0" y="8701024"/>
                  </a:cubicBezTo>
                  <a:close/>
                </a:path>
              </a:pathLst>
            </a:custGeom>
            <a:solidFill>
              <a:srgbClr val="FFFFFF"/>
            </a:solidFill>
            <a:ln w="1143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5141854" y="2089023"/>
            <a:ext cx="892759" cy="128778"/>
            <a:chOff x="0" y="0"/>
            <a:chExt cx="1190346" cy="17170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90371" cy="171704"/>
            </a:xfrm>
            <a:custGeom>
              <a:avLst/>
              <a:gdLst/>
              <a:ahLst/>
              <a:cxnLst/>
              <a:rect r="r" b="b" t="t" l="l"/>
              <a:pathLst>
                <a:path h="171704" w="1190371">
                  <a:moveTo>
                    <a:pt x="0" y="64389"/>
                  </a:moveTo>
                  <a:cubicBezTo>
                    <a:pt x="0" y="28829"/>
                    <a:pt x="28829" y="0"/>
                    <a:pt x="64389" y="0"/>
                  </a:cubicBezTo>
                  <a:lnTo>
                    <a:pt x="1125982" y="0"/>
                  </a:lnTo>
                  <a:cubicBezTo>
                    <a:pt x="1161542" y="0"/>
                    <a:pt x="1190371" y="28829"/>
                    <a:pt x="1190371" y="64389"/>
                  </a:cubicBezTo>
                  <a:lnTo>
                    <a:pt x="1190371" y="107315"/>
                  </a:lnTo>
                  <a:cubicBezTo>
                    <a:pt x="1190371" y="142875"/>
                    <a:pt x="1161542" y="171704"/>
                    <a:pt x="1125982" y="171704"/>
                  </a:cubicBezTo>
                  <a:lnTo>
                    <a:pt x="64389" y="171704"/>
                  </a:lnTo>
                  <a:cubicBezTo>
                    <a:pt x="28829" y="171704"/>
                    <a:pt x="0" y="142875"/>
                    <a:pt x="0" y="107315"/>
                  </a:cubicBezTo>
                  <a:close/>
                </a:path>
              </a:pathLst>
            </a:custGeom>
            <a:solidFill>
              <a:srgbClr val="0E1428"/>
            </a:solidFill>
            <a:ln w="19050" cap="sq">
              <a:solidFill>
                <a:srgbClr val="0E1428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4200251" y="2596515"/>
            <a:ext cx="2775966" cy="595122"/>
            <a:chOff x="0" y="0"/>
            <a:chExt cx="3701288" cy="79349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701288" cy="793496"/>
            </a:xfrm>
            <a:custGeom>
              <a:avLst/>
              <a:gdLst/>
              <a:ahLst/>
              <a:cxnLst/>
              <a:rect r="r" b="b" t="t" l="l"/>
              <a:pathLst>
                <a:path h="793496" w="3701288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3587877" y="0"/>
                  </a:lnTo>
                  <a:cubicBezTo>
                    <a:pt x="3650488" y="0"/>
                    <a:pt x="3701288" y="50800"/>
                    <a:pt x="3701288" y="113411"/>
                  </a:cubicBezTo>
                  <a:lnTo>
                    <a:pt x="3701288" y="680085"/>
                  </a:lnTo>
                  <a:cubicBezTo>
                    <a:pt x="3701288" y="742696"/>
                    <a:pt x="3650488" y="793496"/>
                    <a:pt x="3587877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FFF0E9"/>
            </a:solidFill>
            <a:ln w="19050" cap="sq">
              <a:solidFill>
                <a:srgbClr val="FFF0E9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4292072" y="4673041"/>
            <a:ext cx="2592324" cy="932688"/>
            <a:chOff x="0" y="0"/>
            <a:chExt cx="3456432" cy="124358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456432" cy="1243584"/>
            </a:xfrm>
            <a:custGeom>
              <a:avLst/>
              <a:gdLst/>
              <a:ahLst/>
              <a:cxnLst/>
              <a:rect r="r" b="b" t="t" l="l"/>
              <a:pathLst>
                <a:path h="1243584" w="3456432">
                  <a:moveTo>
                    <a:pt x="0" y="0"/>
                  </a:moveTo>
                  <a:lnTo>
                    <a:pt x="3456432" y="0"/>
                  </a:lnTo>
                  <a:lnTo>
                    <a:pt x="3456432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6" r="0" b="-415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3456432" cy="12435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MOBILE SCREEN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D3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PLACEHOLDER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4100048" y="8284464"/>
            <a:ext cx="2976372" cy="342900"/>
            <a:chOff x="0" y="0"/>
            <a:chExt cx="3968496" cy="4572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968496" cy="457200"/>
            </a:xfrm>
            <a:custGeom>
              <a:avLst/>
              <a:gdLst/>
              <a:ahLst/>
              <a:cxnLst/>
              <a:rect r="r" b="b" t="t" l="l"/>
              <a:pathLst>
                <a:path h="457200" w="3968496">
                  <a:moveTo>
                    <a:pt x="0" y="0"/>
                  </a:moveTo>
                  <a:lnTo>
                    <a:pt x="3968496" y="0"/>
                  </a:lnTo>
                  <a:lnTo>
                    <a:pt x="39684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130" r="0" b="-11913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3968496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iOS • Reports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69926"/>
            <a:chOff x="0" y="0"/>
            <a:chExt cx="24408790" cy="2265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26568"/>
            </a:xfrm>
            <a:custGeom>
              <a:avLst/>
              <a:gdLst/>
              <a:ahLst/>
              <a:cxnLst/>
              <a:rect r="r" b="b" t="t" l="l"/>
              <a:pathLst>
                <a:path h="22656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26568"/>
                  </a:lnTo>
                  <a:lnTo>
                    <a:pt x="0" y="226568"/>
                  </a:lnTo>
                  <a:close/>
                </a:path>
              </a:pathLst>
            </a:custGeom>
            <a:solidFill>
              <a:srgbClr val="FF7A45"/>
            </a:solidFill>
            <a:ln w="19050" cap="sq">
              <a:solidFill>
                <a:srgbClr val="FF7A4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141351"/>
            <a:ext cx="18306593" cy="73914"/>
            <a:chOff x="0" y="0"/>
            <a:chExt cx="24408790" cy="985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98552"/>
            </a:xfrm>
            <a:custGeom>
              <a:avLst/>
              <a:gdLst/>
              <a:ahLst/>
              <a:cxnLst/>
              <a:rect r="r" b="b" t="t" l="l"/>
              <a:pathLst>
                <a:path h="98552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98552"/>
                  </a:lnTo>
                  <a:lnTo>
                    <a:pt x="0" y="98552"/>
                  </a:lnTo>
                  <a:close/>
                </a:path>
              </a:pathLst>
            </a:custGeom>
            <a:solidFill>
              <a:srgbClr val="2DD4BF"/>
            </a:solidFill>
            <a:ln w="19050" cap="sq">
              <a:solidFill>
                <a:srgbClr val="2DD4B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32688" y="576072"/>
            <a:ext cx="12070080" cy="576072"/>
            <a:chOff x="0" y="0"/>
            <a:chExt cx="16093440" cy="7680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93439" cy="768096"/>
            </a:xfrm>
            <a:custGeom>
              <a:avLst/>
              <a:gdLst/>
              <a:ahLst/>
              <a:cxnLst/>
              <a:rect r="r" b="b" t="t" l="l"/>
              <a:pathLst>
                <a:path h="768096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257" r="0" b="-35825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609344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Quality Assurance &amp; Testing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0120" y="1234440"/>
            <a:ext cx="14813280" cy="411480"/>
            <a:chOff x="0" y="0"/>
            <a:chExt cx="1975104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751039" cy="548640"/>
            </a:xfrm>
            <a:custGeom>
              <a:avLst/>
              <a:gdLst/>
              <a:ahLst/>
              <a:cxnLst/>
              <a:rect r="r" b="b" t="t" l="l"/>
              <a:pathLst>
                <a:path h="54864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97510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Reserved — the testing team will add the final strategy, coverage, and evidence.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664940" y="644652"/>
            <a:ext cx="685800" cy="384048"/>
            <a:chOff x="0" y="0"/>
            <a:chExt cx="9144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914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7A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16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2400">
            <a:off x="926973" y="9761030"/>
            <a:ext cx="16402050" cy="0"/>
          </a:xfrm>
          <a:prstGeom prst="line">
            <a:avLst/>
          </a:prstGeom>
          <a:ln cap="rnd" w="9525">
            <a:solidFill>
              <a:srgbClr val="D9DE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60120" y="9848088"/>
            <a:ext cx="5623560" cy="192024"/>
            <a:chOff x="0" y="0"/>
            <a:chExt cx="7498080" cy="2560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98080" cy="256032"/>
            </a:xfrm>
            <a:custGeom>
              <a:avLst/>
              <a:gdLst/>
              <a:ahLst/>
              <a:cxnLst/>
              <a:rect r="r" b="b" t="t" l="l"/>
              <a:pathLst>
                <a:path h="256032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49808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9AA3B8"/>
                  </a:solidFill>
                  <a:latin typeface="Aptos"/>
                  <a:ea typeface="Aptos"/>
                  <a:cs typeface="Aptos"/>
                  <a:sym typeface="Aptos"/>
                </a:rPr>
                <a:t>CAREER PILOT  •  ITI Intake 46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253460" y="9848088"/>
            <a:ext cx="1028700" cy="192024"/>
            <a:chOff x="0" y="0"/>
            <a:chExt cx="1371600" cy="2560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71600" cy="256032"/>
            </a:xfrm>
            <a:custGeom>
              <a:avLst/>
              <a:gdLst/>
              <a:ahLst/>
              <a:cxnLst/>
              <a:rect r="r" b="b" t="t" l="l"/>
              <a:pathLst>
                <a:path h="25603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37160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>
                  <a:solidFill>
                    <a:srgbClr val="9AA3B8"/>
                  </a:solidFill>
                  <a:latin typeface="Aptos"/>
                  <a:ea typeface="Aptos"/>
                  <a:cs typeface="Aptos"/>
                  <a:sym typeface="Aptos"/>
                </a:rPr>
                <a:t>16 / 17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67815" y="2459355"/>
            <a:ext cx="15106650" cy="5231130"/>
            <a:chOff x="0" y="0"/>
            <a:chExt cx="20142200" cy="6974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142200" cy="6974840"/>
            </a:xfrm>
            <a:custGeom>
              <a:avLst/>
              <a:gdLst/>
              <a:ahLst/>
              <a:cxnLst/>
              <a:rect r="r" b="b" t="t" l="l"/>
              <a:pathLst>
                <a:path h="6974840" w="2014220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19995387" y="0"/>
                  </a:lnTo>
                  <a:cubicBezTo>
                    <a:pt x="20076413" y="0"/>
                    <a:pt x="20142200" y="65786"/>
                    <a:pt x="20142200" y="146812"/>
                  </a:cubicBezTo>
                  <a:lnTo>
                    <a:pt x="20142200" y="6828028"/>
                  </a:lnTo>
                  <a:cubicBezTo>
                    <a:pt x="20142200" y="6909054"/>
                    <a:pt x="20076413" y="6974840"/>
                    <a:pt x="19995387" y="6974840"/>
                  </a:cubicBezTo>
                  <a:lnTo>
                    <a:pt x="146812" y="6974840"/>
                  </a:lnTo>
                  <a:cubicBezTo>
                    <a:pt x="65786" y="6974840"/>
                    <a:pt x="0" y="6909054"/>
                    <a:pt x="0" y="68280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EE9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741283" y="3213735"/>
            <a:ext cx="814578" cy="814578"/>
            <a:chOff x="0" y="0"/>
            <a:chExt cx="1086104" cy="10861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187198"/>
                  </a:moveTo>
                  <a:cubicBezTo>
                    <a:pt x="0" y="83820"/>
                    <a:pt x="83820" y="0"/>
                    <a:pt x="187198" y="0"/>
                  </a:cubicBezTo>
                  <a:lnTo>
                    <a:pt x="898906" y="0"/>
                  </a:lnTo>
                  <a:cubicBezTo>
                    <a:pt x="1002284" y="0"/>
                    <a:pt x="1086104" y="83820"/>
                    <a:pt x="1086104" y="187198"/>
                  </a:cubicBezTo>
                  <a:lnTo>
                    <a:pt x="1086104" y="898906"/>
                  </a:lnTo>
                  <a:cubicBezTo>
                    <a:pt x="1086104" y="1002284"/>
                    <a:pt x="1002284" y="1086104"/>
                    <a:pt x="898906" y="1086104"/>
                  </a:cubicBezTo>
                  <a:lnTo>
                    <a:pt x="187198" y="1086104"/>
                  </a:lnTo>
                  <a:cubicBezTo>
                    <a:pt x="83820" y="1086104"/>
                    <a:pt x="0" y="1002284"/>
                    <a:pt x="0" y="898906"/>
                  </a:cubicBezTo>
                  <a:close/>
                </a:path>
              </a:pathLst>
            </a:custGeom>
            <a:solidFill>
              <a:srgbClr val="E9FBF7"/>
            </a:solidFill>
            <a:ln w="19050" cap="sq">
              <a:solidFill>
                <a:srgbClr val="E9FBF7"/>
              </a:solidFill>
              <a:prstDash val="solid"/>
              <a:miter/>
            </a:ln>
          </p:spPr>
        </p:sp>
      </p:grpSp>
      <p:sp>
        <p:nvSpPr>
          <p:cNvPr name="Freeform 26" id="26" descr="/opt/nvm/versions/node/v22.16.0/lib/node_modules/@fortawesome/fontawesome-free/svgs/solid/shield-halved.svg"/>
          <p:cNvSpPr/>
          <p:nvPr/>
        </p:nvSpPr>
        <p:spPr>
          <a:xfrm flipH="false" flipV="false" rot="0">
            <a:off x="8942832" y="3401568"/>
            <a:ext cx="411480" cy="411480"/>
          </a:xfrm>
          <a:custGeom>
            <a:avLst/>
            <a:gdLst/>
            <a:ahLst/>
            <a:cxnLst/>
            <a:rect r="r" b="b" t="t" l="l"/>
            <a:pathLst>
              <a:path h="411480" w="411480">
                <a:moveTo>
                  <a:pt x="0" y="0"/>
                </a:moveTo>
                <a:lnTo>
                  <a:pt x="411480" y="0"/>
                </a:lnTo>
                <a:lnTo>
                  <a:pt x="411480" y="411480"/>
                </a:lnTo>
                <a:lnTo>
                  <a:pt x="0" y="4114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4251960" y="4457700"/>
            <a:ext cx="9806940" cy="521208"/>
            <a:chOff x="0" y="0"/>
            <a:chExt cx="13075920" cy="69494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075920" cy="694944"/>
            </a:xfrm>
            <a:custGeom>
              <a:avLst/>
              <a:gdLst/>
              <a:ahLst/>
              <a:cxnLst/>
              <a:rect r="r" b="b" t="t" l="l"/>
              <a:pathLst>
                <a:path h="694944" w="13075920">
                  <a:moveTo>
                    <a:pt x="0" y="0"/>
                  </a:moveTo>
                  <a:lnTo>
                    <a:pt x="13075920" y="0"/>
                  </a:lnTo>
                  <a:lnTo>
                    <a:pt x="1307592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626" r="0" b="-31662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1307592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00"/>
                </a:lnSpc>
              </a:pPr>
              <a:r>
                <a:rPr lang="en-US" sz="375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TESTING CONTENT PLACEHOLDER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811780" y="5486400"/>
            <a:ext cx="12618720" cy="850392"/>
            <a:chOff x="0" y="0"/>
            <a:chExt cx="16824960" cy="11338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824961" cy="1133856"/>
            </a:xfrm>
            <a:custGeom>
              <a:avLst/>
              <a:gdLst/>
              <a:ahLst/>
              <a:cxnLst/>
              <a:rect r="r" b="b" t="t" l="l"/>
              <a:pathLst>
                <a:path h="1133856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132" r="0" b="-23913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682496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5B657E"/>
                  </a:solidFill>
                  <a:latin typeface="Aptos"/>
                  <a:ea typeface="Aptos"/>
                  <a:cs typeface="Aptos"/>
                  <a:sym typeface="Aptos"/>
                </a:rPr>
                <a:t>Suggested content later: scope • automated tests • API validation • device coverage • defect process • release confidence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97358"/>
            <a:chOff x="0" y="0"/>
            <a:chExt cx="24408790" cy="263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63144"/>
            </a:xfrm>
            <a:custGeom>
              <a:avLst/>
              <a:gdLst/>
              <a:ahLst/>
              <a:cxnLst/>
              <a:rect r="r" b="b" t="t" l="l"/>
              <a:pathLst>
                <a:path h="263144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63144"/>
                  </a:lnTo>
                  <a:lnTo>
                    <a:pt x="0" y="263144"/>
                  </a:lnTo>
                  <a:close/>
                </a:path>
              </a:pathLst>
            </a:custGeom>
            <a:solidFill>
              <a:srgbClr val="FF7A45"/>
            </a:solidFill>
            <a:ln w="19050" cap="sq">
              <a:solidFill>
                <a:srgbClr val="FF7A4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168783"/>
            <a:ext cx="18306593" cy="87630"/>
            <a:chOff x="0" y="0"/>
            <a:chExt cx="24408790" cy="116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116840"/>
            </a:xfrm>
            <a:custGeom>
              <a:avLst/>
              <a:gdLst/>
              <a:ahLst/>
              <a:cxnLst/>
              <a:rect r="r" b="b" t="t" l="l"/>
              <a:pathLst>
                <a:path h="116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16840"/>
                  </a:lnTo>
                  <a:lnTo>
                    <a:pt x="0" y="116840"/>
                  </a:lnTo>
                  <a:close/>
                </a:path>
              </a:pathLst>
            </a:custGeom>
            <a:solidFill>
              <a:srgbClr val="2DD4BF"/>
            </a:solidFill>
            <a:ln w="19050" cap="sq">
              <a:solidFill>
                <a:srgbClr val="2DD4B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3909060"/>
            <a:ext cx="14950440" cy="1097280"/>
            <a:chOff x="0" y="0"/>
            <a:chExt cx="1993392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33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483" r="0" b="-21548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993392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0E1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DAHSfYFxrqY</dc:identifier>
  <dcterms:modified xsi:type="dcterms:W3CDTF">2011-08-01T06:04:30Z</dcterms:modified>
  <cp:revision>1</cp:revision>
  <dc:title>Career Pilot Presentation.pptx</dc:title>
</cp:coreProperties>
</file>